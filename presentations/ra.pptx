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Lst>
  <p:sldSz cy="5143500" cx="9144000"/>
  <p:notesSz cx="6858000" cy="9144000"/>
  <p:embeddedFontLst>
    <p:embeddedFont>
      <p:font typeface="Helvetica Neue"/>
      <p:regular r:id="rId49"/>
      <p:bold r:id="rId50"/>
      <p:italic r:id="rId51"/>
      <p:boldItalic r:id="rId52"/>
    </p:embeddedFont>
    <p:embeddedFont>
      <p:font typeface="Helvetica Neue Light"/>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7" roundtripDataSignature="AMtx7mgRQx65CSVujW1N2soJRh7KReWO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font" Target="fonts/HelveticaNeue-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HelveticaNeue-italic.fntdata"/><Relationship Id="rId50" Type="http://schemas.openxmlformats.org/officeDocument/2006/relationships/font" Target="fonts/HelveticaNeue-bold.fntdata"/><Relationship Id="rId53" Type="http://schemas.openxmlformats.org/officeDocument/2006/relationships/font" Target="fonts/HelveticaNeueLight-regular.fntdata"/><Relationship Id="rId52" Type="http://schemas.openxmlformats.org/officeDocument/2006/relationships/font" Target="fonts/HelveticaNeue-boldItalic.fntdata"/><Relationship Id="rId11" Type="http://schemas.openxmlformats.org/officeDocument/2006/relationships/slide" Target="slides/slide7.xml"/><Relationship Id="rId55" Type="http://schemas.openxmlformats.org/officeDocument/2006/relationships/font" Target="fonts/HelveticaNeueLight-italic.fntdata"/><Relationship Id="rId10" Type="http://schemas.openxmlformats.org/officeDocument/2006/relationships/slide" Target="slides/slide6.xml"/><Relationship Id="rId54" Type="http://schemas.openxmlformats.org/officeDocument/2006/relationships/font" Target="fonts/HelveticaNeueLight-bold.fntdata"/><Relationship Id="rId13" Type="http://schemas.openxmlformats.org/officeDocument/2006/relationships/slide" Target="slides/slide9.xml"/><Relationship Id="rId57" Type="http://customschemas.google.com/relationships/presentationmetadata" Target="metadata"/><Relationship Id="rId12" Type="http://schemas.openxmlformats.org/officeDocument/2006/relationships/slide" Target="slides/slide8.xml"/><Relationship Id="rId56" Type="http://schemas.openxmlformats.org/officeDocument/2006/relationships/font" Target="fonts/HelveticaNeueLight-bold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 name="Google Shape;6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d65d74c44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 name="Google Shape;75;g3d65d74c44f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d65d74c44f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g3d65d74c44f_0_1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d65d74c44f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g3d65d74c44f_0_2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h11a342068904e6d2_0_8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9" name="Google Shape;169;h11a342068904e6d2_0_8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h11a342068904e6d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h11a342068904e6d2_0_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h11a342068904e6d2_0_1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h11a342068904e6d2_0_13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h11a342068904e6d2_0_5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h11a342068904e6d2_0_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h11a342068904e6d2_0_9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h11a342068904e6d2_0_99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h11a342068904e6d2_0_909:notes"/>
          <p:cNvSpPr/>
          <p:nvPr>
            <p:ph idx="2" type="sldImg"/>
          </p:nvPr>
        </p:nvSpPr>
        <p:spPr>
          <a:xfrm>
            <a:off x="686155" y="1143000"/>
            <a:ext cx="5485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h11a342068904e6d2_0_90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h11a342068904e6d2_0_90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h11a342068904e6d2_0_2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8" name="Google Shape;248;h11a342068904e6d2_0_28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solidFill>
                  <a:srgbClr val="0070C0"/>
                </a:solidFill>
              </a:rPr>
              <a:t>Not sure about topic titles – let me know what you think</a:t>
            </a:r>
            <a:endParaRPr>
              <a:solidFill>
                <a:srgbClr val="0070C0"/>
              </a:solidFill>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 made some small tweaks, feel free to change if you don’t like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h11a342068904e6d2_0_2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0" name="Google Shape;260;h11a342068904e6d2_0_29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solidFill>
                  <a:srgbClr val="0070C0"/>
                </a:solidFill>
              </a:rPr>
              <a:t>Not sure about topic titles – let me know what you think</a:t>
            </a:r>
            <a:endParaRPr>
              <a:solidFill>
                <a:srgbClr val="0070C0"/>
              </a:solidFill>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 made some small tweaks, feel free to change if you don’t like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h11a342068904e6d2_0_320:notes"/>
          <p:cNvSpPr/>
          <p:nvPr>
            <p:ph idx="2" type="sldImg"/>
          </p:nvPr>
        </p:nvSpPr>
        <p:spPr>
          <a:xfrm>
            <a:off x="686155" y="1143000"/>
            <a:ext cx="5485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h11a342068904e6d2_0_3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h11a342068904e6d2_0_3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h11a342068904e6d2_0_332:notes"/>
          <p:cNvSpPr/>
          <p:nvPr>
            <p:ph idx="2" type="sldImg"/>
          </p:nvPr>
        </p:nvSpPr>
        <p:spPr>
          <a:xfrm>
            <a:off x="686155" y="1143000"/>
            <a:ext cx="5485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h11a342068904e6d2_0_3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2400"/>
              </a:spcBef>
              <a:spcAft>
                <a:spcPts val="600"/>
              </a:spcAft>
              <a:buSzPts val="1100"/>
              <a:buNone/>
            </a:pPr>
            <a:r>
              <a:t/>
            </a:r>
            <a:endParaRPr/>
          </a:p>
        </p:txBody>
      </p:sp>
      <p:sp>
        <p:nvSpPr>
          <p:cNvPr id="290" name="Google Shape;290;h11a342068904e6d2_0_3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h11a342068904e6d2_0_357:notes"/>
          <p:cNvSpPr/>
          <p:nvPr>
            <p:ph idx="2" type="sldImg"/>
          </p:nvPr>
        </p:nvSpPr>
        <p:spPr>
          <a:xfrm>
            <a:off x="686155" y="1143000"/>
            <a:ext cx="5485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h11a342068904e6d2_0_3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13" name="Google Shape;313;h11a342068904e6d2_0_3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d5b1289de4_0_1375:notes"/>
          <p:cNvSpPr/>
          <p:nvPr>
            <p:ph idx="2" type="sldImg"/>
          </p:nvPr>
        </p:nvSpPr>
        <p:spPr>
          <a:xfrm>
            <a:off x="686155" y="1143000"/>
            <a:ext cx="5485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g3d5b1289de4_0_13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g3d5b1289de4_0_13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d5b1289de4_0_1406:notes"/>
          <p:cNvSpPr/>
          <p:nvPr>
            <p:ph idx="2" type="sldImg"/>
          </p:nvPr>
        </p:nvSpPr>
        <p:spPr>
          <a:xfrm>
            <a:off x="686155" y="1143000"/>
            <a:ext cx="5485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g3d5b1289de4_0_14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3" name="Google Shape;353;g3d5b1289de4_0_14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d5b1289de4_0_1438:notes"/>
          <p:cNvSpPr/>
          <p:nvPr>
            <p:ph idx="2" type="sldImg"/>
          </p:nvPr>
        </p:nvSpPr>
        <p:spPr>
          <a:xfrm>
            <a:off x="686155" y="1143000"/>
            <a:ext cx="5485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g3d5b1289de4_0_14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361" name="Google Shape;361;g3d5b1289de4_0_14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h11a342068904e6d2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h11a342068904e6d2_0_3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h11a342068904e6d2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5" name="Google Shape;385;h11a342068904e6d2_0_3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h11a342068904e6d2_0_1017: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h11a342068904e6d2_0_10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en-US" sz="1000">
                <a:solidFill>
                  <a:schemeClr val="dk1"/>
                </a:solidFill>
              </a:rPr>
              <a:t>Raphaëlle Klitting est un chercheuse en post-doctorat spécialisée dans la génomique des maladies infectieuses et travaillant actuellement sur la surveillance génomique et la phylodynamique des Arbovirus à l”UVE</a:t>
            </a:r>
            <a:endParaRPr b="1" sz="1000">
              <a:solidFill>
                <a:schemeClr val="dk1"/>
              </a:solidFill>
            </a:endParaRPr>
          </a:p>
          <a:p>
            <a:pPr indent="0" lvl="0" marL="0" rtl="0" algn="l">
              <a:lnSpc>
                <a:spcPct val="115000"/>
              </a:lnSpc>
              <a:spcBef>
                <a:spcPts val="0"/>
              </a:spcBef>
              <a:spcAft>
                <a:spcPts val="0"/>
              </a:spcAft>
              <a:buNone/>
            </a:pPr>
            <a:r>
              <a:t/>
            </a:r>
            <a:endParaRPr b="1" sz="1000">
              <a:solidFill>
                <a:schemeClr val="dk1"/>
              </a:solidFill>
            </a:endParaRPr>
          </a:p>
          <a:p>
            <a:pPr indent="0" lvl="0" marL="0" rtl="0" algn="l">
              <a:lnSpc>
                <a:spcPct val="115000"/>
              </a:lnSpc>
              <a:spcBef>
                <a:spcPts val="0"/>
              </a:spcBef>
              <a:spcAft>
                <a:spcPts val="0"/>
              </a:spcAft>
              <a:buNone/>
            </a:pPr>
            <a:r>
              <a:rPr b="1" lang="en-US" sz="1000">
                <a:solidFill>
                  <a:schemeClr val="dk1"/>
                </a:solidFill>
              </a:rPr>
              <a:t>A partir de janvier 2023, poste permanent au sein de l'unité "Virus émergents"-CNR des Arbovirus en tant que chercheur responsable de la recherche génomique.</a:t>
            </a:r>
            <a:endParaRPr b="1" sz="1000">
              <a:solidFill>
                <a:schemeClr val="dk1"/>
              </a:solidFill>
            </a:endParaRPr>
          </a:p>
          <a:p>
            <a:pPr indent="-228600" lvl="0" marL="457200" rtl="0" algn="l">
              <a:lnSpc>
                <a:spcPct val="115000"/>
              </a:lnSpc>
              <a:spcBef>
                <a:spcPts val="0"/>
              </a:spcBef>
              <a:spcAft>
                <a:spcPts val="0"/>
              </a:spcAft>
              <a:buClr>
                <a:schemeClr val="dk1"/>
              </a:buClr>
              <a:buSzPts val="1400"/>
              <a:buNone/>
            </a:pPr>
            <a:r>
              <a:rPr b="1" lang="en-US" sz="1000">
                <a:solidFill>
                  <a:schemeClr val="dk1"/>
                </a:solidFill>
              </a:rPr>
              <a:t>Virologue avec plus de 10 ans d'expérience en génomique et évolution des maladies infectieuses.</a:t>
            </a:r>
            <a:endParaRPr b="1" sz="1000">
              <a:solidFill>
                <a:schemeClr val="dk1"/>
              </a:solidFill>
            </a:endParaRPr>
          </a:p>
          <a:p>
            <a:pPr indent="-228600" lvl="0" marL="457200" rtl="0" algn="l">
              <a:lnSpc>
                <a:spcPct val="115000"/>
              </a:lnSpc>
              <a:spcBef>
                <a:spcPts val="0"/>
              </a:spcBef>
              <a:spcAft>
                <a:spcPts val="0"/>
              </a:spcAft>
              <a:buClr>
                <a:schemeClr val="dk1"/>
              </a:buClr>
              <a:buSzPts val="1400"/>
              <a:buNone/>
            </a:pPr>
            <a:r>
              <a:rPr b="1" lang="en-US" sz="1000">
                <a:solidFill>
                  <a:schemeClr val="dk1"/>
                </a:solidFill>
              </a:rPr>
              <a:t>A généré et analysé des données de séquences génomiques virales en utilisant la phylogénétique (et d'autres méthodes computationnelles) pour étudier l'émergence virale, l'adaptation fonctionnelle et la dynamique des épidémies, en se concentrant sur les virus Lassa, Ebola et les flavivirus.</a:t>
            </a:r>
            <a:endParaRPr b="1" sz="1000">
              <a:solidFill>
                <a:schemeClr val="dk1"/>
              </a:solidFill>
            </a:endParaRPr>
          </a:p>
          <a:p>
            <a:pPr indent="-228600" lvl="0" marL="457200" rtl="0" algn="l">
              <a:lnSpc>
                <a:spcPct val="115000"/>
              </a:lnSpc>
              <a:spcBef>
                <a:spcPts val="0"/>
              </a:spcBef>
              <a:spcAft>
                <a:spcPts val="0"/>
              </a:spcAft>
              <a:buClr>
                <a:schemeClr val="dk1"/>
              </a:buClr>
              <a:buSzPts val="1400"/>
              <a:buNone/>
            </a:pPr>
            <a:r>
              <a:rPr b="1" lang="en-US" sz="1000">
                <a:solidFill>
                  <a:schemeClr val="dk1"/>
                </a:solidFill>
              </a:rPr>
              <a:t>Étude des mécanismes d'atténuation et de virulence du virus de la fièvre jaune in vitro et in vivo en vue du développement de nouvelles approches pour la conception de vaccins vivants-atténués.</a:t>
            </a:r>
            <a:endParaRPr b="1" sz="1000">
              <a:solidFill>
                <a:schemeClr val="dk1"/>
              </a:solidFill>
            </a:endParaRPr>
          </a:p>
          <a:p>
            <a:pPr indent="-228600" lvl="0" marL="457200" rtl="0" algn="l">
              <a:lnSpc>
                <a:spcPct val="115000"/>
              </a:lnSpc>
              <a:spcBef>
                <a:spcPts val="0"/>
              </a:spcBef>
              <a:spcAft>
                <a:spcPts val="0"/>
              </a:spcAft>
              <a:buClr>
                <a:schemeClr val="dk1"/>
              </a:buClr>
              <a:buSzPts val="1400"/>
              <a:buNone/>
            </a:pPr>
            <a:r>
              <a:rPr b="1" lang="en-US" sz="1000">
                <a:solidFill>
                  <a:schemeClr val="dk1"/>
                </a:solidFill>
              </a:rPr>
              <a:t>Intérêt marqué pour l’approche “Global Health”, avec une expérience de travail dans des environnements à ressources limitées en Sierra Leone et en République démocratique du Congo.</a:t>
            </a:r>
            <a:endParaRPr b="1" sz="1000">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h11a342068904e6d2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h11a342068904e6d2_0_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h11a342068904e6d2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h11a342068904e6d2_0_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h11a342068904e6d2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h11a342068904e6d2_0_2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h11a342068904e6d2_0_771: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h11a342068904e6d2_0_7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Pour mener à bien le premier volet de notre étude, </a:t>
            </a:r>
            <a:r>
              <a:rPr b="1" lang="en-US">
                <a:solidFill>
                  <a:schemeClr val="dk1"/>
                </a:solidFill>
              </a:rPr>
              <a:t>nous nous appuierons sur une cohorte existante, la cohorte CARBO</a:t>
            </a:r>
            <a:r>
              <a:rPr lang="en-US">
                <a:solidFill>
                  <a:schemeClr val="dk1"/>
                </a:solidFill>
              </a:rPr>
              <a:t>, qui regroupe des enfants et adultes, hospitalisés pour cause d’arbovirose en métropole et dans les territoires d’outre-mer. Nous exploiterons ce réseau de cohortes pour</a:t>
            </a:r>
            <a:r>
              <a:rPr b="1" lang="en-US">
                <a:solidFill>
                  <a:schemeClr val="dk1"/>
                </a:solidFill>
              </a:rPr>
              <a:t> obtenir des données appariées patient-virus</a:t>
            </a:r>
            <a:r>
              <a:rPr lang="en-US">
                <a:solidFill>
                  <a:schemeClr val="dk1"/>
                </a:solidFill>
              </a:rPr>
              <a:t> afin d</a:t>
            </a:r>
            <a:r>
              <a:rPr b="1" lang="en-US">
                <a:solidFill>
                  <a:schemeClr val="dk1"/>
                </a:solidFill>
              </a:rPr>
              <a:t>’identifier si des mutations du génome du virus sont associées au développement de maladie sévère</a:t>
            </a:r>
            <a:r>
              <a:rPr lang="en-US">
                <a:solidFill>
                  <a:schemeClr val="dk1"/>
                </a:solidFill>
              </a:rPr>
              <a:t> (dengue sévère) chez les patients.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US">
                <a:solidFill>
                  <a:schemeClr val="dk1"/>
                </a:solidFill>
              </a:rPr>
              <a:t>Le fait d’élaborer notre cohorte en s’appuyant sur une cohorte existant depuis plus de 10 ans et qui s’est étendue avec succès à de nouveaux territoires (par exemple La Réunion en 2018) et à de nouveaux virus (le SARS-Cov-2) garantira le succès de ce volet du projet. </a:t>
            </a:r>
            <a:r>
              <a:rPr lang="en-US">
                <a:solidFill>
                  <a:schemeClr val="dk1"/>
                </a:solidFill>
              </a:rPr>
              <a:t>En effet, la plupart de nos collaborateurs fait déjà partie de CARBO (aux Antilles, en Guyane et à La Réunion) et des accords sont déjà en place avec nos collaborateurs sur les territoires restants (Nouvelle-Calédonie et Polynésie française) pour mettre en place un protocole CARBO-like. Le partage d'un protocole commun permettra de recueillir des données standardisées dans tous les centres hospitaliers participants, et l'utilisation d'un eCRF garantira également la normalisation des données.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d65d74c44f_0_296: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4" name="Google Shape;484;g3d65d74c44f_0_2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Voici une </a:t>
            </a:r>
            <a:r>
              <a:rPr b="1" lang="en-US"/>
              <a:t>vision d’ensemble du </a:t>
            </a:r>
            <a:r>
              <a:rPr b="1" lang="en-US">
                <a:solidFill>
                  <a:schemeClr val="dk1"/>
                </a:solidFill>
              </a:rPr>
              <a:t>système de suivi génomique </a:t>
            </a:r>
            <a:r>
              <a:rPr lang="en-US">
                <a:solidFill>
                  <a:schemeClr val="dk1"/>
                </a:solidFill>
              </a:rPr>
              <a:t>que nous comptons mettre en place.</a:t>
            </a:r>
            <a:endParaRPr>
              <a:solidFill>
                <a:schemeClr val="dk1"/>
              </a:solidFill>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rPr b="1" lang="en-US">
                <a:solidFill>
                  <a:schemeClr val="dk1"/>
                </a:solidFill>
              </a:rPr>
              <a:t>Lors du dépôt, les données subiront des contrôles qualité afin d’établir un jeu de données certifiées de qualité et prêtes à l’analyse.</a:t>
            </a:r>
            <a:r>
              <a:rPr lang="en-US">
                <a:solidFill>
                  <a:schemeClr val="dk1"/>
                </a:solidFill>
              </a:rPr>
              <a:t> Afin d’obtenir un recueil exhaustif des données de séquence de dengue disponible au niveau mondial,</a:t>
            </a:r>
            <a:r>
              <a:rPr b="1" lang="en-US">
                <a:solidFill>
                  <a:schemeClr val="dk1"/>
                </a:solidFill>
              </a:rPr>
              <a:t> les données collectées via notre plate-forme seront combinées aux données publiques disponibles (Genbank, ENA).</a:t>
            </a:r>
            <a:r>
              <a:rPr lang="en-US">
                <a:solidFill>
                  <a:schemeClr val="dk1"/>
                </a:solidFill>
              </a:rPr>
              <a:t> Nous établirons ainsi un </a:t>
            </a:r>
            <a:r>
              <a:rPr b="1" lang="en-US">
                <a:solidFill>
                  <a:schemeClr val="dk1"/>
                </a:solidFill>
              </a:rPr>
              <a:t>recueil de données exhaustif avec une assurance de qualité pour les utilisateurs</a:t>
            </a:r>
            <a:r>
              <a:rPr lang="en-US">
                <a:solidFill>
                  <a:schemeClr val="dk1"/>
                </a:solidFill>
              </a:rPr>
              <a:t>.  Nous fourniront un service de dépôt automatique des données génomique sur Genbank aux utilisateurs qui le souhaitent.</a:t>
            </a:r>
            <a:endParaRPr>
              <a:solidFill>
                <a:schemeClr val="dk1"/>
              </a:solidFill>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rPr b="1" lang="en-US">
                <a:solidFill>
                  <a:schemeClr val="dk1"/>
                </a:solidFill>
              </a:rPr>
              <a:t>Cette plateforme offrira également des outils d'exploration et d'analyse de séquences </a:t>
            </a:r>
            <a:r>
              <a:rPr lang="en-US">
                <a:solidFill>
                  <a:schemeClr val="dk1"/>
                </a:solidFill>
              </a:rPr>
              <a:t>pour </a:t>
            </a:r>
            <a:r>
              <a:rPr b="1" lang="en-US">
                <a:solidFill>
                  <a:schemeClr val="dk1"/>
                </a:solidFill>
              </a:rPr>
              <a:t>favoriser la participation des utilisateurs </a:t>
            </a:r>
            <a:r>
              <a:rPr lang="en-US">
                <a:solidFill>
                  <a:schemeClr val="dk1"/>
                </a:solidFill>
              </a:rPr>
              <a:t>à notre plate-forme, </a:t>
            </a:r>
            <a:r>
              <a:rPr b="1" lang="en-US">
                <a:solidFill>
                  <a:schemeClr val="dk1"/>
                </a:solidFill>
              </a:rPr>
              <a:t>servir de support à la recherche </a:t>
            </a:r>
            <a:r>
              <a:rPr lang="en-US">
                <a:solidFill>
                  <a:schemeClr val="dk1"/>
                </a:solidFill>
              </a:rPr>
              <a:t>sur les arbovirus. Certaines de ces fonctionnalités seront plus spécifiquement dédiées à </a:t>
            </a:r>
            <a:r>
              <a:rPr b="1" lang="en-US">
                <a:solidFill>
                  <a:schemeClr val="dk1"/>
                </a:solidFill>
              </a:rPr>
              <a:t>informer l’action de santé publique</a:t>
            </a:r>
            <a:r>
              <a:rPr lang="en-US">
                <a:solidFill>
                  <a:schemeClr val="dk1"/>
                </a:solidFill>
              </a:rPr>
              <a:t>.</a:t>
            </a:r>
            <a:endParaRPr>
              <a:solidFill>
                <a:schemeClr val="dk1"/>
              </a:solidFill>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rPr b="1" lang="en-US">
                <a:solidFill>
                  <a:schemeClr val="dk1"/>
                </a:solidFill>
              </a:rPr>
              <a:t>Avec ce projet, nous voulons nous assurer que la production de données génomiques se traduise par la mise à disposition de ressources - données mais aussi outils - qui peuvent servir de tremplin à la recherche sur les arbovirus et être utiles à la santé publique.</a:t>
            </a:r>
            <a:endParaRPr b="1">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d5b1289de4_0_10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d5b1289de4_0_10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d5b1289de4_0_10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2" name="Google Shape;542;g3d5b1289de4_0_10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h11a342068904e6d2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h11a342068904e6d2_0_4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h11a342068904e6d2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h11a342068904e6d2_0_4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h11a342068904e6d2_0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h11a342068904e6d2_0_4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h11a342068904e6d2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h11a342068904e6d2_0_4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h11a342068904e6d2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h11a342068904e6d2_0_4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h11a342068904e6d2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h11a342068904e6d2_0_5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h11a342068904e6d2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h11a342068904e6d2_0_5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h11a342068904e6d2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9" name="Google Shape;649;h11a342068904e6d2_0_5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h11a342068904e6d2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h11a342068904e6d2_0_5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h11a342068904e6d2_0_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7" name="Google Shape;687;h11a342068904e6d2_0_5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h11a342068904e6d2_0_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6" name="Google Shape;706;h11a342068904e6d2_0_5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h11a342068904e6d2_0_612: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h11a342068904e6d2_0_6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a:t>Nous allons mettre à profit la large distribution géographique des territoires français pour réaliser une étude d’une ampleur sans précédent en terme de </a:t>
            </a:r>
            <a:r>
              <a:rPr lang="en-US"/>
              <a:t>diversité génétique étudiée (accès à la diversité génétique du virus sur tous les continents) mais également en réalisant notre étude dans des populations aux fonds génétiques variés et dans des régions/environnements différents. En effet, </a:t>
            </a:r>
            <a:r>
              <a:rPr b="1" lang="en-US"/>
              <a:t>la France se trouve </a:t>
            </a:r>
            <a:r>
              <a:rPr b="1" lang="en-US">
                <a:solidFill>
                  <a:schemeClr val="dk1"/>
                </a:solidFill>
              </a:rPr>
              <a:t>dans une position unique pour étudier les arbovirus</a:t>
            </a:r>
            <a:r>
              <a:rPr lang="en-US">
                <a:solidFill>
                  <a:schemeClr val="dk1"/>
                </a:solidFill>
              </a:rPr>
              <a:t> dans leur diversité car elle a</a:t>
            </a:r>
            <a:r>
              <a:rPr lang="en-US"/>
              <a:t> des </a:t>
            </a:r>
            <a:r>
              <a:rPr b="1" lang="en-US"/>
              <a:t>territoires d'outre-mer répartis sur l'ensemble des zones tropicales du globe</a:t>
            </a:r>
            <a:r>
              <a:rPr lang="en-US"/>
              <a:t> (Amériques, océan Indien, Océanie) et qui documentent tous fréquemment la circulation de </a:t>
            </a:r>
            <a:r>
              <a:rPr b="1" lang="en-US"/>
              <a:t>la dengue</a:t>
            </a:r>
            <a:r>
              <a:rPr lang="en-US"/>
              <a:t>. En 2019/2020, </a:t>
            </a:r>
            <a:r>
              <a:rPr b="1" lang="en-US"/>
              <a:t>la plupart des territoires ultra-marins ont rapporté des milliers (voir dizaines de milliers) de cas de dengue.</a:t>
            </a:r>
            <a:r>
              <a:rPr lang="en-US"/>
              <a:t> Un autre avantage lié à l’étendue exceptionnelle des territoires français est qu’avec la diversité des populations présentes dans les territoires français ultra-marins, il est également possible d’étudier un virus dans plusieurs environnements et dans des populations avec des fonds génétiques différents. Aucune étude de cette ampleur n’a été réalisée à ce jour, cette étude devrait donc permettre d’augmenter de façon subsantielle notre connaissance de la génétique du virus de la dengue et de son impact sur la sévérité de la maladie.</a:t>
            </a:r>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h11a342068904e6d2_0_6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h11a342068904e6d2_0_6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h11a342068904e6d2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h11a342068904e6d2_0_6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h11a342068904e6d2_0_10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12" name="Google Shape;812;h11a342068904e6d2_0_100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d5b1289de4_0_8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1" name="Google Shape;821;g3d5b1289de4_0_8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g3d5b1289de4_0_49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g3d5b1289de4_0_49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g3d5b1289de4_0_49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 name="Shape 13"/>
        <p:cNvGrpSpPr/>
        <p:nvPr/>
      </p:nvGrpSpPr>
      <p:grpSpPr>
        <a:xfrm>
          <a:off x="0" y="0"/>
          <a:ext cx="0" cy="0"/>
          <a:chOff x="0" y="0"/>
          <a:chExt cx="0" cy="0"/>
        </a:xfrm>
      </p:grpSpPr>
      <p:sp>
        <p:nvSpPr>
          <p:cNvPr id="14" name="Google Shape;14;g3d5b1289de4_0_5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sp>
        <p:nvSpPr>
          <p:cNvPr id="16" name="Google Shape;16;g3d5b1289de4_0_50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7" name="Google Shape;17;g3d5b1289de4_0_50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8" name="Google Shape;18;g3d5b1289de4_0_50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g3d5b1289de4_0_50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g3d5b1289de4_0_50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g3d5b1289de4_0_50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g3d5b1289de4_0_50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g3d5b1289de4_0_50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g3d5b1289de4_0_50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g3d5b1289de4_0_5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g3d5b1289de4_0_5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g3d5b1289de4_0_515"/>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g3d5b1289de4_0_515"/>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g3d5b1289de4_0_5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g3d5b1289de4_0_51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g3d5b1289de4_0_5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g3d5b1289de4_0_52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g3d5b1289de4_0_52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g3d5b1289de4_0_52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g3d5b1289de4_0_52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g3d5b1289de4_0_5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g3d5b1289de4_0_528"/>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g3d5b1289de4_0_5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g3d5b1289de4_0_53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g3d5b1289de4_0_53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g3d5b1289de4_0_5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50" name="Shape 50"/>
        <p:cNvGrpSpPr/>
        <p:nvPr/>
      </p:nvGrpSpPr>
      <p:grpSpPr>
        <a:xfrm>
          <a:off x="0" y="0"/>
          <a:ext cx="0" cy="0"/>
          <a:chOff x="0" y="0"/>
          <a:chExt cx="0" cy="0"/>
        </a:xfrm>
      </p:grpSpPr>
      <p:sp>
        <p:nvSpPr>
          <p:cNvPr id="51" name="Google Shape;51;g3d5b1289de4_0_537"/>
          <p:cNvSpPr/>
          <p:nvPr/>
        </p:nvSpPr>
        <p:spPr>
          <a:xfrm>
            <a:off x="1" y="569214"/>
            <a:ext cx="2582700" cy="3998100"/>
          </a:xfrm>
          <a:prstGeom prst="rect">
            <a:avLst/>
          </a:prstGeom>
          <a:solidFill>
            <a:srgbClr val="FFC951"/>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2" name="Google Shape;52;g3d5b1289de4_0_537"/>
          <p:cNvSpPr/>
          <p:nvPr/>
        </p:nvSpPr>
        <p:spPr>
          <a:xfrm>
            <a:off x="8861898" y="569214"/>
            <a:ext cx="288000" cy="3998100"/>
          </a:xfrm>
          <a:prstGeom prst="rect">
            <a:avLst/>
          </a:prstGeom>
          <a:solidFill>
            <a:srgbClr val="C8C8C8">
              <a:alpha val="48627"/>
            </a:srgbClr>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53" name="Google Shape;53;g3d5b1289de4_0_537"/>
          <p:cNvSpPr txBox="1"/>
          <p:nvPr>
            <p:ph type="title"/>
          </p:nvPr>
        </p:nvSpPr>
        <p:spPr>
          <a:xfrm>
            <a:off x="189689" y="842878"/>
            <a:ext cx="2210700" cy="34509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FFFFFF"/>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4" name="Google Shape;54;g3d5b1289de4_0_537"/>
          <p:cNvSpPr txBox="1"/>
          <p:nvPr>
            <p:ph idx="1" type="body"/>
          </p:nvPr>
        </p:nvSpPr>
        <p:spPr>
          <a:xfrm>
            <a:off x="2901951" y="648081"/>
            <a:ext cx="5486400" cy="3840600"/>
          </a:xfrm>
          <a:prstGeom prst="rect">
            <a:avLst/>
          </a:prstGeom>
          <a:noFill/>
          <a:ln>
            <a:noFill/>
          </a:ln>
        </p:spPr>
        <p:txBody>
          <a:bodyPr anchorCtr="0" anchor="ctr" bIns="34275" lIns="68575" spcFirstLastPara="1" rIns="68575" wrap="square" tIns="34275">
            <a:normAutofit/>
          </a:bodyPr>
          <a:lstStyle>
            <a:lvl1pPr indent="-342900" lvl="0" marL="457200" algn="l">
              <a:lnSpc>
                <a:spcPct val="90000"/>
              </a:lnSpc>
              <a:spcBef>
                <a:spcPts val="900"/>
              </a:spcBef>
              <a:spcAft>
                <a:spcPts val="0"/>
              </a:spcAft>
              <a:buSzPts val="1800"/>
              <a:buChar char="●"/>
              <a:defRPr sz="1800"/>
            </a:lvl1pPr>
            <a:lvl2pPr indent="-317500" lvl="1" marL="914400" algn="l">
              <a:lnSpc>
                <a:spcPct val="90000"/>
              </a:lnSpc>
              <a:spcBef>
                <a:spcPts val="300"/>
              </a:spcBef>
              <a:spcAft>
                <a:spcPts val="0"/>
              </a:spcAft>
              <a:buSzPts val="1400"/>
              <a:buChar char="●"/>
              <a:defRPr/>
            </a:lvl2pPr>
            <a:lvl3pPr indent="-317500" lvl="2" marL="1371600" algn="l">
              <a:lnSpc>
                <a:spcPct val="90000"/>
              </a:lnSpc>
              <a:spcBef>
                <a:spcPts val="200"/>
              </a:spcBef>
              <a:spcAft>
                <a:spcPts val="0"/>
              </a:spcAft>
              <a:buSzPts val="1400"/>
              <a:buChar char="●"/>
              <a:defRPr/>
            </a:lvl3pPr>
            <a:lvl4pPr indent="-317500" lvl="3" marL="1828800" algn="l">
              <a:lnSpc>
                <a:spcPct val="90000"/>
              </a:lnSpc>
              <a:spcBef>
                <a:spcPts val="200"/>
              </a:spcBef>
              <a:spcAft>
                <a:spcPts val="0"/>
              </a:spcAft>
              <a:buSzPts val="1400"/>
              <a:buChar char="●"/>
              <a:defRPr/>
            </a:lvl4pPr>
            <a:lvl5pPr indent="-317500" lvl="4" marL="2286000" algn="l">
              <a:lnSpc>
                <a:spcPct val="90000"/>
              </a:lnSpc>
              <a:spcBef>
                <a:spcPts val="200"/>
              </a:spcBef>
              <a:spcAft>
                <a:spcPts val="0"/>
              </a:spcAft>
              <a:buSzPts val="1400"/>
              <a:buChar char="●"/>
              <a:defRPr/>
            </a:lvl5pPr>
            <a:lvl6pPr indent="-317500" lvl="5" marL="2743200" algn="l">
              <a:lnSpc>
                <a:spcPct val="90000"/>
              </a:lnSpc>
              <a:spcBef>
                <a:spcPts val="200"/>
              </a:spcBef>
              <a:spcAft>
                <a:spcPts val="0"/>
              </a:spcAft>
              <a:buSzPts val="1400"/>
              <a:buChar char="●"/>
              <a:defRPr/>
            </a:lvl6pPr>
            <a:lvl7pPr indent="-317500" lvl="6" marL="3200400" algn="l">
              <a:lnSpc>
                <a:spcPct val="90000"/>
              </a:lnSpc>
              <a:spcBef>
                <a:spcPts val="200"/>
              </a:spcBef>
              <a:spcAft>
                <a:spcPts val="0"/>
              </a:spcAft>
              <a:buSzPts val="1400"/>
              <a:buChar char="●"/>
              <a:defRPr/>
            </a:lvl7pPr>
            <a:lvl8pPr indent="-317500" lvl="7" marL="3657600" algn="l">
              <a:lnSpc>
                <a:spcPct val="90000"/>
              </a:lnSpc>
              <a:spcBef>
                <a:spcPts val="200"/>
              </a:spcBef>
              <a:spcAft>
                <a:spcPts val="0"/>
              </a:spcAft>
              <a:buSzPts val="1400"/>
              <a:buChar char="●"/>
              <a:defRPr/>
            </a:lvl8pPr>
            <a:lvl9pPr indent="-317500" lvl="8" marL="4114800" algn="l">
              <a:lnSpc>
                <a:spcPct val="90000"/>
              </a:lnSpc>
              <a:spcBef>
                <a:spcPts val="200"/>
              </a:spcBef>
              <a:spcAft>
                <a:spcPts val="200"/>
              </a:spcAft>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 tree" showMasterSp="0">
  <p:cSld name="Blank w/ tree">
    <p:spTree>
      <p:nvGrpSpPr>
        <p:cNvPr id="55" name="Shape 55"/>
        <p:cNvGrpSpPr/>
        <p:nvPr/>
      </p:nvGrpSpPr>
      <p:grpSpPr>
        <a:xfrm>
          <a:off x="0" y="0"/>
          <a:ext cx="0" cy="0"/>
          <a:chOff x="0" y="0"/>
          <a:chExt cx="0" cy="0"/>
        </a:xfrm>
      </p:grpSpPr>
      <p:sp>
        <p:nvSpPr>
          <p:cNvPr id="56" name="Google Shape;56;g3d5b1289de4_0_542"/>
          <p:cNvSpPr txBox="1"/>
          <p:nvPr>
            <p:ph type="title"/>
          </p:nvPr>
        </p:nvSpPr>
        <p:spPr>
          <a:xfrm>
            <a:off x="688657" y="295656"/>
            <a:ext cx="7823700" cy="6549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595959"/>
              </a:buClr>
              <a:buSzPts val="2700"/>
              <a:buFont typeface="Poppins"/>
              <a:buNone/>
              <a:defRPr b="0" sz="2700">
                <a:solidFill>
                  <a:srgbClr val="595959"/>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7" name="Google Shape;57;g3d5b1289de4_0_542"/>
          <p:cNvSpPr txBox="1"/>
          <p:nvPr>
            <p:ph idx="1" type="body"/>
          </p:nvPr>
        </p:nvSpPr>
        <p:spPr>
          <a:xfrm>
            <a:off x="688657" y="1151334"/>
            <a:ext cx="7823700" cy="3557700"/>
          </a:xfrm>
          <a:prstGeom prst="rect">
            <a:avLst/>
          </a:prstGeom>
          <a:noFill/>
          <a:ln>
            <a:noFill/>
          </a:ln>
        </p:spPr>
        <p:txBody>
          <a:bodyPr anchorCtr="0" anchor="ctr" bIns="34275" lIns="68575" spcFirstLastPara="1" rIns="68575" wrap="square" tIns="34275">
            <a:normAutofit/>
          </a:bodyPr>
          <a:lstStyle>
            <a:lvl1pPr indent="-342900" lvl="0" marL="457200" algn="l">
              <a:lnSpc>
                <a:spcPct val="90000"/>
              </a:lnSpc>
              <a:spcBef>
                <a:spcPts val="900"/>
              </a:spcBef>
              <a:spcAft>
                <a:spcPts val="0"/>
              </a:spcAft>
              <a:buSzPts val="1800"/>
              <a:buChar char="●"/>
              <a:defRPr sz="1800"/>
            </a:lvl1pPr>
            <a:lvl2pPr indent="-317500" lvl="1" marL="914400" algn="l">
              <a:lnSpc>
                <a:spcPct val="90000"/>
              </a:lnSpc>
              <a:spcBef>
                <a:spcPts val="300"/>
              </a:spcBef>
              <a:spcAft>
                <a:spcPts val="0"/>
              </a:spcAft>
              <a:buSzPts val="1400"/>
              <a:buChar char="●"/>
              <a:defRPr sz="1400"/>
            </a:lvl2pPr>
            <a:lvl3pPr indent="-304800" lvl="2" marL="1371600" algn="l">
              <a:lnSpc>
                <a:spcPct val="90000"/>
              </a:lnSpc>
              <a:spcBef>
                <a:spcPts val="200"/>
              </a:spcBef>
              <a:spcAft>
                <a:spcPts val="0"/>
              </a:spcAft>
              <a:buSzPts val="1200"/>
              <a:buChar char="●"/>
              <a:defRPr sz="1200"/>
            </a:lvl3pPr>
            <a:lvl4pPr indent="-298450" lvl="3" marL="1828800" algn="l">
              <a:lnSpc>
                <a:spcPct val="90000"/>
              </a:lnSpc>
              <a:spcBef>
                <a:spcPts val="200"/>
              </a:spcBef>
              <a:spcAft>
                <a:spcPts val="0"/>
              </a:spcAft>
              <a:buSzPts val="1100"/>
              <a:buChar char="●"/>
              <a:defRPr sz="1100"/>
            </a:lvl4pPr>
            <a:lvl5pPr indent="-298450" lvl="4" marL="2286000" algn="l">
              <a:lnSpc>
                <a:spcPct val="90000"/>
              </a:lnSpc>
              <a:spcBef>
                <a:spcPts val="200"/>
              </a:spcBef>
              <a:spcAft>
                <a:spcPts val="0"/>
              </a:spcAft>
              <a:buSzPts val="1100"/>
              <a:buChar char="●"/>
              <a:defRPr sz="1100"/>
            </a:lvl5pPr>
            <a:lvl6pPr indent="-298450" lvl="5" marL="2743200" algn="l">
              <a:lnSpc>
                <a:spcPct val="90000"/>
              </a:lnSpc>
              <a:spcBef>
                <a:spcPts val="200"/>
              </a:spcBef>
              <a:spcAft>
                <a:spcPts val="0"/>
              </a:spcAft>
              <a:buSzPts val="1100"/>
              <a:buChar char="●"/>
              <a:defRPr sz="1100"/>
            </a:lvl6pPr>
            <a:lvl7pPr indent="-298450" lvl="6" marL="3200400" algn="l">
              <a:lnSpc>
                <a:spcPct val="90000"/>
              </a:lnSpc>
              <a:spcBef>
                <a:spcPts val="200"/>
              </a:spcBef>
              <a:spcAft>
                <a:spcPts val="0"/>
              </a:spcAft>
              <a:buSzPts val="1100"/>
              <a:buChar char="●"/>
              <a:defRPr sz="1100"/>
            </a:lvl7pPr>
            <a:lvl8pPr indent="-298450" lvl="7" marL="3657600" algn="l">
              <a:lnSpc>
                <a:spcPct val="90000"/>
              </a:lnSpc>
              <a:spcBef>
                <a:spcPts val="200"/>
              </a:spcBef>
              <a:spcAft>
                <a:spcPts val="0"/>
              </a:spcAft>
              <a:buSzPts val="1100"/>
              <a:buChar char="●"/>
              <a:defRPr sz="1100"/>
            </a:lvl8pPr>
            <a:lvl9pPr indent="-298450" lvl="8" marL="4114800" algn="l">
              <a:lnSpc>
                <a:spcPct val="90000"/>
              </a:lnSpc>
              <a:spcBef>
                <a:spcPts val="200"/>
              </a:spcBef>
              <a:spcAft>
                <a:spcPts val="200"/>
              </a:spcAft>
              <a:buSzPts val="1100"/>
              <a:buChar char="●"/>
              <a:defRPr sz="1100"/>
            </a:lvl9pPr>
          </a:lstStyle>
          <a:p/>
        </p:txBody>
      </p:sp>
      <p:pic>
        <p:nvPicPr>
          <p:cNvPr id="58" name="Google Shape;58;g3d5b1289de4_0_542"/>
          <p:cNvPicPr preferRelativeResize="0"/>
          <p:nvPr/>
        </p:nvPicPr>
        <p:blipFill rotWithShape="1">
          <a:blip r:embed="rId2">
            <a:alphaModFix/>
          </a:blip>
          <a:srcRect b="0" l="0" r="0" t="0"/>
          <a:stretch/>
        </p:blipFill>
        <p:spPr>
          <a:xfrm>
            <a:off x="0" y="4953000"/>
            <a:ext cx="9144000" cy="1905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showMasterSp="0">
  <p:cSld name="1_Blank">
    <p:spTree>
      <p:nvGrpSpPr>
        <p:cNvPr id="59" name="Shape 59"/>
        <p:cNvGrpSpPr/>
        <p:nvPr/>
      </p:nvGrpSpPr>
      <p:grpSpPr>
        <a:xfrm>
          <a:off x="0" y="0"/>
          <a:ext cx="0" cy="0"/>
          <a:chOff x="0" y="0"/>
          <a:chExt cx="0" cy="0"/>
        </a:xfrm>
      </p:grpSpPr>
      <p:sp>
        <p:nvSpPr>
          <p:cNvPr id="60" name="Google Shape;60;g3d5b1289de4_0_1662"/>
          <p:cNvSpPr txBox="1"/>
          <p:nvPr>
            <p:ph idx="1" type="body"/>
          </p:nvPr>
        </p:nvSpPr>
        <p:spPr>
          <a:xfrm>
            <a:off x="688657" y="1151334"/>
            <a:ext cx="7823700" cy="3557700"/>
          </a:xfrm>
          <a:prstGeom prst="rect">
            <a:avLst/>
          </a:prstGeom>
          <a:noFill/>
          <a:ln>
            <a:noFill/>
          </a:ln>
        </p:spPr>
        <p:txBody>
          <a:bodyPr anchorCtr="0" anchor="ctr" bIns="45700" lIns="91425" spcFirstLastPara="1" rIns="91425" wrap="square" tIns="45700">
            <a:normAutofit/>
          </a:bodyPr>
          <a:lstStyle>
            <a:lvl1pPr indent="-323850" lvl="0" marL="457200" algn="l">
              <a:lnSpc>
                <a:spcPct val="90000"/>
              </a:lnSpc>
              <a:spcBef>
                <a:spcPts val="900"/>
              </a:spcBef>
              <a:spcAft>
                <a:spcPts val="0"/>
              </a:spcAft>
              <a:buSzPts val="1500"/>
              <a:buChar char="●"/>
              <a:defRPr sz="1500"/>
            </a:lvl1pPr>
            <a:lvl2pPr indent="-314325" lvl="1" marL="914400" algn="l">
              <a:lnSpc>
                <a:spcPct val="90000"/>
              </a:lnSpc>
              <a:spcBef>
                <a:spcPts val="188"/>
              </a:spcBef>
              <a:spcAft>
                <a:spcPts val="0"/>
              </a:spcAft>
              <a:buSzPts val="1350"/>
              <a:buChar char="●"/>
              <a:defRPr sz="1350"/>
            </a:lvl2pPr>
            <a:lvl3pPr indent="-304800" lvl="2" marL="1371600" algn="l">
              <a:lnSpc>
                <a:spcPct val="90000"/>
              </a:lnSpc>
              <a:spcBef>
                <a:spcPts val="188"/>
              </a:spcBef>
              <a:spcAft>
                <a:spcPts val="0"/>
              </a:spcAft>
              <a:buSzPts val="1200"/>
              <a:buChar char="●"/>
              <a:defRPr sz="1200"/>
            </a:lvl3pPr>
            <a:lvl4pPr indent="-295275" lvl="3" marL="1828800" algn="l">
              <a:lnSpc>
                <a:spcPct val="90000"/>
              </a:lnSpc>
              <a:spcBef>
                <a:spcPts val="188"/>
              </a:spcBef>
              <a:spcAft>
                <a:spcPts val="0"/>
              </a:spcAft>
              <a:buSzPts val="1050"/>
              <a:buChar char="●"/>
              <a:defRPr sz="1050"/>
            </a:lvl4pPr>
            <a:lvl5pPr indent="-295275" lvl="4" marL="2286000" algn="l">
              <a:lnSpc>
                <a:spcPct val="90000"/>
              </a:lnSpc>
              <a:spcBef>
                <a:spcPts val="188"/>
              </a:spcBef>
              <a:spcAft>
                <a:spcPts val="0"/>
              </a:spcAft>
              <a:buSzPts val="1050"/>
              <a:buChar char="●"/>
              <a:defRPr sz="1050"/>
            </a:lvl5pPr>
            <a:lvl6pPr indent="-295275" lvl="5" marL="2743200" algn="l">
              <a:lnSpc>
                <a:spcPct val="90000"/>
              </a:lnSpc>
              <a:spcBef>
                <a:spcPts val="188"/>
              </a:spcBef>
              <a:spcAft>
                <a:spcPts val="0"/>
              </a:spcAft>
              <a:buSzPts val="1050"/>
              <a:buChar char="●"/>
              <a:defRPr sz="1050"/>
            </a:lvl6pPr>
            <a:lvl7pPr indent="-295275" lvl="6" marL="3200400" algn="l">
              <a:lnSpc>
                <a:spcPct val="90000"/>
              </a:lnSpc>
              <a:spcBef>
                <a:spcPts val="188"/>
              </a:spcBef>
              <a:spcAft>
                <a:spcPts val="0"/>
              </a:spcAft>
              <a:buSzPts val="1050"/>
              <a:buChar char="●"/>
              <a:defRPr sz="1050"/>
            </a:lvl7pPr>
            <a:lvl8pPr indent="-295275" lvl="7" marL="3657600" algn="l">
              <a:lnSpc>
                <a:spcPct val="90000"/>
              </a:lnSpc>
              <a:spcBef>
                <a:spcPts val="188"/>
              </a:spcBef>
              <a:spcAft>
                <a:spcPts val="0"/>
              </a:spcAft>
              <a:buSzPts val="1050"/>
              <a:buChar char="●"/>
              <a:defRPr sz="1050"/>
            </a:lvl8pPr>
            <a:lvl9pPr indent="-295275" lvl="8" marL="4114800" algn="l">
              <a:lnSpc>
                <a:spcPct val="90000"/>
              </a:lnSpc>
              <a:spcBef>
                <a:spcPts val="188"/>
              </a:spcBef>
              <a:spcAft>
                <a:spcPts val="188"/>
              </a:spcAft>
              <a:buSzPts val="1050"/>
              <a:buChar char="●"/>
              <a:defRPr sz="1050"/>
            </a:lvl9pPr>
          </a:lstStyle>
          <a:p/>
        </p:txBody>
      </p:sp>
      <p:sp>
        <p:nvSpPr>
          <p:cNvPr id="61" name="Google Shape;61;g3d5b1289de4_0_1662"/>
          <p:cNvSpPr txBox="1"/>
          <p:nvPr>
            <p:ph type="title"/>
          </p:nvPr>
        </p:nvSpPr>
        <p:spPr>
          <a:xfrm>
            <a:off x="688657" y="295656"/>
            <a:ext cx="7823700" cy="6549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595959"/>
              </a:buClr>
              <a:buSzPts val="2700"/>
              <a:buFont typeface="Poppins"/>
              <a:buNone/>
              <a:defRPr b="0" sz="27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62" name="Google Shape;62;g3d5b1289de4_0_1662"/>
          <p:cNvPicPr preferRelativeResize="0"/>
          <p:nvPr/>
        </p:nvPicPr>
        <p:blipFill rotWithShape="1">
          <a:blip r:embed="rId2">
            <a:alphaModFix/>
          </a:blip>
          <a:srcRect b="0" l="0" r="0" t="0"/>
          <a:stretch/>
        </p:blipFill>
        <p:spPr>
          <a:xfrm>
            <a:off x="0" y="4962525"/>
            <a:ext cx="9144000" cy="1809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3d5b1289de4_0_49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3d5b1289de4_0_49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3d5b1289de4_0_49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raphaelle.klitting@inserm.fr" TargetMode="External"/><Relationship Id="rId4" Type="http://schemas.openxmlformats.org/officeDocument/2006/relationships/image" Target="../media/image6.png"/><Relationship Id="rId5" Type="http://schemas.openxmlformats.org/officeDocument/2006/relationships/image" Target="../media/image16.png"/><Relationship Id="rId6" Type="http://schemas.openxmlformats.org/officeDocument/2006/relationships/image" Target="../media/image1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9.png"/><Relationship Id="rId9" Type="http://schemas.openxmlformats.org/officeDocument/2006/relationships/image" Target="../media/image18.png"/><Relationship Id="rId5" Type="http://schemas.openxmlformats.org/officeDocument/2006/relationships/image" Target="../media/image4.png"/><Relationship Id="rId6" Type="http://schemas.openxmlformats.org/officeDocument/2006/relationships/image" Target="../media/image8.png"/><Relationship Id="rId7" Type="http://schemas.openxmlformats.org/officeDocument/2006/relationships/image" Target="../media/image14.png"/><Relationship Id="rId8"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15.png"/><Relationship Id="rId7"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4.png"/></Relationships>
</file>

<file path=ppt/slides/_rels/slide6.xml.rels><?xml version="1.0" encoding="UTF-8" standalone="yes"?><Relationships xmlns="http://schemas.openxmlformats.org/package/2006/relationships"><Relationship Id="rId11" Type="http://schemas.openxmlformats.org/officeDocument/2006/relationships/image" Target="../media/image27.png"/><Relationship Id="rId10" Type="http://schemas.openxmlformats.org/officeDocument/2006/relationships/image" Target="../media/image36.png"/><Relationship Id="rId13" Type="http://schemas.openxmlformats.org/officeDocument/2006/relationships/image" Target="../media/image23.png"/><Relationship Id="rId12" Type="http://schemas.openxmlformats.org/officeDocument/2006/relationships/image" Target="../media/image25.pn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4.png"/><Relationship Id="rId4" Type="http://schemas.openxmlformats.org/officeDocument/2006/relationships/image" Target="../media/image156.png"/><Relationship Id="rId9" Type="http://schemas.openxmlformats.org/officeDocument/2006/relationships/image" Target="../media/image33.png"/><Relationship Id="rId15" Type="http://schemas.openxmlformats.org/officeDocument/2006/relationships/image" Target="../media/image28.png"/><Relationship Id="rId14" Type="http://schemas.openxmlformats.org/officeDocument/2006/relationships/image" Target="../media/image26.png"/><Relationship Id="rId17" Type="http://schemas.openxmlformats.org/officeDocument/2006/relationships/image" Target="../media/image29.png"/><Relationship Id="rId16" Type="http://schemas.openxmlformats.org/officeDocument/2006/relationships/image" Target="../media/image35.png"/><Relationship Id="rId5" Type="http://schemas.openxmlformats.org/officeDocument/2006/relationships/image" Target="../media/image20.png"/><Relationship Id="rId6" Type="http://schemas.openxmlformats.org/officeDocument/2006/relationships/image" Target="../media/image15.png"/><Relationship Id="rId7" Type="http://schemas.openxmlformats.org/officeDocument/2006/relationships/image" Target="../media/image22.png"/><Relationship Id="rId8"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7.png"/><Relationship Id="rId4" Type="http://schemas.openxmlformats.org/officeDocument/2006/relationships/image" Target="../media/image4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0.png"/><Relationship Id="rId4" Type="http://schemas.openxmlformats.org/officeDocument/2006/relationships/image" Target="../media/image32.png"/><Relationship Id="rId5"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1.png"/><Relationship Id="rId4" Type="http://schemas.openxmlformats.org/officeDocument/2006/relationships/image" Target="../media/image5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4.png"/><Relationship Id="rId4" Type="http://schemas.openxmlformats.org/officeDocument/2006/relationships/image" Target="../media/image16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5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5.png"/><Relationship Id="rId6" Type="http://schemas.openxmlformats.org/officeDocument/2006/relationships/image" Target="../media/image4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49.png"/><Relationship Id="rId4" Type="http://schemas.openxmlformats.org/officeDocument/2006/relationships/hyperlink" Target="https://github.com/sdellicour/chikungunya_reunion" TargetMode="External"/><Relationship Id="rId5" Type="http://schemas.openxmlformats.org/officeDocument/2006/relationships/hyperlink" Target="https://pubmed.ncbi.nlm.nih.gov/42748151/"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4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0.png"/><Relationship Id="rId4" Type="http://schemas.openxmlformats.org/officeDocument/2006/relationships/image" Target="../media/image52.png"/><Relationship Id="rId5" Type="http://schemas.openxmlformats.org/officeDocument/2006/relationships/image" Target="../media/image46.png"/><Relationship Id="rId6" Type="http://schemas.openxmlformats.org/officeDocument/2006/relationships/image" Target="../media/image58.png"/><Relationship Id="rId7" Type="http://schemas.openxmlformats.org/officeDocument/2006/relationships/image" Target="../media/image6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4.png"/><Relationship Id="rId4" Type="http://schemas.openxmlformats.org/officeDocument/2006/relationships/image" Target="../media/image55.png"/></Relationships>
</file>

<file path=ppt/slides/_rels/slide24.xml.rels><?xml version="1.0" encoding="UTF-8" standalone="yes"?><Relationships xmlns="http://schemas.openxmlformats.org/package/2006/relationships"><Relationship Id="rId11" Type="http://schemas.openxmlformats.org/officeDocument/2006/relationships/image" Target="../media/image67.png"/><Relationship Id="rId10" Type="http://schemas.openxmlformats.org/officeDocument/2006/relationships/image" Target="../media/image69.png"/><Relationship Id="rId13" Type="http://schemas.openxmlformats.org/officeDocument/2006/relationships/image" Target="../media/image68.png"/><Relationship Id="rId12" Type="http://schemas.openxmlformats.org/officeDocument/2006/relationships/image" Target="../media/image65.png"/><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7.png"/><Relationship Id="rId4" Type="http://schemas.openxmlformats.org/officeDocument/2006/relationships/image" Target="../media/image56.png"/><Relationship Id="rId9" Type="http://schemas.openxmlformats.org/officeDocument/2006/relationships/image" Target="../media/image46.png"/><Relationship Id="rId14" Type="http://schemas.openxmlformats.org/officeDocument/2006/relationships/image" Target="../media/image50.png"/><Relationship Id="rId5" Type="http://schemas.openxmlformats.org/officeDocument/2006/relationships/image" Target="../media/image53.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8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63.png"/><Relationship Id="rId4" Type="http://schemas.openxmlformats.org/officeDocument/2006/relationships/image" Target="../media/image1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72.png"/><Relationship Id="rId4" Type="http://schemas.openxmlformats.org/officeDocument/2006/relationships/image" Target="../media/image70.png"/><Relationship Id="rId9" Type="http://schemas.openxmlformats.org/officeDocument/2006/relationships/image" Target="../media/image82.png"/><Relationship Id="rId5" Type="http://schemas.openxmlformats.org/officeDocument/2006/relationships/image" Target="../media/image71.png"/><Relationship Id="rId6" Type="http://schemas.openxmlformats.org/officeDocument/2006/relationships/image" Target="../media/image73.png"/><Relationship Id="rId7" Type="http://schemas.openxmlformats.org/officeDocument/2006/relationships/image" Target="../media/image63.png"/><Relationship Id="rId8" Type="http://schemas.openxmlformats.org/officeDocument/2006/relationships/image" Target="../media/image9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1.png"/><Relationship Id="rId4" Type="http://schemas.openxmlformats.org/officeDocument/2006/relationships/image" Target="../media/image75.png"/><Relationship Id="rId5" Type="http://schemas.openxmlformats.org/officeDocument/2006/relationships/image" Target="../media/image77.png"/><Relationship Id="rId6" Type="http://schemas.openxmlformats.org/officeDocument/2006/relationships/image" Target="../media/image7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79.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81.png"/><Relationship Id="rId4" Type="http://schemas.openxmlformats.org/officeDocument/2006/relationships/image" Target="../media/image8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91.png"/><Relationship Id="rId4" Type="http://schemas.openxmlformats.org/officeDocument/2006/relationships/hyperlink" Target="https://elifesciences.org/articles/42496#bib21"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81.png"/><Relationship Id="rId4" Type="http://schemas.openxmlformats.org/officeDocument/2006/relationships/image" Target="../media/image8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81.png"/><Relationship Id="rId4" Type="http://schemas.openxmlformats.org/officeDocument/2006/relationships/image" Target="../media/image8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95.png"/><Relationship Id="rId4" Type="http://schemas.openxmlformats.org/officeDocument/2006/relationships/image" Target="../media/image8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00.png"/></Relationships>
</file>

<file path=ppt/slides/_rels/slide37.xml.rels><?xml version="1.0" encoding="UTF-8" standalone="yes"?><Relationships xmlns="http://schemas.openxmlformats.org/package/2006/relationships"><Relationship Id="rId11" Type="http://schemas.openxmlformats.org/officeDocument/2006/relationships/image" Target="../media/image96.png"/><Relationship Id="rId10" Type="http://schemas.openxmlformats.org/officeDocument/2006/relationships/image" Target="../media/image93.png"/><Relationship Id="rId13" Type="http://schemas.openxmlformats.org/officeDocument/2006/relationships/image" Target="../media/image97.png"/><Relationship Id="rId12" Type="http://schemas.openxmlformats.org/officeDocument/2006/relationships/image" Target="../media/image151.png"/><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85.png"/><Relationship Id="rId4" Type="http://schemas.openxmlformats.org/officeDocument/2006/relationships/image" Target="../media/image98.png"/><Relationship Id="rId9" Type="http://schemas.openxmlformats.org/officeDocument/2006/relationships/image" Target="../media/image92.png"/><Relationship Id="rId15" Type="http://schemas.openxmlformats.org/officeDocument/2006/relationships/image" Target="../media/image99.png"/><Relationship Id="rId14" Type="http://schemas.openxmlformats.org/officeDocument/2006/relationships/image" Target="../media/image101.png"/><Relationship Id="rId16" Type="http://schemas.openxmlformats.org/officeDocument/2006/relationships/image" Target="../media/image160.png"/><Relationship Id="rId5" Type="http://schemas.openxmlformats.org/officeDocument/2006/relationships/image" Target="../media/image87.png"/><Relationship Id="rId6" Type="http://schemas.openxmlformats.org/officeDocument/2006/relationships/image" Target="../media/image88.png"/><Relationship Id="rId7" Type="http://schemas.openxmlformats.org/officeDocument/2006/relationships/image" Target="../media/image89.png"/><Relationship Id="rId8" Type="http://schemas.openxmlformats.org/officeDocument/2006/relationships/image" Target="../media/image15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87.png"/><Relationship Id="rId4" Type="http://schemas.openxmlformats.org/officeDocument/2006/relationships/image" Target="../media/image9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06.png"/><Relationship Id="rId4" Type="http://schemas.openxmlformats.org/officeDocument/2006/relationships/image" Target="../media/image103.png"/><Relationship Id="rId5" Type="http://schemas.openxmlformats.org/officeDocument/2006/relationships/image" Target="../media/image10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23.png"/><Relationship Id="rId4" Type="http://schemas.openxmlformats.org/officeDocument/2006/relationships/image" Target="../media/image104.png"/></Relationships>
</file>

<file path=ppt/slides/_rels/slide41.xml.rels><?xml version="1.0" encoding="UTF-8" standalone="yes"?><Relationships xmlns="http://schemas.openxmlformats.org/package/2006/relationships"><Relationship Id="rId11" Type="http://schemas.openxmlformats.org/officeDocument/2006/relationships/image" Target="../media/image158.png"/><Relationship Id="rId10" Type="http://schemas.openxmlformats.org/officeDocument/2006/relationships/image" Target="../media/image110.png"/><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05.png"/><Relationship Id="rId4" Type="http://schemas.openxmlformats.org/officeDocument/2006/relationships/image" Target="../media/image109.png"/><Relationship Id="rId9" Type="http://schemas.openxmlformats.org/officeDocument/2006/relationships/image" Target="../media/image111.png"/><Relationship Id="rId5" Type="http://schemas.openxmlformats.org/officeDocument/2006/relationships/image" Target="../media/image126.png"/><Relationship Id="rId6" Type="http://schemas.openxmlformats.org/officeDocument/2006/relationships/image" Target="../media/image107.png"/><Relationship Id="rId7" Type="http://schemas.openxmlformats.org/officeDocument/2006/relationships/image" Target="../media/image135.png"/><Relationship Id="rId8" Type="http://schemas.openxmlformats.org/officeDocument/2006/relationships/image" Target="../media/image108.png"/></Relationships>
</file>

<file path=ppt/slides/_rels/slide42.xml.rels><?xml version="1.0" encoding="UTF-8" standalone="yes"?><Relationships xmlns="http://schemas.openxmlformats.org/package/2006/relationships"><Relationship Id="rId11" Type="http://schemas.openxmlformats.org/officeDocument/2006/relationships/image" Target="../media/image161.png"/><Relationship Id="rId10" Type="http://schemas.openxmlformats.org/officeDocument/2006/relationships/image" Target="../media/image155.png"/><Relationship Id="rId13" Type="http://schemas.openxmlformats.org/officeDocument/2006/relationships/image" Target="../media/image122.png"/><Relationship Id="rId12" Type="http://schemas.openxmlformats.org/officeDocument/2006/relationships/image" Target="../media/image154.png"/><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12.png"/><Relationship Id="rId4" Type="http://schemas.openxmlformats.org/officeDocument/2006/relationships/image" Target="../media/image108.png"/><Relationship Id="rId9" Type="http://schemas.openxmlformats.org/officeDocument/2006/relationships/image" Target="../media/image115.png"/><Relationship Id="rId14" Type="http://schemas.openxmlformats.org/officeDocument/2006/relationships/image" Target="../media/image157.png"/><Relationship Id="rId5" Type="http://schemas.openxmlformats.org/officeDocument/2006/relationships/image" Target="../media/image113.png"/><Relationship Id="rId6" Type="http://schemas.openxmlformats.org/officeDocument/2006/relationships/image" Target="../media/image7.png"/><Relationship Id="rId7" Type="http://schemas.openxmlformats.org/officeDocument/2006/relationships/image" Target="../media/image83.png"/><Relationship Id="rId8" Type="http://schemas.openxmlformats.org/officeDocument/2006/relationships/image" Target="../media/image1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20.png"/></Relationships>
</file>

<file path=ppt/slides/_rels/slide44.xml.rels><?xml version="1.0" encoding="UTF-8" standalone="yes"?><Relationships xmlns="http://schemas.openxmlformats.org/package/2006/relationships"><Relationship Id="rId20" Type="http://schemas.openxmlformats.org/officeDocument/2006/relationships/image" Target="../media/image140.png"/><Relationship Id="rId22" Type="http://schemas.openxmlformats.org/officeDocument/2006/relationships/image" Target="../media/image144.png"/><Relationship Id="rId21" Type="http://schemas.openxmlformats.org/officeDocument/2006/relationships/image" Target="../media/image142.png"/><Relationship Id="rId24" Type="http://schemas.openxmlformats.org/officeDocument/2006/relationships/image" Target="../media/image150.png"/><Relationship Id="rId23" Type="http://schemas.openxmlformats.org/officeDocument/2006/relationships/image" Target="../media/image143.png"/><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1.png"/><Relationship Id="rId4" Type="http://schemas.openxmlformats.org/officeDocument/2006/relationships/image" Target="../media/image121.png"/><Relationship Id="rId9" Type="http://schemas.openxmlformats.org/officeDocument/2006/relationships/image" Target="../media/image129.png"/><Relationship Id="rId26" Type="http://schemas.openxmlformats.org/officeDocument/2006/relationships/image" Target="../media/image146.png"/><Relationship Id="rId25" Type="http://schemas.openxmlformats.org/officeDocument/2006/relationships/image" Target="../media/image147.png"/><Relationship Id="rId28" Type="http://schemas.openxmlformats.org/officeDocument/2006/relationships/image" Target="../media/image145.png"/><Relationship Id="rId27" Type="http://schemas.openxmlformats.org/officeDocument/2006/relationships/image" Target="../media/image149.png"/><Relationship Id="rId5" Type="http://schemas.openxmlformats.org/officeDocument/2006/relationships/image" Target="../media/image124.png"/><Relationship Id="rId6" Type="http://schemas.openxmlformats.org/officeDocument/2006/relationships/image" Target="../media/image125.png"/><Relationship Id="rId29" Type="http://schemas.openxmlformats.org/officeDocument/2006/relationships/image" Target="../media/image148.png"/><Relationship Id="rId7" Type="http://schemas.openxmlformats.org/officeDocument/2006/relationships/image" Target="../media/image127.png"/><Relationship Id="rId8" Type="http://schemas.openxmlformats.org/officeDocument/2006/relationships/image" Target="../media/image128.png"/><Relationship Id="rId31" Type="http://schemas.openxmlformats.org/officeDocument/2006/relationships/image" Target="../media/image153.png"/><Relationship Id="rId30" Type="http://schemas.openxmlformats.org/officeDocument/2006/relationships/image" Target="../media/image152.png"/><Relationship Id="rId11" Type="http://schemas.openxmlformats.org/officeDocument/2006/relationships/image" Target="../media/image131.png"/><Relationship Id="rId10" Type="http://schemas.openxmlformats.org/officeDocument/2006/relationships/image" Target="../media/image130.png"/><Relationship Id="rId13" Type="http://schemas.openxmlformats.org/officeDocument/2006/relationships/image" Target="../media/image133.png"/><Relationship Id="rId12" Type="http://schemas.openxmlformats.org/officeDocument/2006/relationships/image" Target="../media/image132.png"/><Relationship Id="rId15" Type="http://schemas.openxmlformats.org/officeDocument/2006/relationships/image" Target="../media/image134.jpg"/><Relationship Id="rId14" Type="http://schemas.openxmlformats.org/officeDocument/2006/relationships/image" Target="../media/image137.png"/><Relationship Id="rId17" Type="http://schemas.openxmlformats.org/officeDocument/2006/relationships/image" Target="../media/image138.png"/><Relationship Id="rId16" Type="http://schemas.openxmlformats.org/officeDocument/2006/relationships/image" Target="../media/image136.png"/><Relationship Id="rId19" Type="http://schemas.openxmlformats.org/officeDocument/2006/relationships/image" Target="../media/image141.png"/><Relationship Id="rId18" Type="http://schemas.openxmlformats.org/officeDocument/2006/relationships/image" Target="../media/image13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
          <p:cNvSpPr txBox="1"/>
          <p:nvPr>
            <p:ph type="ctrTitle"/>
          </p:nvPr>
        </p:nvSpPr>
        <p:spPr>
          <a:xfrm>
            <a:off x="311708" y="-400496"/>
            <a:ext cx="8520600" cy="20526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FFFFFF"/>
              </a:buClr>
              <a:buSzPts val="3960"/>
              <a:buFont typeface="Poppins"/>
              <a:buNone/>
            </a:pPr>
            <a:r>
              <a:rPr lang="en-US" sz="3200">
                <a:latin typeface="Helvetica Neue Light"/>
                <a:ea typeface="Helvetica Neue Light"/>
                <a:cs typeface="Helvetica Neue Light"/>
                <a:sym typeface="Helvetica Neue Light"/>
              </a:rPr>
              <a:t>Deep thoughts on emerging viruses: evolution, dispersal and everything</a:t>
            </a:r>
            <a:endParaRPr sz="3200">
              <a:latin typeface="Helvetica Neue Light"/>
              <a:ea typeface="Helvetica Neue Light"/>
              <a:cs typeface="Helvetica Neue Light"/>
              <a:sym typeface="Helvetica Neue Light"/>
            </a:endParaRPr>
          </a:p>
        </p:txBody>
      </p:sp>
      <p:sp>
        <p:nvSpPr>
          <p:cNvPr id="68" name="Google Shape;68;p1"/>
          <p:cNvSpPr txBox="1"/>
          <p:nvPr>
            <p:ph idx="1" type="subTitle"/>
          </p:nvPr>
        </p:nvSpPr>
        <p:spPr>
          <a:xfrm>
            <a:off x="329750" y="1796748"/>
            <a:ext cx="8520600" cy="1142700"/>
          </a:xfrm>
          <a:prstGeom prst="rect">
            <a:avLst/>
          </a:prstGeom>
          <a:noFill/>
          <a:ln>
            <a:noFill/>
          </a:ln>
        </p:spPr>
        <p:txBody>
          <a:bodyPr anchorCtr="0" anchor="t" bIns="34275" lIns="68575" spcFirstLastPara="1" rIns="68575" wrap="square" tIns="34275">
            <a:normAutofit fontScale="92500" lnSpcReduction="20000"/>
          </a:bodyPr>
          <a:lstStyle/>
          <a:p>
            <a:pPr indent="0" lvl="0" marL="0" rtl="0" algn="l">
              <a:lnSpc>
                <a:spcPct val="150000"/>
              </a:lnSpc>
              <a:spcBef>
                <a:spcPts val="0"/>
              </a:spcBef>
              <a:spcAft>
                <a:spcPts val="0"/>
              </a:spcAft>
              <a:buSzPct val="106250"/>
              <a:buNone/>
            </a:pPr>
            <a:r>
              <a:rPr lang="en-US" sz="1600">
                <a:latin typeface="Helvetica Neue Light"/>
                <a:ea typeface="Helvetica Neue Light"/>
                <a:cs typeface="Helvetica Neue Light"/>
                <a:sym typeface="Helvetica Neue Light"/>
              </a:rPr>
              <a:t>Raphaëlle Klitting, Chargée de Recherche</a:t>
            </a:r>
            <a:endParaRPr sz="1600">
              <a:latin typeface="Helvetica Neue Light"/>
              <a:ea typeface="Helvetica Neue Light"/>
              <a:cs typeface="Helvetica Neue Light"/>
              <a:sym typeface="Helvetica Neue Light"/>
            </a:endParaRPr>
          </a:p>
          <a:p>
            <a:pPr indent="0" lvl="0" marL="0" rtl="0" algn="l">
              <a:lnSpc>
                <a:spcPct val="150000"/>
              </a:lnSpc>
              <a:spcBef>
                <a:spcPts val="0"/>
              </a:spcBef>
              <a:spcAft>
                <a:spcPts val="0"/>
              </a:spcAft>
              <a:buSzPct val="106250"/>
              <a:buNone/>
            </a:pPr>
            <a:r>
              <a:rPr lang="en-US" sz="1600">
                <a:latin typeface="Helvetica Neue Light"/>
                <a:ea typeface="Helvetica Neue Light"/>
                <a:cs typeface="Helvetica Neue Light"/>
                <a:sym typeface="Helvetica Neue Light"/>
              </a:rPr>
              <a:t>CNR Arbovirus, Unité des Virus Émergents, Marseille</a:t>
            </a:r>
            <a:endParaRPr sz="1600">
              <a:latin typeface="Helvetica Neue Light"/>
              <a:ea typeface="Helvetica Neue Light"/>
              <a:cs typeface="Helvetica Neue Light"/>
              <a:sym typeface="Helvetica Neue Light"/>
            </a:endParaRPr>
          </a:p>
          <a:p>
            <a:pPr indent="0" lvl="0" marL="0" rtl="0" algn="l">
              <a:lnSpc>
                <a:spcPct val="150000"/>
              </a:lnSpc>
              <a:spcBef>
                <a:spcPts val="0"/>
              </a:spcBef>
              <a:spcAft>
                <a:spcPts val="0"/>
              </a:spcAft>
              <a:buSzPct val="121429"/>
              <a:buNone/>
            </a:pPr>
            <a:r>
              <a:rPr lang="en-US" sz="1400" u="sng">
                <a:solidFill>
                  <a:schemeClr val="hlink"/>
                </a:solidFill>
                <a:latin typeface="Helvetica Neue Light"/>
                <a:ea typeface="Helvetica Neue Light"/>
                <a:cs typeface="Helvetica Neue Light"/>
                <a:sym typeface="Helvetica Neue Light"/>
                <a:hlinkClick r:id="rId3"/>
              </a:rPr>
              <a:t>raphaelle.klitting@inserm.fr</a:t>
            </a:r>
            <a:endParaRPr sz="1400">
              <a:latin typeface="Helvetica Neue Light"/>
              <a:ea typeface="Helvetica Neue Light"/>
              <a:cs typeface="Helvetica Neue Light"/>
              <a:sym typeface="Helvetica Neue Light"/>
            </a:endParaRPr>
          </a:p>
          <a:p>
            <a:pPr indent="0" lvl="0" marL="0" rtl="0" algn="l">
              <a:lnSpc>
                <a:spcPct val="150000"/>
              </a:lnSpc>
              <a:spcBef>
                <a:spcPts val="0"/>
              </a:spcBef>
              <a:spcAft>
                <a:spcPts val="0"/>
              </a:spcAft>
              <a:buClr>
                <a:schemeClr val="dk1"/>
              </a:buClr>
              <a:buSzPct val="121429"/>
              <a:buFont typeface="Arial"/>
              <a:buNone/>
            </a:pPr>
            <a:r>
              <a:rPr lang="en-US" sz="1400">
                <a:latin typeface="Helvetica Neue Light"/>
                <a:ea typeface="Helvetica Neue Light"/>
                <a:cs typeface="Helvetica Neue Light"/>
                <a:sym typeface="Helvetica Neue Light"/>
              </a:rPr>
              <a:t>      @raph-klitting.bsky.social</a:t>
            </a:r>
            <a:endParaRPr sz="1400">
              <a:latin typeface="Helvetica Neue Light"/>
              <a:ea typeface="Helvetica Neue Light"/>
              <a:cs typeface="Helvetica Neue Light"/>
              <a:sym typeface="Helvetica Neue Light"/>
            </a:endParaRPr>
          </a:p>
        </p:txBody>
      </p:sp>
      <p:pic>
        <p:nvPicPr>
          <p:cNvPr id="69" name="Google Shape;69;p1"/>
          <p:cNvPicPr preferRelativeResize="0"/>
          <p:nvPr/>
        </p:nvPicPr>
        <p:blipFill rotWithShape="1">
          <a:blip r:embed="rId4">
            <a:alphaModFix/>
          </a:blip>
          <a:srcRect b="13135" l="0" r="0" t="13524"/>
          <a:stretch/>
        </p:blipFill>
        <p:spPr>
          <a:xfrm>
            <a:off x="36075" y="3559135"/>
            <a:ext cx="9107925" cy="1558625"/>
          </a:xfrm>
          <a:prstGeom prst="rect">
            <a:avLst/>
          </a:prstGeom>
          <a:noFill/>
          <a:ln>
            <a:noFill/>
          </a:ln>
        </p:spPr>
      </p:pic>
      <p:cxnSp>
        <p:nvCxnSpPr>
          <p:cNvPr id="70" name="Google Shape;70;p1"/>
          <p:cNvCxnSpPr/>
          <p:nvPr/>
        </p:nvCxnSpPr>
        <p:spPr>
          <a:xfrm flipH="1" rot="10800000">
            <a:off x="0" y="3541210"/>
            <a:ext cx="9153600" cy="3600"/>
          </a:xfrm>
          <a:prstGeom prst="straightConnector1">
            <a:avLst/>
          </a:prstGeom>
          <a:noFill/>
          <a:ln cap="flat" cmpd="sng" w="76200">
            <a:solidFill>
              <a:srgbClr val="93C47D"/>
            </a:solidFill>
            <a:prstDash val="solid"/>
            <a:round/>
            <a:headEnd len="sm" w="sm" type="none"/>
            <a:tailEnd len="sm" w="sm" type="none"/>
          </a:ln>
        </p:spPr>
      </p:cxnSp>
      <p:pic>
        <p:nvPicPr>
          <p:cNvPr id="71" name="Google Shape;71;p1"/>
          <p:cNvPicPr preferRelativeResize="0"/>
          <p:nvPr/>
        </p:nvPicPr>
        <p:blipFill>
          <a:blip r:embed="rId5">
            <a:alphaModFix/>
          </a:blip>
          <a:stretch>
            <a:fillRect/>
          </a:stretch>
        </p:blipFill>
        <p:spPr>
          <a:xfrm>
            <a:off x="416664" y="2674973"/>
            <a:ext cx="232897" cy="205637"/>
          </a:xfrm>
          <a:prstGeom prst="rect">
            <a:avLst/>
          </a:prstGeom>
          <a:noFill/>
          <a:ln>
            <a:noFill/>
          </a:ln>
        </p:spPr>
      </p:pic>
      <p:pic>
        <p:nvPicPr>
          <p:cNvPr id="72" name="Google Shape;72;p1"/>
          <p:cNvPicPr preferRelativeResize="0"/>
          <p:nvPr/>
        </p:nvPicPr>
        <p:blipFill rotWithShape="1">
          <a:blip r:embed="rId6">
            <a:alphaModFix/>
          </a:blip>
          <a:srcRect b="44414" l="52580" r="0" t="28865"/>
          <a:stretch/>
        </p:blipFill>
        <p:spPr>
          <a:xfrm>
            <a:off x="6847525" y="1508723"/>
            <a:ext cx="1342800" cy="12029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g3d65d74c44f_0_0"/>
          <p:cNvSpPr txBox="1"/>
          <p:nvPr/>
        </p:nvSpPr>
        <p:spPr>
          <a:xfrm>
            <a:off x="1642350" y="1018326"/>
            <a:ext cx="795900" cy="39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Helvetica Neue"/>
                <a:ea typeface="Helvetica Neue"/>
                <a:cs typeface="Helvetica Neue"/>
                <a:sym typeface="Helvetica Neue"/>
              </a:rPr>
              <a:t>Thèse</a:t>
            </a:r>
            <a:endParaRPr b="0" i="0" sz="1600" u="none" cap="none" strike="noStrike">
              <a:solidFill>
                <a:srgbClr val="FFFFFF"/>
              </a:solidFill>
              <a:latin typeface="Helvetica Neue"/>
              <a:ea typeface="Helvetica Neue"/>
              <a:cs typeface="Helvetica Neue"/>
              <a:sym typeface="Helvetica Neue"/>
            </a:endParaRPr>
          </a:p>
        </p:txBody>
      </p:sp>
      <p:sp>
        <p:nvSpPr>
          <p:cNvPr id="78" name="Google Shape;78;g3d65d74c44f_0_0"/>
          <p:cNvSpPr txBox="1"/>
          <p:nvPr/>
        </p:nvSpPr>
        <p:spPr>
          <a:xfrm>
            <a:off x="1649250" y="1380276"/>
            <a:ext cx="1155900" cy="39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34343"/>
                </a:solidFill>
                <a:latin typeface="Helvetica Neue"/>
                <a:ea typeface="Helvetica Neue"/>
                <a:cs typeface="Helvetica Neue"/>
                <a:sym typeface="Helvetica Neue"/>
              </a:rPr>
              <a:t>France</a:t>
            </a:r>
            <a:endParaRPr b="0" i="0" sz="1600" u="none" cap="none" strike="noStrike">
              <a:solidFill>
                <a:srgbClr val="434343"/>
              </a:solidFill>
              <a:latin typeface="Helvetica Neue"/>
              <a:ea typeface="Helvetica Neue"/>
              <a:cs typeface="Helvetica Neue"/>
              <a:sym typeface="Helvetica Neue"/>
            </a:endParaRPr>
          </a:p>
        </p:txBody>
      </p:sp>
      <p:pic>
        <p:nvPicPr>
          <p:cNvPr id="79" name="Google Shape;79;g3d65d74c44f_0_0"/>
          <p:cNvPicPr preferRelativeResize="0"/>
          <p:nvPr/>
        </p:nvPicPr>
        <p:blipFill rotWithShape="1">
          <a:blip r:embed="rId3">
            <a:alphaModFix/>
          </a:blip>
          <a:srcRect b="0" l="0" r="0" t="0"/>
          <a:stretch/>
        </p:blipFill>
        <p:spPr>
          <a:xfrm>
            <a:off x="1693425" y="1818275"/>
            <a:ext cx="876545" cy="322750"/>
          </a:xfrm>
          <a:prstGeom prst="rect">
            <a:avLst/>
          </a:prstGeom>
          <a:noFill/>
          <a:ln>
            <a:noFill/>
          </a:ln>
        </p:spPr>
      </p:pic>
      <p:sp>
        <p:nvSpPr>
          <p:cNvPr id="80" name="Google Shape;80;g3d65d74c44f_0_0"/>
          <p:cNvSpPr/>
          <p:nvPr/>
        </p:nvSpPr>
        <p:spPr>
          <a:xfrm>
            <a:off x="276225" y="1081326"/>
            <a:ext cx="1311300" cy="3240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g3d65d74c44f_0_0"/>
          <p:cNvSpPr txBox="1"/>
          <p:nvPr/>
        </p:nvSpPr>
        <p:spPr>
          <a:xfrm>
            <a:off x="346950" y="1018326"/>
            <a:ext cx="1240500" cy="39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Helvetica Neue"/>
                <a:ea typeface="Helvetica Neue"/>
                <a:cs typeface="Helvetica Neue"/>
                <a:sym typeface="Helvetica Neue"/>
              </a:rPr>
              <a:t>Formation</a:t>
            </a:r>
            <a:endParaRPr b="0" i="0" sz="1600" u="none" cap="none" strike="noStrike">
              <a:solidFill>
                <a:srgbClr val="FFFFFF"/>
              </a:solidFill>
              <a:latin typeface="Helvetica Neue"/>
              <a:ea typeface="Helvetica Neue"/>
              <a:cs typeface="Helvetica Neue"/>
              <a:sym typeface="Helvetica Neue"/>
            </a:endParaRPr>
          </a:p>
        </p:txBody>
      </p:sp>
      <p:sp>
        <p:nvSpPr>
          <p:cNvPr id="82" name="Google Shape;82;g3d65d74c44f_0_0"/>
          <p:cNvSpPr txBox="1"/>
          <p:nvPr/>
        </p:nvSpPr>
        <p:spPr>
          <a:xfrm>
            <a:off x="353850" y="1380276"/>
            <a:ext cx="1155900" cy="39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34343"/>
                </a:solidFill>
                <a:latin typeface="Helvetica Neue"/>
                <a:ea typeface="Helvetica Neue"/>
                <a:cs typeface="Helvetica Neue"/>
                <a:sym typeface="Helvetica Neue"/>
              </a:rPr>
              <a:t>France</a:t>
            </a:r>
            <a:endParaRPr b="0" i="0" sz="1600" u="none" cap="none" strike="noStrike">
              <a:solidFill>
                <a:srgbClr val="434343"/>
              </a:solidFill>
              <a:latin typeface="Helvetica Neue"/>
              <a:ea typeface="Helvetica Neue"/>
              <a:cs typeface="Helvetica Neue"/>
              <a:sym typeface="Helvetica Neue"/>
            </a:endParaRPr>
          </a:p>
        </p:txBody>
      </p:sp>
      <p:sp>
        <p:nvSpPr>
          <p:cNvPr id="83" name="Google Shape;83;g3d65d74c44f_0_0"/>
          <p:cNvSpPr/>
          <p:nvPr/>
        </p:nvSpPr>
        <p:spPr>
          <a:xfrm>
            <a:off x="277350" y="919326"/>
            <a:ext cx="7735800" cy="648000"/>
          </a:xfrm>
          <a:prstGeom prst="rightArrow">
            <a:avLst>
              <a:gd fmla="val 50000" name="adj1"/>
              <a:gd fmla="val 50000" name="adj2"/>
            </a:avLst>
          </a:prstGeom>
          <a:solidFill>
            <a:srgbClr val="6FA8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4" name="Google Shape;84;g3d65d74c44f_0_0"/>
          <p:cNvPicPr preferRelativeResize="0"/>
          <p:nvPr/>
        </p:nvPicPr>
        <p:blipFill rotWithShape="1">
          <a:blip r:embed="rId4">
            <a:alphaModFix/>
          </a:blip>
          <a:srcRect b="0" l="0" r="0" t="0"/>
          <a:stretch/>
        </p:blipFill>
        <p:spPr>
          <a:xfrm>
            <a:off x="436625" y="1803464"/>
            <a:ext cx="685800" cy="374484"/>
          </a:xfrm>
          <a:prstGeom prst="rect">
            <a:avLst/>
          </a:prstGeom>
          <a:noFill/>
          <a:ln>
            <a:noFill/>
          </a:ln>
        </p:spPr>
      </p:pic>
      <p:sp>
        <p:nvSpPr>
          <p:cNvPr id="85" name="Google Shape;85;g3d65d74c44f_0_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86" name="Google Shape;86;g3d65d74c44f_0_0"/>
          <p:cNvSpPr txBox="1"/>
          <p:nvPr/>
        </p:nvSpPr>
        <p:spPr>
          <a:xfrm>
            <a:off x="1509750" y="2306345"/>
            <a:ext cx="1137300" cy="738900"/>
          </a:xfrm>
          <a:prstGeom prst="rect">
            <a:avLst/>
          </a:prstGeom>
          <a:noFill/>
          <a:ln cap="flat" cmpd="sng" w="9525">
            <a:solidFill>
              <a:srgbClr val="FF99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Helvetica Neue Light"/>
                <a:ea typeface="Helvetica Neue Light"/>
                <a:cs typeface="Helvetica Neue Light"/>
                <a:sym typeface="Helvetica Neue Light"/>
              </a:rPr>
              <a:t>Att</a:t>
            </a:r>
            <a:r>
              <a:rPr lang="en-US" sz="1200">
                <a:latin typeface="Helvetica Neue Light"/>
                <a:ea typeface="Helvetica Neue Light"/>
                <a:cs typeface="Helvetica Neue Light"/>
                <a:sym typeface="Helvetica Neue Light"/>
              </a:rPr>
              <a:t>e</a:t>
            </a:r>
            <a:r>
              <a:rPr b="0" i="0" lang="en-US" sz="1200" u="none" cap="none" strike="noStrike">
                <a:solidFill>
                  <a:srgbClr val="000000"/>
                </a:solidFill>
                <a:latin typeface="Helvetica Neue Light"/>
                <a:ea typeface="Helvetica Neue Light"/>
                <a:cs typeface="Helvetica Neue Light"/>
                <a:sym typeface="Helvetica Neue Light"/>
              </a:rPr>
              <a:t>nuation </a:t>
            </a:r>
            <a:r>
              <a:rPr lang="en-US" sz="1200">
                <a:latin typeface="Helvetica Neue Light"/>
                <a:ea typeface="Helvetica Neue Light"/>
                <a:cs typeface="Helvetica Neue Light"/>
                <a:sym typeface="Helvetica Neue Light"/>
              </a:rPr>
              <a:t>of Yellow Fever Virus</a:t>
            </a:r>
            <a:endParaRPr b="0" i="0" sz="1200" u="none" cap="none" strike="noStrike">
              <a:solidFill>
                <a:srgbClr val="000000"/>
              </a:solidFill>
              <a:latin typeface="Helvetica Neue Light"/>
              <a:ea typeface="Helvetica Neue Light"/>
              <a:cs typeface="Helvetica Neue Light"/>
              <a:sym typeface="Helvetica Neue Light"/>
            </a:endParaRPr>
          </a:p>
        </p:txBody>
      </p:sp>
      <p:pic>
        <p:nvPicPr>
          <p:cNvPr id="87" name="Google Shape;87;g3d65d74c44f_0_0" title="Screenshot from 2025-03-19 15-20-04.png"/>
          <p:cNvPicPr preferRelativeResize="0"/>
          <p:nvPr/>
        </p:nvPicPr>
        <p:blipFill rotWithShape="1">
          <a:blip r:embed="rId5">
            <a:alphaModFix/>
          </a:blip>
          <a:srcRect b="0" l="0" r="0" t="0"/>
          <a:stretch/>
        </p:blipFill>
        <p:spPr>
          <a:xfrm>
            <a:off x="1660640" y="3884212"/>
            <a:ext cx="830762" cy="466075"/>
          </a:xfrm>
          <a:prstGeom prst="rect">
            <a:avLst/>
          </a:prstGeom>
          <a:noFill/>
          <a:ln>
            <a:noFill/>
          </a:ln>
        </p:spPr>
      </p:pic>
      <p:sp>
        <p:nvSpPr>
          <p:cNvPr id="88" name="Google Shape;88;g3d65d74c44f_0_0"/>
          <p:cNvSpPr txBox="1"/>
          <p:nvPr/>
        </p:nvSpPr>
        <p:spPr>
          <a:xfrm>
            <a:off x="1642350" y="1018326"/>
            <a:ext cx="795900" cy="39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Helvetica Neue"/>
                <a:ea typeface="Helvetica Neue"/>
                <a:cs typeface="Helvetica Neue"/>
                <a:sym typeface="Helvetica Neue"/>
              </a:rPr>
              <a:t>Th</a:t>
            </a:r>
            <a:r>
              <a:rPr lang="en-US" sz="1600">
                <a:solidFill>
                  <a:srgbClr val="FFFFFF"/>
                </a:solidFill>
                <a:latin typeface="Helvetica Neue"/>
                <a:ea typeface="Helvetica Neue"/>
                <a:cs typeface="Helvetica Neue"/>
                <a:sym typeface="Helvetica Neue"/>
              </a:rPr>
              <a:t>e</a:t>
            </a:r>
            <a:r>
              <a:rPr b="0" i="0" lang="en-US" sz="1600" u="none" cap="none" strike="noStrike">
                <a:solidFill>
                  <a:srgbClr val="FFFFFF"/>
                </a:solidFill>
                <a:latin typeface="Helvetica Neue"/>
                <a:ea typeface="Helvetica Neue"/>
                <a:cs typeface="Helvetica Neue"/>
                <a:sym typeface="Helvetica Neue"/>
              </a:rPr>
              <a:t>s</a:t>
            </a:r>
            <a:r>
              <a:rPr lang="en-US" sz="1600">
                <a:solidFill>
                  <a:srgbClr val="FFFFFF"/>
                </a:solidFill>
                <a:latin typeface="Helvetica Neue"/>
                <a:ea typeface="Helvetica Neue"/>
                <a:cs typeface="Helvetica Neue"/>
                <a:sym typeface="Helvetica Neue"/>
              </a:rPr>
              <a:t>is</a:t>
            </a:r>
            <a:endParaRPr b="0" i="0" sz="1600" u="none" cap="none" strike="noStrike">
              <a:solidFill>
                <a:srgbClr val="FFFFFF"/>
              </a:solidFill>
              <a:latin typeface="Helvetica Neue"/>
              <a:ea typeface="Helvetica Neue"/>
              <a:cs typeface="Helvetica Neue"/>
              <a:sym typeface="Helvetica Neue"/>
            </a:endParaRPr>
          </a:p>
        </p:txBody>
      </p:sp>
      <p:sp>
        <p:nvSpPr>
          <p:cNvPr id="89" name="Google Shape;89;g3d65d74c44f_0_0"/>
          <p:cNvSpPr/>
          <p:nvPr/>
        </p:nvSpPr>
        <p:spPr>
          <a:xfrm>
            <a:off x="276225" y="1081326"/>
            <a:ext cx="1311300" cy="3240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g3d65d74c44f_0_0"/>
          <p:cNvSpPr txBox="1"/>
          <p:nvPr/>
        </p:nvSpPr>
        <p:spPr>
          <a:xfrm>
            <a:off x="346950" y="1018326"/>
            <a:ext cx="1240500" cy="39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n-US" sz="1600">
                <a:solidFill>
                  <a:srgbClr val="FFFFFF"/>
                </a:solidFill>
                <a:latin typeface="Helvetica Neue"/>
                <a:ea typeface="Helvetica Neue"/>
                <a:cs typeface="Helvetica Neue"/>
                <a:sym typeface="Helvetica Neue"/>
              </a:rPr>
              <a:t>Training</a:t>
            </a:r>
            <a:endParaRPr b="0" i="0" sz="1600" u="none" cap="none" strike="noStrike">
              <a:solidFill>
                <a:srgbClr val="FFFFFF"/>
              </a:solidFill>
              <a:latin typeface="Helvetica Neue"/>
              <a:ea typeface="Helvetica Neue"/>
              <a:cs typeface="Helvetica Neue"/>
              <a:sym typeface="Helvetica Neue"/>
            </a:endParaRPr>
          </a:p>
        </p:txBody>
      </p:sp>
      <p:cxnSp>
        <p:nvCxnSpPr>
          <p:cNvPr id="91" name="Google Shape;91;g3d65d74c44f_0_0"/>
          <p:cNvCxnSpPr/>
          <p:nvPr/>
        </p:nvCxnSpPr>
        <p:spPr>
          <a:xfrm>
            <a:off x="2865600" y="788801"/>
            <a:ext cx="0" cy="285900"/>
          </a:xfrm>
          <a:prstGeom prst="straightConnector1">
            <a:avLst/>
          </a:prstGeom>
          <a:noFill/>
          <a:ln cap="flat" cmpd="sng" w="28575">
            <a:solidFill>
              <a:schemeClr val="dk2"/>
            </a:solidFill>
            <a:prstDash val="solid"/>
            <a:round/>
            <a:headEnd len="sm" w="sm" type="none"/>
            <a:tailEnd len="sm" w="sm" type="none"/>
          </a:ln>
        </p:spPr>
      </p:cxnSp>
      <p:sp>
        <p:nvSpPr>
          <p:cNvPr id="92" name="Google Shape;92;g3d65d74c44f_0_0"/>
          <p:cNvSpPr txBox="1"/>
          <p:nvPr/>
        </p:nvSpPr>
        <p:spPr>
          <a:xfrm>
            <a:off x="2522700" y="351576"/>
            <a:ext cx="685800" cy="39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434343"/>
                </a:solidFill>
                <a:latin typeface="Helvetica Neue"/>
                <a:ea typeface="Helvetica Neue"/>
                <a:cs typeface="Helvetica Neue"/>
                <a:sym typeface="Helvetica Neue"/>
              </a:rPr>
              <a:t>2018</a:t>
            </a:r>
            <a:endParaRPr b="0" i="0" sz="1600" u="none" cap="none" strike="noStrike">
              <a:solidFill>
                <a:srgbClr val="434343"/>
              </a:solidFill>
              <a:latin typeface="Helvetica Neue"/>
              <a:ea typeface="Helvetica Neue"/>
              <a:cs typeface="Helvetica Neue"/>
              <a:sym typeface="Helvetica Neue"/>
            </a:endParaRPr>
          </a:p>
        </p:txBody>
      </p:sp>
      <p:pic>
        <p:nvPicPr>
          <p:cNvPr id="93" name="Google Shape;93;g3d65d74c44f_0_0"/>
          <p:cNvPicPr preferRelativeResize="0"/>
          <p:nvPr/>
        </p:nvPicPr>
        <p:blipFill rotWithShape="1">
          <a:blip r:embed="rId6">
            <a:alphaModFix/>
          </a:blip>
          <a:srcRect b="0" l="0" r="0" t="0"/>
          <a:stretch/>
        </p:blipFill>
        <p:spPr>
          <a:xfrm>
            <a:off x="210875" y="3236533"/>
            <a:ext cx="1137300" cy="575848"/>
          </a:xfrm>
          <a:prstGeom prst="rect">
            <a:avLst/>
          </a:prstGeom>
          <a:noFill/>
          <a:ln>
            <a:noFill/>
          </a:ln>
        </p:spPr>
      </p:pic>
      <p:sp>
        <p:nvSpPr>
          <p:cNvPr id="94" name="Google Shape;94;g3d65d74c44f_0_0"/>
          <p:cNvSpPr txBox="1"/>
          <p:nvPr/>
        </p:nvSpPr>
        <p:spPr>
          <a:xfrm>
            <a:off x="141350" y="2103575"/>
            <a:ext cx="1272300" cy="1108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Helvetica Neue Light"/>
                <a:ea typeface="Helvetica Neue Light"/>
                <a:cs typeface="Helvetica Neue Light"/>
                <a:sym typeface="Helvetica Neue Light"/>
              </a:rPr>
              <a:t>Biolog</a:t>
            </a:r>
            <a:r>
              <a:rPr lang="en-US" sz="1200">
                <a:latin typeface="Helvetica Neue Light"/>
                <a:ea typeface="Helvetica Neue Light"/>
                <a:cs typeface="Helvetica Neue Light"/>
                <a:sym typeface="Helvetica Neue Light"/>
              </a:rPr>
              <a:t>y</a:t>
            </a:r>
            <a:endParaRPr b="0" i="0" sz="1200" u="none" cap="none" strike="noStrike">
              <a:solidFill>
                <a:srgbClr val="000000"/>
              </a:solidFill>
              <a:latin typeface="Helvetica Neue Light"/>
              <a:ea typeface="Helvetica Neue Light"/>
              <a:cs typeface="Helvetica Neue Light"/>
              <a:sym typeface="Helvetica Neue Light"/>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Helvetica Neue Light"/>
              <a:ea typeface="Helvetica Neue Light"/>
              <a:cs typeface="Helvetica Neue Light"/>
              <a:sym typeface="Helvetica Neue Light"/>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00000"/>
                </a:solidFill>
                <a:latin typeface="Helvetica Neue"/>
                <a:ea typeface="Helvetica Neue"/>
                <a:cs typeface="Helvetica Neue"/>
                <a:sym typeface="Helvetica Neue"/>
              </a:rPr>
              <a:t>Master 2</a:t>
            </a:r>
            <a:r>
              <a:rPr b="0" i="0" lang="en-US" sz="1200" u="none" cap="none" strike="noStrike">
                <a:solidFill>
                  <a:srgbClr val="000000"/>
                </a:solidFill>
                <a:latin typeface="Helvetica Neue Light"/>
                <a:ea typeface="Helvetica Neue Light"/>
                <a:cs typeface="Helvetica Neue Light"/>
                <a:sym typeface="Helvetica Neue Light"/>
              </a:rPr>
              <a:t> </a:t>
            </a:r>
            <a:r>
              <a:rPr lang="en-US" sz="1200">
                <a:latin typeface="Helvetica Neue Light"/>
                <a:ea typeface="Helvetica Neue Light"/>
                <a:cs typeface="Helvetica Neue Light"/>
                <a:sym typeface="Helvetica Neue Light"/>
              </a:rPr>
              <a:t>Molecular &amp; medical virology</a:t>
            </a:r>
            <a:endParaRPr b="0" i="0" sz="1200" u="none" cap="none" strike="noStrike">
              <a:solidFill>
                <a:srgbClr val="000000"/>
              </a:solidFill>
              <a:latin typeface="Helvetica Neue Light"/>
              <a:ea typeface="Helvetica Neue Light"/>
              <a:cs typeface="Helvetica Neue Light"/>
              <a:sym typeface="Helvetica Neue Light"/>
            </a:endParaRPr>
          </a:p>
        </p:txBody>
      </p:sp>
      <p:pic>
        <p:nvPicPr>
          <p:cNvPr id="95" name="Google Shape;95;g3d65d74c44f_0_0" title="Screenshot from 2025-03-19 15-21-42.png"/>
          <p:cNvPicPr preferRelativeResize="0"/>
          <p:nvPr/>
        </p:nvPicPr>
        <p:blipFill rotWithShape="1">
          <a:blip r:embed="rId7">
            <a:alphaModFix/>
          </a:blip>
          <a:srcRect b="0" l="0" r="0" t="0"/>
          <a:stretch/>
        </p:blipFill>
        <p:spPr>
          <a:xfrm>
            <a:off x="1792904" y="3489903"/>
            <a:ext cx="457500" cy="374776"/>
          </a:xfrm>
          <a:prstGeom prst="rect">
            <a:avLst/>
          </a:prstGeom>
          <a:noFill/>
          <a:ln>
            <a:noFill/>
          </a:ln>
        </p:spPr>
      </p:pic>
      <p:pic>
        <p:nvPicPr>
          <p:cNvPr id="96" name="Google Shape;96;g3d65d74c44f_0_0" title="Screenshot from 2026-04-15 16-14-28.png"/>
          <p:cNvPicPr preferRelativeResize="0"/>
          <p:nvPr/>
        </p:nvPicPr>
        <p:blipFill rotWithShape="1">
          <a:blip r:embed="rId8">
            <a:alphaModFix/>
          </a:blip>
          <a:srcRect b="0" l="0" r="0" t="0"/>
          <a:stretch/>
        </p:blipFill>
        <p:spPr>
          <a:xfrm>
            <a:off x="1810904" y="3107788"/>
            <a:ext cx="476775" cy="301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d65d74c44f_0_120"/>
          <p:cNvSpPr/>
          <p:nvPr/>
        </p:nvSpPr>
        <p:spPr>
          <a:xfrm>
            <a:off x="277350" y="919326"/>
            <a:ext cx="7735800" cy="648000"/>
          </a:xfrm>
          <a:prstGeom prst="rightArrow">
            <a:avLst>
              <a:gd fmla="val 50000" name="adj1"/>
              <a:gd fmla="val 50000" name="adj2"/>
            </a:avLst>
          </a:prstGeom>
          <a:solidFill>
            <a:srgbClr val="6FA8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g3d65d74c44f_0_120"/>
          <p:cNvSpPr/>
          <p:nvPr/>
        </p:nvSpPr>
        <p:spPr>
          <a:xfrm>
            <a:off x="2867025" y="1081326"/>
            <a:ext cx="1663500" cy="3240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g3d65d74c44f_0_120"/>
          <p:cNvSpPr txBox="1"/>
          <p:nvPr/>
        </p:nvSpPr>
        <p:spPr>
          <a:xfrm>
            <a:off x="2932350" y="1018326"/>
            <a:ext cx="1565400" cy="36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Helvetica Neue"/>
                <a:ea typeface="Helvetica Neue"/>
                <a:cs typeface="Helvetica Neue"/>
                <a:sym typeface="Helvetica Neue"/>
              </a:rPr>
              <a:t>Post-doc</a:t>
            </a:r>
            <a:endParaRPr b="0" i="0" sz="1600" u="none" cap="none" strike="noStrike">
              <a:solidFill>
                <a:srgbClr val="FFFFFF"/>
              </a:solidFill>
              <a:latin typeface="Helvetica Neue"/>
              <a:ea typeface="Helvetica Neue"/>
              <a:cs typeface="Helvetica Neue"/>
              <a:sym typeface="Helvetica Neue"/>
            </a:endParaRPr>
          </a:p>
        </p:txBody>
      </p:sp>
      <p:sp>
        <p:nvSpPr>
          <p:cNvPr id="104" name="Google Shape;104;g3d65d74c44f_0_120"/>
          <p:cNvSpPr txBox="1"/>
          <p:nvPr/>
        </p:nvSpPr>
        <p:spPr>
          <a:xfrm>
            <a:off x="1649250" y="1380276"/>
            <a:ext cx="1155900" cy="39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34343"/>
                </a:solidFill>
                <a:latin typeface="Helvetica Neue"/>
                <a:ea typeface="Helvetica Neue"/>
                <a:cs typeface="Helvetica Neue"/>
                <a:sym typeface="Helvetica Neue"/>
              </a:rPr>
              <a:t>France</a:t>
            </a:r>
            <a:endParaRPr b="0" i="0" sz="1600" u="none" cap="none" strike="noStrike">
              <a:solidFill>
                <a:srgbClr val="434343"/>
              </a:solidFill>
              <a:latin typeface="Helvetica Neue"/>
              <a:ea typeface="Helvetica Neue"/>
              <a:cs typeface="Helvetica Neue"/>
              <a:sym typeface="Helvetica Neue"/>
            </a:endParaRPr>
          </a:p>
        </p:txBody>
      </p:sp>
      <p:sp>
        <p:nvSpPr>
          <p:cNvPr id="105" name="Google Shape;105;g3d65d74c44f_0_120"/>
          <p:cNvSpPr txBox="1"/>
          <p:nvPr/>
        </p:nvSpPr>
        <p:spPr>
          <a:xfrm>
            <a:off x="2943325" y="1380276"/>
            <a:ext cx="1703400" cy="39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n-US" sz="1600">
                <a:solidFill>
                  <a:srgbClr val="434343"/>
                </a:solidFill>
                <a:latin typeface="Helvetica Neue"/>
                <a:ea typeface="Helvetica Neue"/>
                <a:cs typeface="Helvetica Neue"/>
                <a:sym typeface="Helvetica Neue"/>
              </a:rPr>
              <a:t>USA</a:t>
            </a:r>
            <a:endParaRPr b="0" i="0" sz="1600" u="none" cap="none" strike="noStrike">
              <a:solidFill>
                <a:srgbClr val="434343"/>
              </a:solidFill>
              <a:latin typeface="Helvetica Neue"/>
              <a:ea typeface="Helvetica Neue"/>
              <a:cs typeface="Helvetica Neue"/>
              <a:sym typeface="Helvetica Neue"/>
            </a:endParaRPr>
          </a:p>
        </p:txBody>
      </p:sp>
      <p:cxnSp>
        <p:nvCxnSpPr>
          <p:cNvPr id="106" name="Google Shape;106;g3d65d74c44f_0_120"/>
          <p:cNvCxnSpPr/>
          <p:nvPr/>
        </p:nvCxnSpPr>
        <p:spPr>
          <a:xfrm>
            <a:off x="2865600" y="788801"/>
            <a:ext cx="0" cy="285900"/>
          </a:xfrm>
          <a:prstGeom prst="straightConnector1">
            <a:avLst/>
          </a:prstGeom>
          <a:noFill/>
          <a:ln cap="flat" cmpd="sng" w="28575">
            <a:solidFill>
              <a:schemeClr val="dk2"/>
            </a:solidFill>
            <a:prstDash val="solid"/>
            <a:round/>
            <a:headEnd len="sm" w="sm" type="none"/>
            <a:tailEnd len="sm" w="sm" type="none"/>
          </a:ln>
        </p:spPr>
      </p:cxnSp>
      <p:sp>
        <p:nvSpPr>
          <p:cNvPr id="107" name="Google Shape;107;g3d65d74c44f_0_120"/>
          <p:cNvSpPr txBox="1"/>
          <p:nvPr/>
        </p:nvSpPr>
        <p:spPr>
          <a:xfrm>
            <a:off x="2522700" y="351576"/>
            <a:ext cx="685800" cy="39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434343"/>
                </a:solidFill>
                <a:latin typeface="Helvetica Neue"/>
                <a:ea typeface="Helvetica Neue"/>
                <a:cs typeface="Helvetica Neue"/>
                <a:sym typeface="Helvetica Neue"/>
              </a:rPr>
              <a:t>2018</a:t>
            </a:r>
            <a:endParaRPr b="0" i="0" sz="1600" u="none" cap="none" strike="noStrike">
              <a:solidFill>
                <a:srgbClr val="434343"/>
              </a:solidFill>
              <a:latin typeface="Helvetica Neue"/>
              <a:ea typeface="Helvetica Neue"/>
              <a:cs typeface="Helvetica Neue"/>
              <a:sym typeface="Helvetica Neue"/>
            </a:endParaRPr>
          </a:p>
        </p:txBody>
      </p:sp>
      <p:pic>
        <p:nvPicPr>
          <p:cNvPr id="108" name="Google Shape;108;g3d65d74c44f_0_120"/>
          <p:cNvPicPr preferRelativeResize="0"/>
          <p:nvPr/>
        </p:nvPicPr>
        <p:blipFill rotWithShape="1">
          <a:blip r:embed="rId3">
            <a:alphaModFix/>
          </a:blip>
          <a:srcRect b="0" l="0" r="0" t="0"/>
          <a:stretch/>
        </p:blipFill>
        <p:spPr>
          <a:xfrm>
            <a:off x="1693425" y="1818275"/>
            <a:ext cx="876545" cy="322750"/>
          </a:xfrm>
          <a:prstGeom prst="rect">
            <a:avLst/>
          </a:prstGeom>
          <a:noFill/>
          <a:ln>
            <a:noFill/>
          </a:ln>
        </p:spPr>
      </p:pic>
      <p:pic>
        <p:nvPicPr>
          <p:cNvPr id="109" name="Google Shape;109;g3d65d74c44f_0_120"/>
          <p:cNvPicPr preferRelativeResize="0"/>
          <p:nvPr/>
        </p:nvPicPr>
        <p:blipFill rotWithShape="1">
          <a:blip r:embed="rId4">
            <a:alphaModFix/>
          </a:blip>
          <a:srcRect b="0" l="0" r="0" t="0"/>
          <a:stretch/>
        </p:blipFill>
        <p:spPr>
          <a:xfrm>
            <a:off x="2981074" y="1794201"/>
            <a:ext cx="1240500" cy="341135"/>
          </a:xfrm>
          <a:prstGeom prst="rect">
            <a:avLst/>
          </a:prstGeom>
          <a:noFill/>
          <a:ln>
            <a:noFill/>
          </a:ln>
        </p:spPr>
      </p:pic>
      <p:sp>
        <p:nvSpPr>
          <p:cNvPr id="110" name="Google Shape;110;g3d65d74c44f_0_120"/>
          <p:cNvSpPr/>
          <p:nvPr/>
        </p:nvSpPr>
        <p:spPr>
          <a:xfrm>
            <a:off x="276225" y="1081326"/>
            <a:ext cx="1311300" cy="3240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g3d65d74c44f_0_120"/>
          <p:cNvSpPr txBox="1"/>
          <p:nvPr/>
        </p:nvSpPr>
        <p:spPr>
          <a:xfrm>
            <a:off x="353850" y="1380276"/>
            <a:ext cx="1155900" cy="39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34343"/>
                </a:solidFill>
                <a:latin typeface="Helvetica Neue"/>
                <a:ea typeface="Helvetica Neue"/>
                <a:cs typeface="Helvetica Neue"/>
                <a:sym typeface="Helvetica Neue"/>
              </a:rPr>
              <a:t>France</a:t>
            </a:r>
            <a:endParaRPr b="0" i="0" sz="1600" u="none" cap="none" strike="noStrike">
              <a:solidFill>
                <a:srgbClr val="434343"/>
              </a:solidFill>
              <a:latin typeface="Helvetica Neue"/>
              <a:ea typeface="Helvetica Neue"/>
              <a:cs typeface="Helvetica Neue"/>
              <a:sym typeface="Helvetica Neue"/>
            </a:endParaRPr>
          </a:p>
        </p:txBody>
      </p:sp>
      <p:pic>
        <p:nvPicPr>
          <p:cNvPr id="112" name="Google Shape;112;g3d65d74c44f_0_120"/>
          <p:cNvPicPr preferRelativeResize="0"/>
          <p:nvPr/>
        </p:nvPicPr>
        <p:blipFill rotWithShape="1">
          <a:blip r:embed="rId5">
            <a:alphaModFix/>
          </a:blip>
          <a:srcRect b="0" l="0" r="0" t="0"/>
          <a:stretch/>
        </p:blipFill>
        <p:spPr>
          <a:xfrm>
            <a:off x="436625" y="1803464"/>
            <a:ext cx="685800" cy="374484"/>
          </a:xfrm>
          <a:prstGeom prst="rect">
            <a:avLst/>
          </a:prstGeom>
          <a:noFill/>
          <a:ln>
            <a:noFill/>
          </a:ln>
        </p:spPr>
      </p:pic>
      <p:sp>
        <p:nvSpPr>
          <p:cNvPr id="113" name="Google Shape;113;g3d65d74c44f_0_1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grpSp>
        <p:nvGrpSpPr>
          <p:cNvPr id="114" name="Google Shape;114;g3d65d74c44f_0_120"/>
          <p:cNvGrpSpPr/>
          <p:nvPr/>
        </p:nvGrpSpPr>
        <p:grpSpPr>
          <a:xfrm>
            <a:off x="3009407" y="2227000"/>
            <a:ext cx="436887" cy="956874"/>
            <a:chOff x="668625" y="2555675"/>
            <a:chExt cx="1130075" cy="2475100"/>
          </a:xfrm>
        </p:grpSpPr>
        <p:pic>
          <p:nvPicPr>
            <p:cNvPr id="115" name="Google Shape;115;g3d65d74c44f_0_120"/>
            <p:cNvPicPr preferRelativeResize="0"/>
            <p:nvPr/>
          </p:nvPicPr>
          <p:blipFill rotWithShape="1">
            <a:blip r:embed="rId6">
              <a:alphaModFix/>
            </a:blip>
            <a:srcRect b="0" l="0" r="0" t="0"/>
            <a:stretch/>
          </p:blipFill>
          <p:spPr>
            <a:xfrm>
              <a:off x="668625" y="2555675"/>
              <a:ext cx="1130075" cy="2475100"/>
            </a:xfrm>
            <a:prstGeom prst="rect">
              <a:avLst/>
            </a:prstGeom>
            <a:noFill/>
            <a:ln>
              <a:noFill/>
            </a:ln>
          </p:spPr>
        </p:pic>
        <p:sp>
          <p:nvSpPr>
            <p:cNvPr id="116" name="Google Shape;116;g3d65d74c44f_0_120"/>
            <p:cNvSpPr/>
            <p:nvPr/>
          </p:nvSpPr>
          <p:spPr>
            <a:xfrm>
              <a:off x="1125625" y="3207025"/>
              <a:ext cx="254700" cy="703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35350" lIns="35350" spcFirstLastPara="1" rIns="35350" wrap="square" tIns="353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17" name="Google Shape;117;g3d65d74c44f_0_120"/>
          <p:cNvPicPr preferRelativeResize="0"/>
          <p:nvPr/>
        </p:nvPicPr>
        <p:blipFill rotWithShape="1">
          <a:blip r:embed="rId7">
            <a:alphaModFix/>
          </a:blip>
          <a:srcRect b="0" l="32761" r="32129" t="46916"/>
          <a:stretch/>
        </p:blipFill>
        <p:spPr>
          <a:xfrm>
            <a:off x="3421352" y="2531902"/>
            <a:ext cx="186714" cy="155924"/>
          </a:xfrm>
          <a:prstGeom prst="rect">
            <a:avLst/>
          </a:prstGeom>
          <a:noFill/>
          <a:ln>
            <a:noFill/>
          </a:ln>
        </p:spPr>
      </p:pic>
      <p:cxnSp>
        <p:nvCxnSpPr>
          <p:cNvPr id="118" name="Google Shape;118;g3d65d74c44f_0_120"/>
          <p:cNvCxnSpPr>
            <a:endCxn id="117" idx="0"/>
          </p:cNvCxnSpPr>
          <p:nvPr/>
        </p:nvCxnSpPr>
        <p:spPr>
          <a:xfrm>
            <a:off x="3367109" y="2387602"/>
            <a:ext cx="147600" cy="144300"/>
          </a:xfrm>
          <a:prstGeom prst="curvedConnector2">
            <a:avLst/>
          </a:prstGeom>
          <a:noFill/>
          <a:ln cap="flat" cmpd="sng" w="9525">
            <a:solidFill>
              <a:srgbClr val="595959"/>
            </a:solidFill>
            <a:prstDash val="solid"/>
            <a:round/>
            <a:headEnd len="sm" w="sm" type="none"/>
            <a:tailEnd len="med" w="med" type="stealth"/>
          </a:ln>
        </p:spPr>
      </p:cxnSp>
      <p:cxnSp>
        <p:nvCxnSpPr>
          <p:cNvPr id="119" name="Google Shape;119;g3d65d74c44f_0_120"/>
          <p:cNvCxnSpPr/>
          <p:nvPr/>
        </p:nvCxnSpPr>
        <p:spPr>
          <a:xfrm rot="5400000">
            <a:off x="3391604" y="2717155"/>
            <a:ext cx="157200" cy="133800"/>
          </a:xfrm>
          <a:prstGeom prst="curvedConnector2">
            <a:avLst/>
          </a:prstGeom>
          <a:noFill/>
          <a:ln cap="flat" cmpd="sng" w="9525">
            <a:solidFill>
              <a:srgbClr val="595959"/>
            </a:solidFill>
            <a:prstDash val="solid"/>
            <a:round/>
            <a:headEnd len="sm" w="sm" type="none"/>
            <a:tailEnd len="med" w="med" type="stealth"/>
          </a:ln>
        </p:spPr>
      </p:cxnSp>
      <p:grpSp>
        <p:nvGrpSpPr>
          <p:cNvPr id="120" name="Google Shape;120;g3d65d74c44f_0_120"/>
          <p:cNvGrpSpPr/>
          <p:nvPr/>
        </p:nvGrpSpPr>
        <p:grpSpPr>
          <a:xfrm flipH="1">
            <a:off x="3769838" y="2481637"/>
            <a:ext cx="436875" cy="705063"/>
            <a:chOff x="668631" y="3207025"/>
            <a:chExt cx="1130044" cy="1823753"/>
          </a:xfrm>
        </p:grpSpPr>
        <p:pic>
          <p:nvPicPr>
            <p:cNvPr id="121" name="Google Shape;121;g3d65d74c44f_0_120"/>
            <p:cNvPicPr preferRelativeResize="0"/>
            <p:nvPr/>
          </p:nvPicPr>
          <p:blipFill rotWithShape="1">
            <a:blip r:embed="rId6">
              <a:alphaModFix/>
            </a:blip>
            <a:srcRect b="0" l="0" r="0" t="30762"/>
            <a:stretch/>
          </p:blipFill>
          <p:spPr>
            <a:xfrm>
              <a:off x="668631" y="3317120"/>
              <a:ext cx="1130044" cy="1713658"/>
            </a:xfrm>
            <a:prstGeom prst="rect">
              <a:avLst/>
            </a:prstGeom>
            <a:noFill/>
            <a:ln>
              <a:noFill/>
            </a:ln>
          </p:spPr>
        </p:pic>
        <p:sp>
          <p:nvSpPr>
            <p:cNvPr id="122" name="Google Shape;122;g3d65d74c44f_0_120"/>
            <p:cNvSpPr/>
            <p:nvPr/>
          </p:nvSpPr>
          <p:spPr>
            <a:xfrm>
              <a:off x="1125625" y="3207025"/>
              <a:ext cx="254700" cy="703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35350" lIns="35350" spcFirstLastPara="1" rIns="35350" wrap="square" tIns="353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23" name="Google Shape;123;g3d65d74c44f_0_120"/>
          <p:cNvPicPr preferRelativeResize="0"/>
          <p:nvPr/>
        </p:nvPicPr>
        <p:blipFill rotWithShape="1">
          <a:blip r:embed="rId7">
            <a:alphaModFix/>
          </a:blip>
          <a:srcRect b="0" l="32761" r="32129" t="46916"/>
          <a:stretch/>
        </p:blipFill>
        <p:spPr>
          <a:xfrm flipH="1">
            <a:off x="3608057" y="2534727"/>
            <a:ext cx="186714" cy="155924"/>
          </a:xfrm>
          <a:prstGeom prst="rect">
            <a:avLst/>
          </a:prstGeom>
          <a:noFill/>
          <a:ln>
            <a:noFill/>
          </a:ln>
        </p:spPr>
      </p:pic>
      <p:cxnSp>
        <p:nvCxnSpPr>
          <p:cNvPr id="124" name="Google Shape;124;g3d65d74c44f_0_120"/>
          <p:cNvCxnSpPr>
            <a:endCxn id="123" idx="0"/>
          </p:cNvCxnSpPr>
          <p:nvPr/>
        </p:nvCxnSpPr>
        <p:spPr>
          <a:xfrm flipH="1">
            <a:off x="3701414" y="2390427"/>
            <a:ext cx="147600" cy="144300"/>
          </a:xfrm>
          <a:prstGeom prst="curvedConnector2">
            <a:avLst/>
          </a:prstGeom>
          <a:noFill/>
          <a:ln cap="flat" cmpd="sng" w="9525">
            <a:solidFill>
              <a:srgbClr val="595959"/>
            </a:solidFill>
            <a:prstDash val="solid"/>
            <a:round/>
            <a:headEnd len="sm" w="sm" type="none"/>
            <a:tailEnd len="med" w="med" type="stealth"/>
          </a:ln>
        </p:spPr>
      </p:cxnSp>
      <p:cxnSp>
        <p:nvCxnSpPr>
          <p:cNvPr id="125" name="Google Shape;125;g3d65d74c44f_0_120"/>
          <p:cNvCxnSpPr/>
          <p:nvPr/>
        </p:nvCxnSpPr>
        <p:spPr>
          <a:xfrm flipH="1" rot="-5400000">
            <a:off x="3667319" y="2719980"/>
            <a:ext cx="157200" cy="133800"/>
          </a:xfrm>
          <a:prstGeom prst="curvedConnector2">
            <a:avLst/>
          </a:prstGeom>
          <a:noFill/>
          <a:ln cap="flat" cmpd="sng" w="9525">
            <a:solidFill>
              <a:srgbClr val="595959"/>
            </a:solidFill>
            <a:prstDash val="solid"/>
            <a:round/>
            <a:headEnd len="sm" w="sm" type="none"/>
            <a:tailEnd len="med" w="med" type="stealth"/>
          </a:ln>
        </p:spPr>
      </p:cxnSp>
      <p:sp>
        <p:nvSpPr>
          <p:cNvPr id="126" name="Google Shape;126;g3d65d74c44f_0_120"/>
          <p:cNvSpPr txBox="1"/>
          <p:nvPr/>
        </p:nvSpPr>
        <p:spPr>
          <a:xfrm>
            <a:off x="3015738" y="3289621"/>
            <a:ext cx="1137300" cy="554100"/>
          </a:xfrm>
          <a:prstGeom prst="rect">
            <a:avLst/>
          </a:prstGeom>
          <a:noFill/>
          <a:ln cap="flat" cmpd="sng" w="9525">
            <a:solidFill>
              <a:srgbClr val="FF99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lang="en-US" sz="1200">
                <a:latin typeface="Helvetica Neue Light"/>
                <a:ea typeface="Helvetica Neue Light"/>
                <a:cs typeface="Helvetica Neue Light"/>
                <a:sym typeface="Helvetica Neue Light"/>
              </a:rPr>
              <a:t>Lassa and Ebola virus</a:t>
            </a:r>
            <a:endParaRPr b="0" i="0" sz="1200" u="none" cap="none" strike="noStrike">
              <a:solidFill>
                <a:srgbClr val="000000"/>
              </a:solidFill>
              <a:latin typeface="Helvetica Neue Light"/>
              <a:ea typeface="Helvetica Neue Light"/>
              <a:cs typeface="Helvetica Neue Light"/>
              <a:sym typeface="Helvetica Neue Light"/>
            </a:endParaRPr>
          </a:p>
        </p:txBody>
      </p:sp>
      <p:sp>
        <p:nvSpPr>
          <p:cNvPr id="127" name="Google Shape;127;g3d65d74c44f_0_120"/>
          <p:cNvSpPr txBox="1"/>
          <p:nvPr/>
        </p:nvSpPr>
        <p:spPr>
          <a:xfrm>
            <a:off x="3821602" y="2144535"/>
            <a:ext cx="366600" cy="28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2"/>
                </a:solidFill>
                <a:latin typeface="Arial"/>
                <a:ea typeface="Arial"/>
                <a:cs typeface="Arial"/>
                <a:sym typeface="Arial"/>
              </a:rPr>
              <a:t>?</a:t>
            </a:r>
            <a:endParaRPr b="0" i="0" sz="1800" u="none" cap="none" strike="noStrike">
              <a:solidFill>
                <a:schemeClr val="dk2"/>
              </a:solidFill>
              <a:latin typeface="Arial"/>
              <a:ea typeface="Arial"/>
              <a:cs typeface="Arial"/>
              <a:sym typeface="Arial"/>
            </a:endParaRPr>
          </a:p>
        </p:txBody>
      </p:sp>
      <p:pic>
        <p:nvPicPr>
          <p:cNvPr id="128" name="Google Shape;128;g3d65d74c44f_0_120" title="Screenshot from 2026-04-15 16-26-16.png"/>
          <p:cNvPicPr preferRelativeResize="0"/>
          <p:nvPr/>
        </p:nvPicPr>
        <p:blipFill rotWithShape="1">
          <a:blip r:embed="rId8">
            <a:alphaModFix/>
          </a:blip>
          <a:srcRect b="0" l="0" r="0" t="0"/>
          <a:stretch/>
        </p:blipFill>
        <p:spPr>
          <a:xfrm>
            <a:off x="3091488" y="3933032"/>
            <a:ext cx="985826" cy="360000"/>
          </a:xfrm>
          <a:prstGeom prst="rect">
            <a:avLst/>
          </a:prstGeom>
          <a:noFill/>
          <a:ln>
            <a:noFill/>
          </a:ln>
        </p:spPr>
      </p:pic>
      <p:cxnSp>
        <p:nvCxnSpPr>
          <p:cNvPr id="129" name="Google Shape;129;g3d65d74c44f_0_120"/>
          <p:cNvCxnSpPr/>
          <p:nvPr/>
        </p:nvCxnSpPr>
        <p:spPr>
          <a:xfrm>
            <a:off x="4537800" y="788801"/>
            <a:ext cx="0" cy="285900"/>
          </a:xfrm>
          <a:prstGeom prst="straightConnector1">
            <a:avLst/>
          </a:prstGeom>
          <a:noFill/>
          <a:ln cap="flat" cmpd="sng" w="28575">
            <a:solidFill>
              <a:schemeClr val="dk2"/>
            </a:solidFill>
            <a:prstDash val="solid"/>
            <a:round/>
            <a:headEnd len="sm" w="sm" type="none"/>
            <a:tailEnd len="sm" w="sm" type="none"/>
          </a:ln>
        </p:spPr>
      </p:cxnSp>
      <p:sp>
        <p:nvSpPr>
          <p:cNvPr id="130" name="Google Shape;130;g3d65d74c44f_0_120"/>
          <p:cNvSpPr txBox="1"/>
          <p:nvPr/>
        </p:nvSpPr>
        <p:spPr>
          <a:xfrm>
            <a:off x="4199400" y="351576"/>
            <a:ext cx="685800" cy="39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434343"/>
                </a:solidFill>
                <a:latin typeface="Helvetica Neue"/>
                <a:ea typeface="Helvetica Neue"/>
                <a:cs typeface="Helvetica Neue"/>
                <a:sym typeface="Helvetica Neue"/>
              </a:rPr>
              <a:t>2022</a:t>
            </a:r>
            <a:endParaRPr b="0" i="0" sz="1600" u="none" cap="none" strike="noStrike">
              <a:solidFill>
                <a:srgbClr val="434343"/>
              </a:solidFill>
              <a:latin typeface="Helvetica Neue"/>
              <a:ea typeface="Helvetica Neue"/>
              <a:cs typeface="Helvetica Neue"/>
              <a:sym typeface="Helvetica Neue"/>
            </a:endParaRPr>
          </a:p>
        </p:txBody>
      </p:sp>
      <p:pic>
        <p:nvPicPr>
          <p:cNvPr id="131" name="Google Shape;131;g3d65d74c44f_0_120"/>
          <p:cNvPicPr preferRelativeResize="0"/>
          <p:nvPr/>
        </p:nvPicPr>
        <p:blipFill rotWithShape="1">
          <a:blip r:embed="rId9">
            <a:alphaModFix/>
          </a:blip>
          <a:srcRect b="0" l="0" r="39951" t="49990"/>
          <a:stretch/>
        </p:blipFill>
        <p:spPr>
          <a:xfrm>
            <a:off x="3146138" y="4365409"/>
            <a:ext cx="876549" cy="301149"/>
          </a:xfrm>
          <a:prstGeom prst="rect">
            <a:avLst/>
          </a:prstGeom>
          <a:noFill/>
          <a:ln>
            <a:noFill/>
          </a:ln>
        </p:spPr>
      </p:pic>
      <p:sp>
        <p:nvSpPr>
          <p:cNvPr id="132" name="Google Shape;132;g3d65d74c44f_0_120"/>
          <p:cNvSpPr txBox="1"/>
          <p:nvPr/>
        </p:nvSpPr>
        <p:spPr>
          <a:xfrm>
            <a:off x="1642350" y="1018326"/>
            <a:ext cx="795900" cy="39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Helvetica Neue"/>
                <a:ea typeface="Helvetica Neue"/>
                <a:cs typeface="Helvetica Neue"/>
                <a:sym typeface="Helvetica Neue"/>
              </a:rPr>
              <a:t>Th</a:t>
            </a:r>
            <a:r>
              <a:rPr lang="en-US" sz="1600">
                <a:solidFill>
                  <a:srgbClr val="FFFFFF"/>
                </a:solidFill>
                <a:latin typeface="Helvetica Neue"/>
                <a:ea typeface="Helvetica Neue"/>
                <a:cs typeface="Helvetica Neue"/>
                <a:sym typeface="Helvetica Neue"/>
              </a:rPr>
              <a:t>e</a:t>
            </a:r>
            <a:r>
              <a:rPr b="0" i="0" lang="en-US" sz="1600" u="none" cap="none" strike="noStrike">
                <a:solidFill>
                  <a:srgbClr val="FFFFFF"/>
                </a:solidFill>
                <a:latin typeface="Helvetica Neue"/>
                <a:ea typeface="Helvetica Neue"/>
                <a:cs typeface="Helvetica Neue"/>
                <a:sym typeface="Helvetica Neue"/>
              </a:rPr>
              <a:t>s</a:t>
            </a:r>
            <a:r>
              <a:rPr lang="en-US" sz="1600">
                <a:solidFill>
                  <a:srgbClr val="FFFFFF"/>
                </a:solidFill>
                <a:latin typeface="Helvetica Neue"/>
                <a:ea typeface="Helvetica Neue"/>
                <a:cs typeface="Helvetica Neue"/>
                <a:sym typeface="Helvetica Neue"/>
              </a:rPr>
              <a:t>is</a:t>
            </a:r>
            <a:endParaRPr b="0" i="0" sz="1600" u="none" cap="none" strike="noStrike">
              <a:solidFill>
                <a:srgbClr val="FFFFFF"/>
              </a:solidFill>
              <a:latin typeface="Helvetica Neue"/>
              <a:ea typeface="Helvetica Neue"/>
              <a:cs typeface="Helvetica Neue"/>
              <a:sym typeface="Helvetica Neue"/>
            </a:endParaRPr>
          </a:p>
        </p:txBody>
      </p:sp>
      <p:sp>
        <p:nvSpPr>
          <p:cNvPr id="133" name="Google Shape;133;g3d65d74c44f_0_120"/>
          <p:cNvSpPr txBox="1"/>
          <p:nvPr/>
        </p:nvSpPr>
        <p:spPr>
          <a:xfrm>
            <a:off x="346950" y="1018326"/>
            <a:ext cx="1240500" cy="39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n-US" sz="1600">
                <a:solidFill>
                  <a:srgbClr val="FFFFFF"/>
                </a:solidFill>
                <a:latin typeface="Helvetica Neue"/>
                <a:ea typeface="Helvetica Neue"/>
                <a:cs typeface="Helvetica Neue"/>
                <a:sym typeface="Helvetica Neue"/>
              </a:rPr>
              <a:t>Training</a:t>
            </a:r>
            <a:endParaRPr b="0" i="0" sz="1600" u="none" cap="none" strike="noStrike">
              <a:solidFill>
                <a:srgbClr val="FFFFFF"/>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d65d74c44f_0_228"/>
          <p:cNvSpPr/>
          <p:nvPr/>
        </p:nvSpPr>
        <p:spPr>
          <a:xfrm>
            <a:off x="277350" y="919326"/>
            <a:ext cx="7735800" cy="648000"/>
          </a:xfrm>
          <a:prstGeom prst="rightArrow">
            <a:avLst>
              <a:gd fmla="val 50000" name="adj1"/>
              <a:gd fmla="val 50000" name="adj2"/>
            </a:avLst>
          </a:prstGeom>
          <a:solidFill>
            <a:srgbClr val="6FA8D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g3d65d74c44f_0_228"/>
          <p:cNvSpPr/>
          <p:nvPr/>
        </p:nvSpPr>
        <p:spPr>
          <a:xfrm>
            <a:off x="2867025" y="1081326"/>
            <a:ext cx="1663500" cy="3240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g3d65d74c44f_0_228"/>
          <p:cNvSpPr txBox="1"/>
          <p:nvPr/>
        </p:nvSpPr>
        <p:spPr>
          <a:xfrm>
            <a:off x="4639725" y="1018325"/>
            <a:ext cx="2506200" cy="39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Helvetica Neue"/>
                <a:ea typeface="Helvetica Neue"/>
                <a:cs typeface="Helvetica Neue"/>
                <a:sym typeface="Helvetica Neue"/>
              </a:rPr>
              <a:t>Post-doc </a:t>
            </a:r>
            <a:r>
              <a:rPr lang="en-US" sz="1600">
                <a:solidFill>
                  <a:srgbClr val="FFFFFF"/>
                </a:solidFill>
                <a:latin typeface="Helvetica Neue"/>
                <a:ea typeface="Helvetica Neue"/>
                <a:cs typeface="Helvetica Neue"/>
                <a:sym typeface="Helvetica Neue"/>
              </a:rPr>
              <a:t>&amp; researcher</a:t>
            </a:r>
            <a:endParaRPr b="0" i="0" sz="1600" u="none" cap="none" strike="noStrike">
              <a:solidFill>
                <a:srgbClr val="FFFFFF"/>
              </a:solidFill>
              <a:latin typeface="Helvetica Neue"/>
              <a:ea typeface="Helvetica Neue"/>
              <a:cs typeface="Helvetica Neue"/>
              <a:sym typeface="Helvetica Neue"/>
            </a:endParaRPr>
          </a:p>
        </p:txBody>
      </p:sp>
      <p:sp>
        <p:nvSpPr>
          <p:cNvPr id="141" name="Google Shape;141;g3d65d74c44f_0_228"/>
          <p:cNvSpPr txBox="1"/>
          <p:nvPr/>
        </p:nvSpPr>
        <p:spPr>
          <a:xfrm>
            <a:off x="1649250" y="1380276"/>
            <a:ext cx="1155900" cy="39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34343"/>
                </a:solidFill>
                <a:latin typeface="Helvetica Neue"/>
                <a:ea typeface="Helvetica Neue"/>
                <a:cs typeface="Helvetica Neue"/>
                <a:sym typeface="Helvetica Neue"/>
              </a:rPr>
              <a:t>France</a:t>
            </a:r>
            <a:endParaRPr b="0" i="0" sz="1600" u="none" cap="none" strike="noStrike">
              <a:solidFill>
                <a:srgbClr val="434343"/>
              </a:solidFill>
              <a:latin typeface="Helvetica Neue"/>
              <a:ea typeface="Helvetica Neue"/>
              <a:cs typeface="Helvetica Neue"/>
              <a:sym typeface="Helvetica Neue"/>
            </a:endParaRPr>
          </a:p>
        </p:txBody>
      </p:sp>
      <p:sp>
        <p:nvSpPr>
          <p:cNvPr id="142" name="Google Shape;142;g3d65d74c44f_0_228"/>
          <p:cNvSpPr txBox="1"/>
          <p:nvPr/>
        </p:nvSpPr>
        <p:spPr>
          <a:xfrm>
            <a:off x="4619625" y="1380276"/>
            <a:ext cx="1827600" cy="39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34343"/>
                </a:solidFill>
                <a:latin typeface="Helvetica Neue"/>
                <a:ea typeface="Helvetica Neue"/>
                <a:cs typeface="Helvetica Neue"/>
                <a:sym typeface="Helvetica Neue"/>
              </a:rPr>
              <a:t>France</a:t>
            </a:r>
            <a:endParaRPr b="0" i="0" sz="1600" u="none" cap="none" strike="noStrike">
              <a:solidFill>
                <a:srgbClr val="434343"/>
              </a:solidFill>
              <a:latin typeface="Helvetica Neue"/>
              <a:ea typeface="Helvetica Neue"/>
              <a:cs typeface="Helvetica Neue"/>
              <a:sym typeface="Helvetica Neue"/>
            </a:endParaRPr>
          </a:p>
        </p:txBody>
      </p:sp>
      <p:cxnSp>
        <p:nvCxnSpPr>
          <p:cNvPr id="143" name="Google Shape;143;g3d65d74c44f_0_228"/>
          <p:cNvCxnSpPr/>
          <p:nvPr/>
        </p:nvCxnSpPr>
        <p:spPr>
          <a:xfrm>
            <a:off x="2865600" y="788801"/>
            <a:ext cx="0" cy="285900"/>
          </a:xfrm>
          <a:prstGeom prst="straightConnector1">
            <a:avLst/>
          </a:prstGeom>
          <a:noFill/>
          <a:ln cap="flat" cmpd="sng" w="28575">
            <a:solidFill>
              <a:schemeClr val="dk2"/>
            </a:solidFill>
            <a:prstDash val="solid"/>
            <a:round/>
            <a:headEnd len="sm" w="sm" type="none"/>
            <a:tailEnd len="sm" w="sm" type="none"/>
          </a:ln>
        </p:spPr>
      </p:cxnSp>
      <p:cxnSp>
        <p:nvCxnSpPr>
          <p:cNvPr id="144" name="Google Shape;144;g3d65d74c44f_0_228"/>
          <p:cNvCxnSpPr/>
          <p:nvPr/>
        </p:nvCxnSpPr>
        <p:spPr>
          <a:xfrm>
            <a:off x="4537800" y="788801"/>
            <a:ext cx="0" cy="285900"/>
          </a:xfrm>
          <a:prstGeom prst="straightConnector1">
            <a:avLst/>
          </a:prstGeom>
          <a:noFill/>
          <a:ln cap="flat" cmpd="sng" w="28575">
            <a:solidFill>
              <a:schemeClr val="dk2"/>
            </a:solidFill>
            <a:prstDash val="solid"/>
            <a:round/>
            <a:headEnd len="sm" w="sm" type="none"/>
            <a:tailEnd len="sm" w="sm" type="none"/>
          </a:ln>
        </p:spPr>
      </p:cxnSp>
      <p:sp>
        <p:nvSpPr>
          <p:cNvPr id="145" name="Google Shape;145;g3d65d74c44f_0_228"/>
          <p:cNvSpPr txBox="1"/>
          <p:nvPr/>
        </p:nvSpPr>
        <p:spPr>
          <a:xfrm>
            <a:off x="2522700" y="351576"/>
            <a:ext cx="685800" cy="39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434343"/>
                </a:solidFill>
                <a:latin typeface="Helvetica Neue"/>
                <a:ea typeface="Helvetica Neue"/>
                <a:cs typeface="Helvetica Neue"/>
                <a:sym typeface="Helvetica Neue"/>
              </a:rPr>
              <a:t>2018</a:t>
            </a:r>
            <a:endParaRPr b="0" i="0" sz="1600" u="none" cap="none" strike="noStrike">
              <a:solidFill>
                <a:srgbClr val="434343"/>
              </a:solidFill>
              <a:latin typeface="Helvetica Neue"/>
              <a:ea typeface="Helvetica Neue"/>
              <a:cs typeface="Helvetica Neue"/>
              <a:sym typeface="Helvetica Neue"/>
            </a:endParaRPr>
          </a:p>
        </p:txBody>
      </p:sp>
      <p:sp>
        <p:nvSpPr>
          <p:cNvPr id="146" name="Google Shape;146;g3d65d74c44f_0_228"/>
          <p:cNvSpPr txBox="1"/>
          <p:nvPr/>
        </p:nvSpPr>
        <p:spPr>
          <a:xfrm>
            <a:off x="4199400" y="351576"/>
            <a:ext cx="685800" cy="39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434343"/>
                </a:solidFill>
                <a:latin typeface="Helvetica Neue"/>
                <a:ea typeface="Helvetica Neue"/>
                <a:cs typeface="Helvetica Neue"/>
                <a:sym typeface="Helvetica Neue"/>
              </a:rPr>
              <a:t>2022</a:t>
            </a:r>
            <a:endParaRPr b="0" i="0" sz="1600" u="none" cap="none" strike="noStrike">
              <a:solidFill>
                <a:srgbClr val="434343"/>
              </a:solidFill>
              <a:latin typeface="Helvetica Neue"/>
              <a:ea typeface="Helvetica Neue"/>
              <a:cs typeface="Helvetica Neue"/>
              <a:sym typeface="Helvetica Neue"/>
            </a:endParaRPr>
          </a:p>
        </p:txBody>
      </p:sp>
      <p:pic>
        <p:nvPicPr>
          <p:cNvPr id="147" name="Google Shape;147;g3d65d74c44f_0_228"/>
          <p:cNvPicPr preferRelativeResize="0"/>
          <p:nvPr/>
        </p:nvPicPr>
        <p:blipFill rotWithShape="1">
          <a:blip r:embed="rId3">
            <a:alphaModFix/>
          </a:blip>
          <a:srcRect b="0" l="0" r="0" t="0"/>
          <a:stretch/>
        </p:blipFill>
        <p:spPr>
          <a:xfrm>
            <a:off x="1693425" y="1818275"/>
            <a:ext cx="876545" cy="322750"/>
          </a:xfrm>
          <a:prstGeom prst="rect">
            <a:avLst/>
          </a:prstGeom>
          <a:noFill/>
          <a:ln>
            <a:noFill/>
          </a:ln>
        </p:spPr>
      </p:pic>
      <p:pic>
        <p:nvPicPr>
          <p:cNvPr id="148" name="Google Shape;148;g3d65d74c44f_0_228"/>
          <p:cNvPicPr preferRelativeResize="0"/>
          <p:nvPr/>
        </p:nvPicPr>
        <p:blipFill rotWithShape="1">
          <a:blip r:embed="rId4">
            <a:alphaModFix/>
          </a:blip>
          <a:srcRect b="0" l="0" r="0" t="0"/>
          <a:stretch/>
        </p:blipFill>
        <p:spPr>
          <a:xfrm>
            <a:off x="2981074" y="1794201"/>
            <a:ext cx="1240500" cy="341135"/>
          </a:xfrm>
          <a:prstGeom prst="rect">
            <a:avLst/>
          </a:prstGeom>
          <a:noFill/>
          <a:ln>
            <a:noFill/>
          </a:ln>
        </p:spPr>
      </p:pic>
      <p:pic>
        <p:nvPicPr>
          <p:cNvPr id="149" name="Google Shape;149;g3d65d74c44f_0_228"/>
          <p:cNvPicPr preferRelativeResize="0"/>
          <p:nvPr/>
        </p:nvPicPr>
        <p:blipFill rotWithShape="1">
          <a:blip r:embed="rId3">
            <a:alphaModFix/>
          </a:blip>
          <a:srcRect b="0" l="0" r="0" t="0"/>
          <a:stretch/>
        </p:blipFill>
        <p:spPr>
          <a:xfrm>
            <a:off x="4723075" y="1803400"/>
            <a:ext cx="876545" cy="322750"/>
          </a:xfrm>
          <a:prstGeom prst="rect">
            <a:avLst/>
          </a:prstGeom>
          <a:noFill/>
          <a:ln>
            <a:noFill/>
          </a:ln>
        </p:spPr>
      </p:pic>
      <p:sp>
        <p:nvSpPr>
          <p:cNvPr id="150" name="Google Shape;150;g3d65d74c44f_0_228"/>
          <p:cNvSpPr/>
          <p:nvPr/>
        </p:nvSpPr>
        <p:spPr>
          <a:xfrm>
            <a:off x="276225" y="1081326"/>
            <a:ext cx="1311300" cy="324000"/>
          </a:xfrm>
          <a:prstGeom prst="rect">
            <a:avLst/>
          </a:prstGeom>
          <a:solidFill>
            <a:srgbClr val="9FC5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g3d65d74c44f_0_228"/>
          <p:cNvSpPr txBox="1"/>
          <p:nvPr/>
        </p:nvSpPr>
        <p:spPr>
          <a:xfrm>
            <a:off x="353850" y="1380276"/>
            <a:ext cx="1155900" cy="39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434343"/>
                </a:solidFill>
                <a:latin typeface="Helvetica Neue"/>
                <a:ea typeface="Helvetica Neue"/>
                <a:cs typeface="Helvetica Neue"/>
                <a:sym typeface="Helvetica Neue"/>
              </a:rPr>
              <a:t>France</a:t>
            </a:r>
            <a:endParaRPr b="0" i="0" sz="1600" u="none" cap="none" strike="noStrike">
              <a:solidFill>
                <a:srgbClr val="434343"/>
              </a:solidFill>
              <a:latin typeface="Helvetica Neue"/>
              <a:ea typeface="Helvetica Neue"/>
              <a:cs typeface="Helvetica Neue"/>
              <a:sym typeface="Helvetica Neue"/>
            </a:endParaRPr>
          </a:p>
        </p:txBody>
      </p:sp>
      <p:pic>
        <p:nvPicPr>
          <p:cNvPr id="152" name="Google Shape;152;g3d65d74c44f_0_228"/>
          <p:cNvPicPr preferRelativeResize="0"/>
          <p:nvPr/>
        </p:nvPicPr>
        <p:blipFill rotWithShape="1">
          <a:blip r:embed="rId5">
            <a:alphaModFix/>
          </a:blip>
          <a:srcRect b="0" l="0" r="0" t="0"/>
          <a:stretch/>
        </p:blipFill>
        <p:spPr>
          <a:xfrm>
            <a:off x="436625" y="1803464"/>
            <a:ext cx="685800" cy="374484"/>
          </a:xfrm>
          <a:prstGeom prst="rect">
            <a:avLst/>
          </a:prstGeom>
          <a:noFill/>
          <a:ln>
            <a:noFill/>
          </a:ln>
        </p:spPr>
      </p:pic>
      <p:sp>
        <p:nvSpPr>
          <p:cNvPr id="153" name="Google Shape;153;g3d65d74c44f_0_2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cxnSp>
        <p:nvCxnSpPr>
          <p:cNvPr id="154" name="Google Shape;154;g3d65d74c44f_0_228"/>
          <p:cNvCxnSpPr/>
          <p:nvPr/>
        </p:nvCxnSpPr>
        <p:spPr>
          <a:xfrm>
            <a:off x="6105298" y="785851"/>
            <a:ext cx="0" cy="285900"/>
          </a:xfrm>
          <a:prstGeom prst="straightConnector1">
            <a:avLst/>
          </a:prstGeom>
          <a:noFill/>
          <a:ln cap="flat" cmpd="sng" w="28575">
            <a:solidFill>
              <a:schemeClr val="dk2"/>
            </a:solidFill>
            <a:prstDash val="solid"/>
            <a:round/>
            <a:headEnd len="sm" w="sm" type="none"/>
            <a:tailEnd len="sm" w="sm" type="none"/>
          </a:ln>
        </p:spPr>
      </p:cxnSp>
      <p:sp>
        <p:nvSpPr>
          <p:cNvPr id="155" name="Google Shape;155;g3d65d74c44f_0_228"/>
          <p:cNvSpPr txBox="1"/>
          <p:nvPr/>
        </p:nvSpPr>
        <p:spPr>
          <a:xfrm>
            <a:off x="5766898" y="348626"/>
            <a:ext cx="685800" cy="39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434343"/>
                </a:solidFill>
                <a:latin typeface="Helvetica Neue"/>
                <a:ea typeface="Helvetica Neue"/>
                <a:cs typeface="Helvetica Neue"/>
                <a:sym typeface="Helvetica Neue"/>
              </a:rPr>
              <a:t>2025</a:t>
            </a:r>
            <a:endParaRPr b="0" i="0" sz="1600" u="none" cap="none" strike="noStrike">
              <a:solidFill>
                <a:srgbClr val="434343"/>
              </a:solidFill>
              <a:latin typeface="Helvetica Neue"/>
              <a:ea typeface="Helvetica Neue"/>
              <a:cs typeface="Helvetica Neue"/>
              <a:sym typeface="Helvetica Neue"/>
            </a:endParaRPr>
          </a:p>
        </p:txBody>
      </p:sp>
      <p:pic>
        <p:nvPicPr>
          <p:cNvPr id="156" name="Google Shape;156;g3d65d74c44f_0_228"/>
          <p:cNvPicPr preferRelativeResize="0"/>
          <p:nvPr/>
        </p:nvPicPr>
        <p:blipFill rotWithShape="1">
          <a:blip r:embed="rId6">
            <a:alphaModFix/>
          </a:blip>
          <a:srcRect b="16143" l="0" r="0" t="16985"/>
          <a:stretch/>
        </p:blipFill>
        <p:spPr>
          <a:xfrm>
            <a:off x="5683675" y="1803400"/>
            <a:ext cx="763558" cy="285900"/>
          </a:xfrm>
          <a:prstGeom prst="rect">
            <a:avLst/>
          </a:prstGeom>
          <a:noFill/>
          <a:ln>
            <a:noFill/>
          </a:ln>
        </p:spPr>
      </p:pic>
      <p:pic>
        <p:nvPicPr>
          <p:cNvPr id="157" name="Google Shape;157;g3d65d74c44f_0_228" title="Screenshot from 2025-03-20 07-33-48.png"/>
          <p:cNvPicPr preferRelativeResize="0"/>
          <p:nvPr/>
        </p:nvPicPr>
        <p:blipFill rotWithShape="1">
          <a:blip r:embed="rId7">
            <a:alphaModFix/>
          </a:blip>
          <a:srcRect b="0" l="0" r="0" t="0"/>
          <a:stretch/>
        </p:blipFill>
        <p:spPr>
          <a:xfrm>
            <a:off x="6587775" y="1759450"/>
            <a:ext cx="1263000" cy="1706469"/>
          </a:xfrm>
          <a:prstGeom prst="rect">
            <a:avLst/>
          </a:prstGeom>
          <a:noFill/>
          <a:ln>
            <a:noFill/>
          </a:ln>
        </p:spPr>
      </p:pic>
      <p:sp>
        <p:nvSpPr>
          <p:cNvPr id="158" name="Google Shape;158;g3d65d74c44f_0_228"/>
          <p:cNvSpPr txBox="1"/>
          <p:nvPr/>
        </p:nvSpPr>
        <p:spPr>
          <a:xfrm>
            <a:off x="5599625" y="2613075"/>
            <a:ext cx="1020300" cy="369300"/>
          </a:xfrm>
          <a:prstGeom prst="rect">
            <a:avLst/>
          </a:prstGeom>
          <a:noFill/>
          <a:ln cap="flat" cmpd="sng" w="9525">
            <a:solidFill>
              <a:srgbClr val="FF99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Helvetica Neue Light"/>
                <a:ea typeface="Helvetica Neue Light"/>
                <a:cs typeface="Helvetica Neue Light"/>
                <a:sym typeface="Helvetica Neue Light"/>
              </a:rPr>
              <a:t>Arboviruses</a:t>
            </a:r>
            <a:endParaRPr b="0" i="0" sz="1200" u="none" cap="none" strike="noStrike">
              <a:solidFill>
                <a:srgbClr val="000000"/>
              </a:solidFill>
              <a:latin typeface="Helvetica Neue Light"/>
              <a:ea typeface="Helvetica Neue Light"/>
              <a:cs typeface="Helvetica Neue Light"/>
              <a:sym typeface="Helvetica Neue Light"/>
            </a:endParaRPr>
          </a:p>
        </p:txBody>
      </p:sp>
      <p:cxnSp>
        <p:nvCxnSpPr>
          <p:cNvPr id="159" name="Google Shape;159;g3d65d74c44f_0_228"/>
          <p:cNvCxnSpPr/>
          <p:nvPr/>
        </p:nvCxnSpPr>
        <p:spPr>
          <a:xfrm flipH="1">
            <a:off x="5671711" y="3048398"/>
            <a:ext cx="381300" cy="494400"/>
          </a:xfrm>
          <a:prstGeom prst="straightConnector1">
            <a:avLst/>
          </a:prstGeom>
          <a:noFill/>
          <a:ln cap="flat" cmpd="sng" w="9525">
            <a:solidFill>
              <a:schemeClr val="dk2"/>
            </a:solidFill>
            <a:prstDash val="solid"/>
            <a:round/>
            <a:headEnd len="sm" w="sm" type="none"/>
            <a:tailEnd len="med" w="med" type="stealth"/>
          </a:ln>
        </p:spPr>
      </p:cxnSp>
      <p:cxnSp>
        <p:nvCxnSpPr>
          <p:cNvPr id="160" name="Google Shape;160;g3d65d74c44f_0_228"/>
          <p:cNvCxnSpPr/>
          <p:nvPr/>
        </p:nvCxnSpPr>
        <p:spPr>
          <a:xfrm>
            <a:off x="6154583" y="3048273"/>
            <a:ext cx="381300" cy="494400"/>
          </a:xfrm>
          <a:prstGeom prst="straightConnector1">
            <a:avLst/>
          </a:prstGeom>
          <a:noFill/>
          <a:ln cap="flat" cmpd="sng" w="9525">
            <a:solidFill>
              <a:schemeClr val="dk2"/>
            </a:solidFill>
            <a:prstDash val="solid"/>
            <a:round/>
            <a:headEnd len="sm" w="sm" type="none"/>
            <a:tailEnd len="med" w="med" type="stealth"/>
          </a:ln>
        </p:spPr>
      </p:cxnSp>
      <p:sp>
        <p:nvSpPr>
          <p:cNvPr id="161" name="Google Shape;161;g3d65d74c44f_0_228"/>
          <p:cNvSpPr txBox="1"/>
          <p:nvPr/>
        </p:nvSpPr>
        <p:spPr>
          <a:xfrm>
            <a:off x="4790425" y="3534210"/>
            <a:ext cx="1211700" cy="24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lang="en-US" sz="1100">
                <a:solidFill>
                  <a:schemeClr val="dk2"/>
                </a:solidFill>
                <a:latin typeface="Helvetica Neue Light"/>
                <a:ea typeface="Helvetica Neue Light"/>
                <a:cs typeface="Helvetica Neue Light"/>
                <a:sym typeface="Helvetica Neue Light"/>
              </a:rPr>
              <a:t>Molecular epidemiology &amp; phylodynamics</a:t>
            </a:r>
            <a:endParaRPr b="0" i="0" sz="1100" u="none" cap="none" strike="noStrike">
              <a:solidFill>
                <a:schemeClr val="dk2"/>
              </a:solidFill>
              <a:latin typeface="Helvetica Neue Light"/>
              <a:ea typeface="Helvetica Neue Light"/>
              <a:cs typeface="Helvetica Neue Light"/>
              <a:sym typeface="Helvetica Neue Light"/>
            </a:endParaRPr>
          </a:p>
        </p:txBody>
      </p:sp>
      <p:sp>
        <p:nvSpPr>
          <p:cNvPr id="162" name="Google Shape;162;g3d65d74c44f_0_228"/>
          <p:cNvSpPr txBox="1"/>
          <p:nvPr/>
        </p:nvSpPr>
        <p:spPr>
          <a:xfrm>
            <a:off x="6083925" y="3545388"/>
            <a:ext cx="977400" cy="24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lang="en-US" sz="1100">
                <a:solidFill>
                  <a:schemeClr val="dk2"/>
                </a:solidFill>
                <a:latin typeface="Helvetica Neue Light"/>
                <a:ea typeface="Helvetica Neue Light"/>
                <a:cs typeface="Helvetica Neue Light"/>
                <a:sym typeface="Helvetica Neue Light"/>
              </a:rPr>
              <a:t>Functional evolution</a:t>
            </a:r>
            <a:endParaRPr b="0" i="0" sz="1100" u="none" cap="none" strike="noStrike">
              <a:solidFill>
                <a:schemeClr val="dk2"/>
              </a:solidFill>
              <a:latin typeface="Helvetica Neue Light"/>
              <a:ea typeface="Helvetica Neue Light"/>
              <a:cs typeface="Helvetica Neue Light"/>
              <a:sym typeface="Helvetica Neue Light"/>
            </a:endParaRPr>
          </a:p>
        </p:txBody>
      </p:sp>
      <p:sp>
        <p:nvSpPr>
          <p:cNvPr id="163" name="Google Shape;163;g3d65d74c44f_0_228"/>
          <p:cNvSpPr txBox="1"/>
          <p:nvPr/>
        </p:nvSpPr>
        <p:spPr>
          <a:xfrm>
            <a:off x="2932350" y="1018326"/>
            <a:ext cx="1565400" cy="36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Helvetica Neue"/>
                <a:ea typeface="Helvetica Neue"/>
                <a:cs typeface="Helvetica Neue"/>
                <a:sym typeface="Helvetica Neue"/>
              </a:rPr>
              <a:t>Post-doc</a:t>
            </a:r>
            <a:endParaRPr b="0" i="0" sz="1600" u="none" cap="none" strike="noStrike">
              <a:solidFill>
                <a:srgbClr val="FFFFFF"/>
              </a:solidFill>
              <a:latin typeface="Helvetica Neue"/>
              <a:ea typeface="Helvetica Neue"/>
              <a:cs typeface="Helvetica Neue"/>
              <a:sym typeface="Helvetica Neue"/>
            </a:endParaRPr>
          </a:p>
        </p:txBody>
      </p:sp>
      <p:sp>
        <p:nvSpPr>
          <p:cNvPr id="164" name="Google Shape;164;g3d65d74c44f_0_228"/>
          <p:cNvSpPr txBox="1"/>
          <p:nvPr/>
        </p:nvSpPr>
        <p:spPr>
          <a:xfrm>
            <a:off x="2943325" y="1380276"/>
            <a:ext cx="1703400" cy="39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n-US" sz="1600">
                <a:solidFill>
                  <a:srgbClr val="434343"/>
                </a:solidFill>
                <a:latin typeface="Helvetica Neue"/>
                <a:ea typeface="Helvetica Neue"/>
                <a:cs typeface="Helvetica Neue"/>
                <a:sym typeface="Helvetica Neue"/>
              </a:rPr>
              <a:t>USA</a:t>
            </a:r>
            <a:endParaRPr b="0" i="0" sz="1600" u="none" cap="none" strike="noStrike">
              <a:solidFill>
                <a:srgbClr val="434343"/>
              </a:solidFill>
              <a:latin typeface="Helvetica Neue"/>
              <a:ea typeface="Helvetica Neue"/>
              <a:cs typeface="Helvetica Neue"/>
              <a:sym typeface="Helvetica Neue"/>
            </a:endParaRPr>
          </a:p>
        </p:txBody>
      </p:sp>
      <p:sp>
        <p:nvSpPr>
          <p:cNvPr id="165" name="Google Shape;165;g3d65d74c44f_0_228"/>
          <p:cNvSpPr txBox="1"/>
          <p:nvPr/>
        </p:nvSpPr>
        <p:spPr>
          <a:xfrm>
            <a:off x="1642350" y="1018326"/>
            <a:ext cx="795900" cy="39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FFFFFF"/>
                </a:solidFill>
                <a:latin typeface="Helvetica Neue"/>
                <a:ea typeface="Helvetica Neue"/>
                <a:cs typeface="Helvetica Neue"/>
                <a:sym typeface="Helvetica Neue"/>
              </a:rPr>
              <a:t>Th</a:t>
            </a:r>
            <a:r>
              <a:rPr lang="en-US" sz="1600">
                <a:solidFill>
                  <a:srgbClr val="FFFFFF"/>
                </a:solidFill>
                <a:latin typeface="Helvetica Neue"/>
                <a:ea typeface="Helvetica Neue"/>
                <a:cs typeface="Helvetica Neue"/>
                <a:sym typeface="Helvetica Neue"/>
              </a:rPr>
              <a:t>e</a:t>
            </a:r>
            <a:r>
              <a:rPr b="0" i="0" lang="en-US" sz="1600" u="none" cap="none" strike="noStrike">
                <a:solidFill>
                  <a:srgbClr val="FFFFFF"/>
                </a:solidFill>
                <a:latin typeface="Helvetica Neue"/>
                <a:ea typeface="Helvetica Neue"/>
                <a:cs typeface="Helvetica Neue"/>
                <a:sym typeface="Helvetica Neue"/>
              </a:rPr>
              <a:t>s</a:t>
            </a:r>
            <a:r>
              <a:rPr lang="en-US" sz="1600">
                <a:solidFill>
                  <a:srgbClr val="FFFFFF"/>
                </a:solidFill>
                <a:latin typeface="Helvetica Neue"/>
                <a:ea typeface="Helvetica Neue"/>
                <a:cs typeface="Helvetica Neue"/>
                <a:sym typeface="Helvetica Neue"/>
              </a:rPr>
              <a:t>is</a:t>
            </a:r>
            <a:endParaRPr b="0" i="0" sz="1600" u="none" cap="none" strike="noStrike">
              <a:solidFill>
                <a:srgbClr val="FFFFFF"/>
              </a:solidFill>
              <a:latin typeface="Helvetica Neue"/>
              <a:ea typeface="Helvetica Neue"/>
              <a:cs typeface="Helvetica Neue"/>
              <a:sym typeface="Helvetica Neue"/>
            </a:endParaRPr>
          </a:p>
        </p:txBody>
      </p:sp>
      <p:sp>
        <p:nvSpPr>
          <p:cNvPr id="166" name="Google Shape;166;g3d65d74c44f_0_228"/>
          <p:cNvSpPr txBox="1"/>
          <p:nvPr/>
        </p:nvSpPr>
        <p:spPr>
          <a:xfrm>
            <a:off x="346950" y="1018326"/>
            <a:ext cx="1240500" cy="39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lang="en-US" sz="1600">
                <a:solidFill>
                  <a:srgbClr val="FFFFFF"/>
                </a:solidFill>
                <a:latin typeface="Helvetica Neue"/>
                <a:ea typeface="Helvetica Neue"/>
                <a:cs typeface="Helvetica Neue"/>
                <a:sym typeface="Helvetica Neue"/>
              </a:rPr>
              <a:t>Training</a:t>
            </a:r>
            <a:endParaRPr b="0" i="0" sz="1600" u="none" cap="none" strike="noStrike">
              <a:solidFill>
                <a:srgbClr val="FFFFFF"/>
              </a:solidFill>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h11a342068904e6d2_0_837"/>
          <p:cNvPicPr preferRelativeResize="0"/>
          <p:nvPr/>
        </p:nvPicPr>
        <p:blipFill rotWithShape="1">
          <a:blip r:embed="rId3">
            <a:alphaModFix/>
          </a:blip>
          <a:srcRect b="0" l="19225" r="0" t="0"/>
          <a:stretch/>
        </p:blipFill>
        <p:spPr>
          <a:xfrm>
            <a:off x="1131370" y="244900"/>
            <a:ext cx="6713699" cy="4739350"/>
          </a:xfrm>
          <a:prstGeom prst="rect">
            <a:avLst/>
          </a:prstGeom>
          <a:noFill/>
          <a:ln>
            <a:noFill/>
          </a:ln>
        </p:spPr>
      </p:pic>
      <p:sp>
        <p:nvSpPr>
          <p:cNvPr id="172" name="Google Shape;172;h11a342068904e6d2_0_837"/>
          <p:cNvSpPr/>
          <p:nvPr/>
        </p:nvSpPr>
        <p:spPr>
          <a:xfrm>
            <a:off x="4664165" y="4179918"/>
            <a:ext cx="1914900" cy="3480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h11a342068904e6d2_0_837"/>
          <p:cNvSpPr/>
          <p:nvPr/>
        </p:nvSpPr>
        <p:spPr>
          <a:xfrm>
            <a:off x="3587475" y="3373828"/>
            <a:ext cx="1489500" cy="3480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h11a342068904e6d2_0_7" title="Screenshot from 2026-04-22 18-27-45.png"/>
          <p:cNvPicPr preferRelativeResize="0"/>
          <p:nvPr/>
        </p:nvPicPr>
        <p:blipFill>
          <a:blip r:embed="rId3">
            <a:alphaModFix/>
          </a:blip>
          <a:stretch>
            <a:fillRect/>
          </a:stretch>
        </p:blipFill>
        <p:spPr>
          <a:xfrm>
            <a:off x="1562168" y="3180258"/>
            <a:ext cx="2516881" cy="1794400"/>
          </a:xfrm>
          <a:prstGeom prst="rect">
            <a:avLst/>
          </a:prstGeom>
          <a:noFill/>
          <a:ln>
            <a:noFill/>
          </a:ln>
        </p:spPr>
      </p:pic>
      <p:sp>
        <p:nvSpPr>
          <p:cNvPr id="179" name="Google Shape;179;h11a342068904e6d2_0_7"/>
          <p:cNvSpPr/>
          <p:nvPr/>
        </p:nvSpPr>
        <p:spPr>
          <a:xfrm>
            <a:off x="3023800" y="565600"/>
            <a:ext cx="123900" cy="255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 name="Google Shape;180;h11a342068904e6d2_0_7"/>
          <p:cNvSpPr/>
          <p:nvPr/>
        </p:nvSpPr>
        <p:spPr>
          <a:xfrm>
            <a:off x="2415200" y="172525"/>
            <a:ext cx="4785900" cy="1084500"/>
          </a:xfrm>
          <a:prstGeom prst="roundRect">
            <a:avLst>
              <a:gd fmla="val 16667" name="adj"/>
            </a:avLst>
          </a:prstGeom>
          <a:solidFill>
            <a:srgbClr val="0C2D9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1" name="Google Shape;181;h11a342068904e6d2_0_7"/>
          <p:cNvSpPr/>
          <p:nvPr/>
        </p:nvSpPr>
        <p:spPr>
          <a:xfrm>
            <a:off x="5530163" y="300296"/>
            <a:ext cx="1505100" cy="8178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2" name="Google Shape;182;h11a342068904e6d2_0_7"/>
          <p:cNvPicPr preferRelativeResize="0"/>
          <p:nvPr/>
        </p:nvPicPr>
        <p:blipFill rotWithShape="1">
          <a:blip r:embed="rId4">
            <a:alphaModFix/>
          </a:blip>
          <a:srcRect b="0" l="0" r="50612" t="49882"/>
          <a:stretch/>
        </p:blipFill>
        <p:spPr>
          <a:xfrm>
            <a:off x="334174" y="3210451"/>
            <a:ext cx="1765906" cy="1577226"/>
          </a:xfrm>
          <a:prstGeom prst="rect">
            <a:avLst/>
          </a:prstGeom>
          <a:noFill/>
          <a:ln>
            <a:noFill/>
          </a:ln>
        </p:spPr>
      </p:pic>
      <p:sp>
        <p:nvSpPr>
          <p:cNvPr id="183" name="Google Shape;183;h11a342068904e6d2_0_7"/>
          <p:cNvSpPr/>
          <p:nvPr/>
        </p:nvSpPr>
        <p:spPr>
          <a:xfrm>
            <a:off x="2587725" y="300150"/>
            <a:ext cx="2297400" cy="8178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4" name="Google Shape;184;h11a342068904e6d2_0_7"/>
          <p:cNvPicPr preferRelativeResize="0"/>
          <p:nvPr/>
        </p:nvPicPr>
        <p:blipFill rotWithShape="1">
          <a:blip r:embed="rId5">
            <a:alphaModFix/>
          </a:blip>
          <a:srcRect b="6916" l="13063" r="27804" t="0"/>
          <a:stretch/>
        </p:blipFill>
        <p:spPr>
          <a:xfrm>
            <a:off x="2658005" y="322583"/>
            <a:ext cx="499300" cy="521200"/>
          </a:xfrm>
          <a:prstGeom prst="rect">
            <a:avLst/>
          </a:prstGeom>
          <a:noFill/>
          <a:ln>
            <a:noFill/>
          </a:ln>
        </p:spPr>
      </p:pic>
      <p:pic>
        <p:nvPicPr>
          <p:cNvPr id="185" name="Google Shape;185;h11a342068904e6d2_0_7"/>
          <p:cNvPicPr preferRelativeResize="0"/>
          <p:nvPr/>
        </p:nvPicPr>
        <p:blipFill rotWithShape="1">
          <a:blip r:embed="rId6">
            <a:alphaModFix/>
          </a:blip>
          <a:srcRect b="16143" l="0" r="0" t="16985"/>
          <a:stretch/>
        </p:blipFill>
        <p:spPr>
          <a:xfrm>
            <a:off x="5624330" y="474851"/>
            <a:ext cx="1320365" cy="494400"/>
          </a:xfrm>
          <a:prstGeom prst="rect">
            <a:avLst/>
          </a:prstGeom>
          <a:noFill/>
          <a:ln>
            <a:noFill/>
          </a:ln>
        </p:spPr>
      </p:pic>
      <p:sp>
        <p:nvSpPr>
          <p:cNvPr id="186" name="Google Shape;186;h11a342068904e6d2_0_7"/>
          <p:cNvSpPr txBox="1"/>
          <p:nvPr/>
        </p:nvSpPr>
        <p:spPr>
          <a:xfrm>
            <a:off x="248801" y="1425725"/>
            <a:ext cx="3239700" cy="1462800"/>
          </a:xfrm>
          <a:prstGeom prst="rect">
            <a:avLst/>
          </a:prstGeom>
          <a:noFill/>
          <a:ln>
            <a:noFill/>
          </a:ln>
        </p:spPr>
        <p:txBody>
          <a:bodyPr anchorCtr="0" anchor="t" bIns="132250" lIns="132250" spcFirstLastPara="1" rIns="132250" wrap="square" tIns="132250">
            <a:noAutofit/>
          </a:bodyPr>
          <a:lstStyle/>
          <a:p>
            <a:pPr indent="0" lvl="0" marL="0" marR="0" rtl="0" algn="ctr">
              <a:lnSpc>
                <a:spcPct val="100000"/>
              </a:lnSpc>
              <a:spcBef>
                <a:spcPts val="0"/>
              </a:spcBef>
              <a:spcAft>
                <a:spcPts val="0"/>
              </a:spcAft>
              <a:buClr>
                <a:srgbClr val="000000"/>
              </a:buClr>
              <a:buSzPts val="1592"/>
              <a:buFont typeface="Arial"/>
              <a:buNone/>
            </a:pPr>
            <a:r>
              <a:rPr lang="en-US" sz="1626">
                <a:solidFill>
                  <a:srgbClr val="0C2D9A"/>
                </a:solidFill>
                <a:latin typeface="Helvetica Neue Light"/>
                <a:ea typeface="Helvetica Neue Light"/>
                <a:cs typeface="Helvetica Neue Light"/>
                <a:sym typeface="Helvetica Neue Light"/>
              </a:rPr>
              <a:t>Molecular epidemiology and phylodynamic</a:t>
            </a:r>
            <a:endParaRPr b="0" i="0" sz="1626" u="none" cap="none" strike="noStrike">
              <a:solidFill>
                <a:srgbClr val="0C2D9A"/>
              </a:solidFill>
              <a:latin typeface="Helvetica Neue Light"/>
              <a:ea typeface="Helvetica Neue Light"/>
              <a:cs typeface="Helvetica Neue Light"/>
              <a:sym typeface="Helvetica Neue Light"/>
            </a:endParaRPr>
          </a:p>
          <a:p>
            <a:pPr indent="0" lvl="0" marL="0" marR="0" rtl="0" algn="ctr">
              <a:lnSpc>
                <a:spcPct val="100000"/>
              </a:lnSpc>
              <a:spcBef>
                <a:spcPts val="0"/>
              </a:spcBef>
              <a:spcAft>
                <a:spcPts val="0"/>
              </a:spcAft>
              <a:buClr>
                <a:srgbClr val="000000"/>
              </a:buClr>
              <a:buSzPts val="1592"/>
              <a:buFont typeface="Arial"/>
              <a:buNone/>
            </a:pPr>
            <a:r>
              <a:t/>
            </a:r>
            <a:endParaRPr sz="1626">
              <a:solidFill>
                <a:srgbClr val="0C2D9A"/>
              </a:solidFill>
              <a:latin typeface="Helvetica Neue Light"/>
              <a:ea typeface="Helvetica Neue Light"/>
              <a:cs typeface="Helvetica Neue Light"/>
              <a:sym typeface="Helvetica Neue Light"/>
            </a:endParaRPr>
          </a:p>
          <a:p>
            <a:pPr indent="0" lvl="0" marL="0" marR="0" rtl="0" algn="ctr">
              <a:lnSpc>
                <a:spcPct val="100000"/>
              </a:lnSpc>
              <a:spcBef>
                <a:spcPts val="0"/>
              </a:spcBef>
              <a:spcAft>
                <a:spcPts val="0"/>
              </a:spcAft>
              <a:buClr>
                <a:srgbClr val="000000"/>
              </a:buClr>
              <a:buSzPts val="1592"/>
              <a:buFont typeface="Arial"/>
              <a:buNone/>
            </a:pPr>
            <a:r>
              <a:t/>
            </a:r>
            <a:endParaRPr sz="1626">
              <a:solidFill>
                <a:srgbClr val="0C2D9A"/>
              </a:solidFill>
              <a:latin typeface="Helvetica Neue Light"/>
              <a:ea typeface="Helvetica Neue Light"/>
              <a:cs typeface="Helvetica Neue Light"/>
              <a:sym typeface="Helvetica Neue Light"/>
            </a:endParaRPr>
          </a:p>
          <a:p>
            <a:pPr indent="0" lvl="0" marL="0" marR="0" rtl="0" algn="ctr">
              <a:lnSpc>
                <a:spcPct val="100000"/>
              </a:lnSpc>
              <a:spcBef>
                <a:spcPts val="0"/>
              </a:spcBef>
              <a:spcAft>
                <a:spcPts val="0"/>
              </a:spcAft>
              <a:buClr>
                <a:srgbClr val="000000"/>
              </a:buClr>
              <a:buSzPts val="1592"/>
              <a:buFont typeface="Arial"/>
              <a:buNone/>
            </a:pPr>
            <a:r>
              <a:rPr b="1" lang="en-US" sz="1626">
                <a:solidFill>
                  <a:srgbClr val="0C2D9A"/>
                </a:solidFill>
                <a:latin typeface="Helvetica Neue"/>
                <a:ea typeface="Helvetica Neue"/>
                <a:cs typeface="Helvetica Neue"/>
                <a:sym typeface="Helvetica Neue"/>
              </a:rPr>
              <a:t>Transmission dynamics, contributing factors,...</a:t>
            </a:r>
            <a:endParaRPr b="1" sz="1626">
              <a:solidFill>
                <a:srgbClr val="0C2D9A"/>
              </a:solidFill>
              <a:latin typeface="Helvetica Neue"/>
              <a:ea typeface="Helvetica Neue"/>
              <a:cs typeface="Helvetica Neue"/>
              <a:sym typeface="Helvetica Neue"/>
            </a:endParaRPr>
          </a:p>
        </p:txBody>
      </p:sp>
      <p:sp>
        <p:nvSpPr>
          <p:cNvPr id="187" name="Google Shape;187;h11a342068904e6d2_0_7"/>
          <p:cNvSpPr txBox="1"/>
          <p:nvPr/>
        </p:nvSpPr>
        <p:spPr>
          <a:xfrm>
            <a:off x="5740298" y="1425725"/>
            <a:ext cx="2740500" cy="494400"/>
          </a:xfrm>
          <a:prstGeom prst="rect">
            <a:avLst/>
          </a:prstGeom>
          <a:noFill/>
          <a:ln>
            <a:noFill/>
          </a:ln>
        </p:spPr>
        <p:txBody>
          <a:bodyPr anchorCtr="0" anchor="t" bIns="132250" lIns="132250" spcFirstLastPara="1" rIns="132250" wrap="square" tIns="132250">
            <a:noAutofit/>
          </a:bodyPr>
          <a:lstStyle/>
          <a:p>
            <a:pPr indent="0" lvl="0" marL="0" marR="0" rtl="0" algn="ctr">
              <a:lnSpc>
                <a:spcPct val="100000"/>
              </a:lnSpc>
              <a:spcBef>
                <a:spcPts val="0"/>
              </a:spcBef>
              <a:spcAft>
                <a:spcPts val="0"/>
              </a:spcAft>
              <a:buClr>
                <a:srgbClr val="000000"/>
              </a:buClr>
              <a:buSzPts val="1592"/>
              <a:buFont typeface="Arial"/>
              <a:buNone/>
            </a:pPr>
            <a:r>
              <a:rPr lang="en-US" sz="1626">
                <a:solidFill>
                  <a:srgbClr val="0C2D9A"/>
                </a:solidFill>
                <a:latin typeface="Helvetica Neue Light"/>
                <a:ea typeface="Helvetica Neue Light"/>
                <a:cs typeface="Helvetica Neue Light"/>
                <a:sym typeface="Helvetica Neue Light"/>
              </a:rPr>
              <a:t>Functional evolution</a:t>
            </a:r>
            <a:endParaRPr sz="1626">
              <a:solidFill>
                <a:srgbClr val="0C2D9A"/>
              </a:solidFill>
              <a:latin typeface="Helvetica Neue Light"/>
              <a:ea typeface="Helvetica Neue Light"/>
              <a:cs typeface="Helvetica Neue Light"/>
              <a:sym typeface="Helvetica Neue Light"/>
            </a:endParaRPr>
          </a:p>
          <a:p>
            <a:pPr indent="0" lvl="0" marL="0" rtl="0" algn="ctr">
              <a:spcBef>
                <a:spcPts val="0"/>
              </a:spcBef>
              <a:spcAft>
                <a:spcPts val="0"/>
              </a:spcAft>
              <a:buClr>
                <a:schemeClr val="dk1"/>
              </a:buClr>
              <a:buSzPts val="1592"/>
              <a:buFont typeface="Arial"/>
              <a:buNone/>
            </a:pPr>
            <a:r>
              <a:t/>
            </a:r>
            <a:endParaRPr sz="1626">
              <a:solidFill>
                <a:srgbClr val="0C2D9A"/>
              </a:solidFill>
              <a:latin typeface="Helvetica Neue Light"/>
              <a:ea typeface="Helvetica Neue Light"/>
              <a:cs typeface="Helvetica Neue Light"/>
              <a:sym typeface="Helvetica Neue Light"/>
            </a:endParaRPr>
          </a:p>
          <a:p>
            <a:pPr indent="0" lvl="0" marL="0" rtl="0" algn="ctr">
              <a:spcBef>
                <a:spcPts val="0"/>
              </a:spcBef>
              <a:spcAft>
                <a:spcPts val="0"/>
              </a:spcAft>
              <a:buClr>
                <a:schemeClr val="dk1"/>
              </a:buClr>
              <a:buSzPts val="1592"/>
              <a:buFont typeface="Arial"/>
              <a:buNone/>
            </a:pPr>
            <a:r>
              <a:t/>
            </a:r>
            <a:endParaRPr sz="1626">
              <a:solidFill>
                <a:srgbClr val="0C2D9A"/>
              </a:solidFill>
              <a:latin typeface="Helvetica Neue Light"/>
              <a:ea typeface="Helvetica Neue Light"/>
              <a:cs typeface="Helvetica Neue Light"/>
              <a:sym typeface="Helvetica Neue Light"/>
            </a:endParaRPr>
          </a:p>
          <a:p>
            <a:pPr indent="0" lvl="0" marL="0" rtl="0" algn="ctr">
              <a:spcBef>
                <a:spcPts val="0"/>
              </a:spcBef>
              <a:spcAft>
                <a:spcPts val="0"/>
              </a:spcAft>
              <a:buClr>
                <a:schemeClr val="dk1"/>
              </a:buClr>
              <a:buSzPts val="1592"/>
              <a:buFont typeface="Arial"/>
              <a:buNone/>
            </a:pPr>
            <a:r>
              <a:rPr b="1" lang="en-US" sz="1626">
                <a:solidFill>
                  <a:srgbClr val="0C2D9A"/>
                </a:solidFill>
                <a:latin typeface="Helvetica Neue"/>
                <a:ea typeface="Helvetica Neue"/>
                <a:cs typeface="Helvetica Neue"/>
                <a:sym typeface="Helvetica Neue"/>
              </a:rPr>
              <a:t>Emergence of phenotypes of interest…</a:t>
            </a:r>
            <a:endParaRPr b="1" sz="1626">
              <a:solidFill>
                <a:srgbClr val="0C2D9A"/>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592"/>
              <a:buFont typeface="Arial"/>
              <a:buNone/>
            </a:pPr>
            <a:r>
              <a:t/>
            </a:r>
            <a:endParaRPr sz="1626">
              <a:solidFill>
                <a:srgbClr val="0C2D9A"/>
              </a:solidFill>
              <a:latin typeface="Helvetica Neue Light"/>
              <a:ea typeface="Helvetica Neue Light"/>
              <a:cs typeface="Helvetica Neue Light"/>
              <a:sym typeface="Helvetica Neue Light"/>
            </a:endParaRPr>
          </a:p>
        </p:txBody>
      </p:sp>
      <p:cxnSp>
        <p:nvCxnSpPr>
          <p:cNvPr id="188" name="Google Shape;188;h11a342068904e6d2_0_7"/>
          <p:cNvCxnSpPr/>
          <p:nvPr/>
        </p:nvCxnSpPr>
        <p:spPr>
          <a:xfrm>
            <a:off x="1825588" y="2121751"/>
            <a:ext cx="1200" cy="381600"/>
          </a:xfrm>
          <a:prstGeom prst="straightConnector1">
            <a:avLst/>
          </a:prstGeom>
          <a:noFill/>
          <a:ln cap="flat" cmpd="sng" w="28575">
            <a:solidFill>
              <a:schemeClr val="dk2"/>
            </a:solidFill>
            <a:prstDash val="solid"/>
            <a:round/>
            <a:headEnd len="med" w="med" type="none"/>
            <a:tailEnd len="med" w="med" type="triangle"/>
          </a:ln>
        </p:spPr>
      </p:cxnSp>
      <p:cxnSp>
        <p:nvCxnSpPr>
          <p:cNvPr id="189" name="Google Shape;189;h11a342068904e6d2_0_7"/>
          <p:cNvCxnSpPr/>
          <p:nvPr/>
        </p:nvCxnSpPr>
        <p:spPr>
          <a:xfrm>
            <a:off x="7107495" y="1875740"/>
            <a:ext cx="1200" cy="381600"/>
          </a:xfrm>
          <a:prstGeom prst="straightConnector1">
            <a:avLst/>
          </a:prstGeom>
          <a:noFill/>
          <a:ln cap="flat" cmpd="sng" w="28575">
            <a:solidFill>
              <a:schemeClr val="dk2"/>
            </a:solidFill>
            <a:prstDash val="solid"/>
            <a:round/>
            <a:headEnd len="med" w="med" type="none"/>
            <a:tailEnd len="med" w="med" type="triangle"/>
          </a:ln>
        </p:spPr>
      </p:cxnSp>
      <p:pic>
        <p:nvPicPr>
          <p:cNvPr id="190" name="Google Shape;190;h11a342068904e6d2_0_7"/>
          <p:cNvPicPr preferRelativeResize="0"/>
          <p:nvPr/>
        </p:nvPicPr>
        <p:blipFill rotWithShape="1">
          <a:blip r:embed="rId7">
            <a:alphaModFix/>
          </a:blip>
          <a:srcRect b="0" l="54044" r="0" t="0"/>
          <a:stretch/>
        </p:blipFill>
        <p:spPr>
          <a:xfrm>
            <a:off x="7184890" y="3210451"/>
            <a:ext cx="1600350" cy="1336675"/>
          </a:xfrm>
          <a:prstGeom prst="rect">
            <a:avLst/>
          </a:prstGeom>
          <a:noFill/>
          <a:ln>
            <a:noFill/>
          </a:ln>
        </p:spPr>
      </p:pic>
      <p:pic>
        <p:nvPicPr>
          <p:cNvPr id="191" name="Google Shape;191;h11a342068904e6d2_0_7"/>
          <p:cNvPicPr preferRelativeResize="0"/>
          <p:nvPr/>
        </p:nvPicPr>
        <p:blipFill rotWithShape="1">
          <a:blip r:embed="rId8">
            <a:alphaModFix/>
          </a:blip>
          <a:srcRect b="0" l="0" r="26697" t="0"/>
          <a:stretch/>
        </p:blipFill>
        <p:spPr>
          <a:xfrm>
            <a:off x="4714663" y="2969901"/>
            <a:ext cx="2348326" cy="1924476"/>
          </a:xfrm>
          <a:prstGeom prst="rect">
            <a:avLst/>
          </a:prstGeom>
          <a:noFill/>
          <a:ln>
            <a:noFill/>
          </a:ln>
        </p:spPr>
      </p:pic>
      <p:cxnSp>
        <p:nvCxnSpPr>
          <p:cNvPr id="192" name="Google Shape;192;h11a342068904e6d2_0_7"/>
          <p:cNvCxnSpPr>
            <a:stCxn id="183" idx="3"/>
            <a:endCxn id="181" idx="1"/>
          </p:cNvCxnSpPr>
          <p:nvPr/>
        </p:nvCxnSpPr>
        <p:spPr>
          <a:xfrm>
            <a:off x="4885125" y="709050"/>
            <a:ext cx="645000" cy="0"/>
          </a:xfrm>
          <a:prstGeom prst="straightConnector1">
            <a:avLst/>
          </a:prstGeom>
          <a:noFill/>
          <a:ln cap="flat" cmpd="sng" w="28575">
            <a:solidFill>
              <a:schemeClr val="lt1"/>
            </a:solidFill>
            <a:prstDash val="solid"/>
            <a:round/>
            <a:headEnd len="med" w="med" type="none"/>
            <a:tailEnd len="med" w="med" type="none"/>
          </a:ln>
        </p:spPr>
      </p:cxnSp>
      <p:sp>
        <p:nvSpPr>
          <p:cNvPr id="193" name="Google Shape;193;h11a342068904e6d2_0_7"/>
          <p:cNvSpPr txBox="1"/>
          <p:nvPr/>
        </p:nvSpPr>
        <p:spPr>
          <a:xfrm>
            <a:off x="3086325" y="498741"/>
            <a:ext cx="1600500" cy="3816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500">
                <a:solidFill>
                  <a:srgbClr val="0C2D9A"/>
                </a:solidFill>
                <a:latin typeface="Helvetica Neue"/>
                <a:ea typeface="Helvetica Neue"/>
                <a:cs typeface="Helvetica Neue"/>
                <a:sym typeface="Helvetica Neue"/>
              </a:rPr>
              <a:t>Evolution virale et génomique </a:t>
            </a:r>
            <a:endParaRPr sz="1500">
              <a:solidFill>
                <a:srgbClr val="0C2D9A"/>
              </a:solidFill>
              <a:latin typeface="Helvetica Neue"/>
              <a:ea typeface="Helvetica Neue"/>
              <a:cs typeface="Helvetica Neue"/>
              <a:sym typeface="Helvetica Neue"/>
            </a:endParaRPr>
          </a:p>
        </p:txBody>
      </p:sp>
      <p:pic>
        <p:nvPicPr>
          <p:cNvPr id="194" name="Google Shape;194;h11a342068904e6d2_0_7"/>
          <p:cNvPicPr preferRelativeResize="0"/>
          <p:nvPr/>
        </p:nvPicPr>
        <p:blipFill rotWithShape="1">
          <a:blip r:embed="rId9">
            <a:alphaModFix/>
          </a:blip>
          <a:srcRect b="0" l="17905" r="0" t="0"/>
          <a:stretch/>
        </p:blipFill>
        <p:spPr>
          <a:xfrm>
            <a:off x="4479001" y="204425"/>
            <a:ext cx="1258750" cy="381600"/>
          </a:xfrm>
          <a:prstGeom prst="rect">
            <a:avLst/>
          </a:prstGeom>
          <a:noFill/>
          <a:ln>
            <a:noFill/>
          </a:ln>
        </p:spPr>
      </p:pic>
      <p:pic>
        <p:nvPicPr>
          <p:cNvPr id="195" name="Google Shape;195;h11a342068904e6d2_0_7"/>
          <p:cNvPicPr preferRelativeResize="0"/>
          <p:nvPr/>
        </p:nvPicPr>
        <p:blipFill rotWithShape="1">
          <a:blip r:embed="rId10">
            <a:alphaModFix/>
          </a:blip>
          <a:srcRect b="5984" l="26358" r="20014" t="6665"/>
          <a:stretch/>
        </p:blipFill>
        <p:spPr>
          <a:xfrm rot="2217759">
            <a:off x="2974739" y="551225"/>
            <a:ext cx="138772" cy="299550"/>
          </a:xfrm>
          <a:prstGeom prst="rect">
            <a:avLst/>
          </a:prstGeom>
          <a:noFill/>
          <a:ln>
            <a:noFill/>
          </a:ln>
        </p:spPr>
      </p:pic>
      <p:pic>
        <p:nvPicPr>
          <p:cNvPr id="196" name="Google Shape;196;h11a342068904e6d2_0_7"/>
          <p:cNvPicPr preferRelativeResize="0"/>
          <p:nvPr/>
        </p:nvPicPr>
        <p:blipFill rotWithShape="1">
          <a:blip r:embed="rId11">
            <a:alphaModFix/>
          </a:blip>
          <a:srcRect b="0" l="0" r="0" t="47330"/>
          <a:stretch/>
        </p:blipFill>
        <p:spPr>
          <a:xfrm>
            <a:off x="7383950" y="126349"/>
            <a:ext cx="1600350" cy="842901"/>
          </a:xfrm>
          <a:prstGeom prst="rect">
            <a:avLst/>
          </a:prstGeom>
          <a:noFill/>
          <a:ln>
            <a:noFill/>
          </a:ln>
        </p:spPr>
      </p:pic>
      <p:pic>
        <p:nvPicPr>
          <p:cNvPr id="197" name="Google Shape;197;h11a342068904e6d2_0_7"/>
          <p:cNvPicPr preferRelativeResize="0"/>
          <p:nvPr/>
        </p:nvPicPr>
        <p:blipFill>
          <a:blip r:embed="rId12">
            <a:alphaModFix/>
          </a:blip>
          <a:stretch>
            <a:fillRect/>
          </a:stretch>
        </p:blipFill>
        <p:spPr>
          <a:xfrm>
            <a:off x="8429825" y="810884"/>
            <a:ext cx="554466" cy="521200"/>
          </a:xfrm>
          <a:prstGeom prst="rect">
            <a:avLst/>
          </a:prstGeom>
          <a:noFill/>
          <a:ln>
            <a:noFill/>
          </a:ln>
        </p:spPr>
      </p:pic>
      <p:pic>
        <p:nvPicPr>
          <p:cNvPr id="198" name="Google Shape;198;h11a342068904e6d2_0_7"/>
          <p:cNvPicPr preferRelativeResize="0"/>
          <p:nvPr/>
        </p:nvPicPr>
        <p:blipFill>
          <a:blip r:embed="rId13">
            <a:alphaModFix/>
          </a:blip>
          <a:stretch>
            <a:fillRect/>
          </a:stretch>
        </p:blipFill>
        <p:spPr>
          <a:xfrm>
            <a:off x="7856523" y="821825"/>
            <a:ext cx="499300" cy="499321"/>
          </a:xfrm>
          <a:prstGeom prst="rect">
            <a:avLst/>
          </a:prstGeom>
          <a:noFill/>
          <a:ln>
            <a:noFill/>
          </a:ln>
        </p:spPr>
      </p:pic>
      <p:pic>
        <p:nvPicPr>
          <p:cNvPr id="199" name="Google Shape;199;h11a342068904e6d2_0_7"/>
          <p:cNvPicPr preferRelativeResize="0"/>
          <p:nvPr/>
        </p:nvPicPr>
        <p:blipFill rotWithShape="1">
          <a:blip r:embed="rId14">
            <a:alphaModFix/>
          </a:blip>
          <a:srcRect b="0" l="0" r="0" t="21073"/>
          <a:stretch/>
        </p:blipFill>
        <p:spPr>
          <a:xfrm>
            <a:off x="7287786" y="817525"/>
            <a:ext cx="482063" cy="494400"/>
          </a:xfrm>
          <a:prstGeom prst="rect">
            <a:avLst/>
          </a:prstGeom>
          <a:noFill/>
          <a:ln>
            <a:noFill/>
          </a:ln>
        </p:spPr>
      </p:pic>
      <p:pic>
        <p:nvPicPr>
          <p:cNvPr id="200" name="Google Shape;200;h11a342068904e6d2_0_7"/>
          <p:cNvPicPr preferRelativeResize="0"/>
          <p:nvPr/>
        </p:nvPicPr>
        <p:blipFill>
          <a:blip r:embed="rId15">
            <a:alphaModFix/>
          </a:blip>
          <a:stretch>
            <a:fillRect/>
          </a:stretch>
        </p:blipFill>
        <p:spPr>
          <a:xfrm>
            <a:off x="146225" y="172525"/>
            <a:ext cx="645000" cy="645000"/>
          </a:xfrm>
          <a:prstGeom prst="rect">
            <a:avLst/>
          </a:prstGeom>
          <a:noFill/>
          <a:ln>
            <a:noFill/>
          </a:ln>
        </p:spPr>
      </p:pic>
      <p:pic>
        <p:nvPicPr>
          <p:cNvPr id="201" name="Google Shape;201;h11a342068904e6d2_0_7"/>
          <p:cNvPicPr preferRelativeResize="0"/>
          <p:nvPr/>
        </p:nvPicPr>
        <p:blipFill rotWithShape="1">
          <a:blip r:embed="rId16">
            <a:alphaModFix/>
          </a:blip>
          <a:srcRect b="34779" l="40171" r="17601" t="7621"/>
          <a:stretch/>
        </p:blipFill>
        <p:spPr>
          <a:xfrm>
            <a:off x="862575" y="204425"/>
            <a:ext cx="663132" cy="521201"/>
          </a:xfrm>
          <a:prstGeom prst="rect">
            <a:avLst/>
          </a:prstGeom>
          <a:noFill/>
          <a:ln>
            <a:noFill/>
          </a:ln>
        </p:spPr>
      </p:pic>
      <p:pic>
        <p:nvPicPr>
          <p:cNvPr id="202" name="Google Shape;202;h11a342068904e6d2_0_7"/>
          <p:cNvPicPr preferRelativeResize="0"/>
          <p:nvPr/>
        </p:nvPicPr>
        <p:blipFill rotWithShape="1">
          <a:blip r:embed="rId17">
            <a:alphaModFix/>
          </a:blip>
          <a:srcRect b="0" l="29770" r="0" t="22112"/>
          <a:stretch/>
        </p:blipFill>
        <p:spPr>
          <a:xfrm>
            <a:off x="1601749" y="204425"/>
            <a:ext cx="737403" cy="817800"/>
          </a:xfrm>
          <a:prstGeom prst="rect">
            <a:avLst/>
          </a:prstGeom>
          <a:noFill/>
          <a:ln>
            <a:noFill/>
          </a:ln>
        </p:spPr>
      </p:pic>
      <p:sp>
        <p:nvSpPr>
          <p:cNvPr id="203" name="Google Shape;203;h11a342068904e6d2_0_7"/>
          <p:cNvSpPr txBox="1"/>
          <p:nvPr/>
        </p:nvSpPr>
        <p:spPr>
          <a:xfrm>
            <a:off x="148607" y="765963"/>
            <a:ext cx="971100" cy="255600"/>
          </a:xfrm>
          <a:prstGeom prst="rect">
            <a:avLst/>
          </a:prstGeom>
          <a:noFill/>
          <a:ln>
            <a:noFill/>
          </a:ln>
        </p:spPr>
        <p:txBody>
          <a:bodyPr anchorCtr="0" anchor="t" bIns="91425" lIns="91425" spcFirstLastPara="1" rIns="91425" wrap="square" tIns="91425">
            <a:noAutofit/>
          </a:bodyPr>
          <a:lstStyle/>
          <a:p>
            <a:pPr indent="-57150" lvl="0" marL="0" rtl="0" algn="l">
              <a:spcBef>
                <a:spcPts val="0"/>
              </a:spcBef>
              <a:spcAft>
                <a:spcPts val="0"/>
              </a:spcAft>
              <a:buClr>
                <a:schemeClr val="dk2"/>
              </a:buClr>
              <a:buSzPts val="900"/>
              <a:buFont typeface="Helvetica Neue Light"/>
              <a:buAutoNum type="alphaUcPeriod"/>
            </a:pPr>
            <a:r>
              <a:rPr lang="en-US" sz="900">
                <a:solidFill>
                  <a:schemeClr val="dk2"/>
                </a:solidFill>
                <a:latin typeface="Helvetica Neue Light"/>
                <a:ea typeface="Helvetica Neue Light"/>
                <a:cs typeface="Helvetica Neue Light"/>
                <a:sym typeface="Helvetica Neue Light"/>
              </a:rPr>
              <a:t>Fontaine</a:t>
            </a:r>
            <a:endParaRPr sz="900">
              <a:solidFill>
                <a:schemeClr val="dk2"/>
              </a:solidFill>
              <a:latin typeface="Helvetica Neue Light"/>
              <a:ea typeface="Helvetica Neue Light"/>
              <a:cs typeface="Helvetica Neue Light"/>
              <a:sym typeface="Helvetica Neue Light"/>
            </a:endParaRPr>
          </a:p>
        </p:txBody>
      </p:sp>
      <p:sp>
        <p:nvSpPr>
          <p:cNvPr id="204" name="Google Shape;204;h11a342068904e6d2_0_7"/>
          <p:cNvSpPr txBox="1"/>
          <p:nvPr/>
        </p:nvSpPr>
        <p:spPr>
          <a:xfrm>
            <a:off x="759104" y="657667"/>
            <a:ext cx="971100" cy="2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00">
                <a:solidFill>
                  <a:schemeClr val="dk2"/>
                </a:solidFill>
                <a:latin typeface="Helvetica Neue Light"/>
                <a:ea typeface="Helvetica Neue Light"/>
                <a:cs typeface="Helvetica Neue Light"/>
                <a:sym typeface="Helvetica Neue Light"/>
              </a:rPr>
              <a:t>G. Piorkowski</a:t>
            </a:r>
            <a:endParaRPr sz="900">
              <a:solidFill>
                <a:schemeClr val="dk2"/>
              </a:solidFill>
              <a:latin typeface="Helvetica Neue Light"/>
              <a:ea typeface="Helvetica Neue Light"/>
              <a:cs typeface="Helvetica Neue Light"/>
              <a:sym typeface="Helvetica Neue Light"/>
            </a:endParaRPr>
          </a:p>
        </p:txBody>
      </p:sp>
      <p:sp>
        <p:nvSpPr>
          <p:cNvPr id="205" name="Google Shape;205;h11a342068904e6d2_0_7"/>
          <p:cNvSpPr txBox="1"/>
          <p:nvPr/>
        </p:nvSpPr>
        <p:spPr>
          <a:xfrm>
            <a:off x="1521028" y="953628"/>
            <a:ext cx="971100" cy="2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00">
                <a:solidFill>
                  <a:schemeClr val="dk2"/>
                </a:solidFill>
                <a:latin typeface="Helvetica Neue Light"/>
                <a:ea typeface="Helvetica Neue Light"/>
                <a:cs typeface="Helvetica Neue Light"/>
                <a:sym typeface="Helvetica Neue Light"/>
              </a:rPr>
              <a:t>F. Touret</a:t>
            </a:r>
            <a:endParaRPr sz="900">
              <a:solidFill>
                <a:schemeClr val="dk2"/>
              </a:solidFill>
              <a:latin typeface="Helvetica Neue Light"/>
              <a:ea typeface="Helvetica Neue Light"/>
              <a:cs typeface="Helvetica Neue Light"/>
              <a:sym typeface="Helvetica Neue Light"/>
            </a:endParaRPr>
          </a:p>
        </p:txBody>
      </p:sp>
      <p:sp>
        <p:nvSpPr>
          <p:cNvPr id="206" name="Google Shape;206;h11a342068904e6d2_0_7"/>
          <p:cNvSpPr txBox="1"/>
          <p:nvPr/>
        </p:nvSpPr>
        <p:spPr>
          <a:xfrm>
            <a:off x="7635303" y="1288047"/>
            <a:ext cx="1112400" cy="31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a:solidFill>
                  <a:schemeClr val="dk2"/>
                </a:solidFill>
                <a:latin typeface="Helvetica Neue Light"/>
                <a:ea typeface="Helvetica Neue Light"/>
                <a:cs typeface="Helvetica Neue Light"/>
                <a:sym typeface="Helvetica Neue Light"/>
              </a:rPr>
              <a:t>CNR Arbovirus</a:t>
            </a:r>
            <a:endParaRPr sz="1000">
              <a:solidFill>
                <a:schemeClr val="dk2"/>
              </a:solidFill>
              <a:latin typeface="Helvetica Neue Light"/>
              <a:ea typeface="Helvetica Neue Light"/>
              <a:cs typeface="Helvetica Neue Light"/>
              <a:sym typeface="Helvetica Neue Light"/>
            </a:endParaRPr>
          </a:p>
        </p:txBody>
      </p:sp>
      <p:pic>
        <p:nvPicPr>
          <p:cNvPr id="207" name="Google Shape;207;h11a342068904e6d2_0_7"/>
          <p:cNvPicPr preferRelativeResize="0"/>
          <p:nvPr/>
        </p:nvPicPr>
        <p:blipFill rotWithShape="1">
          <a:blip r:embed="rId14">
            <a:alphaModFix/>
          </a:blip>
          <a:srcRect b="0" l="0" r="0" t="21073"/>
          <a:stretch/>
        </p:blipFill>
        <p:spPr>
          <a:xfrm>
            <a:off x="866902" y="940930"/>
            <a:ext cx="482063" cy="494400"/>
          </a:xfrm>
          <a:prstGeom prst="rect">
            <a:avLst/>
          </a:prstGeom>
          <a:noFill/>
          <a:ln>
            <a:noFill/>
          </a:ln>
        </p:spPr>
      </p:pic>
      <p:sp>
        <p:nvSpPr>
          <p:cNvPr id="208" name="Google Shape;208;h11a342068904e6d2_0_7"/>
          <p:cNvSpPr txBox="1"/>
          <p:nvPr/>
        </p:nvSpPr>
        <p:spPr>
          <a:xfrm>
            <a:off x="1303957" y="1211266"/>
            <a:ext cx="1151400" cy="2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900">
                <a:solidFill>
                  <a:schemeClr val="dk2"/>
                </a:solidFill>
                <a:latin typeface="Helvetica Neue Light"/>
                <a:ea typeface="Helvetica Neue Light"/>
                <a:cs typeface="Helvetica Neue Light"/>
                <a:sym typeface="Helvetica Neue Light"/>
              </a:rPr>
              <a:t>X de Lamballerie</a:t>
            </a:r>
            <a:endParaRPr sz="900">
              <a:solidFill>
                <a:schemeClr val="dk2"/>
              </a:solidFill>
              <a:latin typeface="Helvetica Neue Light"/>
              <a:ea typeface="Helvetica Neue Light"/>
              <a:cs typeface="Helvetica Neue Light"/>
              <a:sym typeface="Helvetica Neue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h11a342068904e6d2_0_138"/>
          <p:cNvSpPr txBox="1"/>
          <p:nvPr/>
        </p:nvSpPr>
        <p:spPr>
          <a:xfrm>
            <a:off x="5297876" y="3561946"/>
            <a:ext cx="28830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600" u="sng">
                <a:latin typeface="Helvetica Neue Light"/>
                <a:ea typeface="Helvetica Neue Light"/>
                <a:cs typeface="Helvetica Neue Light"/>
                <a:sym typeface="Helvetica Neue Light"/>
              </a:rPr>
              <a:t>infection</a:t>
            </a:r>
            <a:r>
              <a:rPr lang="en-US" sz="1600">
                <a:latin typeface="Helvetica Neue Light"/>
                <a:ea typeface="Helvetica Neue Light"/>
                <a:cs typeface="Helvetica Neue Light"/>
                <a:sym typeface="Helvetica Neue Light"/>
              </a:rPr>
              <a:t> transmitted from</a:t>
            </a:r>
            <a:r>
              <a:rPr lang="en-US" sz="1600" u="sng">
                <a:latin typeface="Helvetica Neue Light"/>
                <a:ea typeface="Helvetica Neue Light"/>
                <a:cs typeface="Helvetica Neue Light"/>
                <a:sym typeface="Helvetica Neue Light"/>
              </a:rPr>
              <a:t> animals</a:t>
            </a:r>
            <a:r>
              <a:rPr lang="en-US" sz="1600">
                <a:latin typeface="Helvetica Neue Light"/>
                <a:ea typeface="Helvetica Neue Light"/>
                <a:cs typeface="Helvetica Neue Light"/>
                <a:sym typeface="Helvetica Neue Light"/>
              </a:rPr>
              <a:t> to humans</a:t>
            </a:r>
            <a:endParaRPr sz="1600" u="sng">
              <a:latin typeface="Helvetica Neue Light"/>
              <a:ea typeface="Helvetica Neue Light"/>
              <a:cs typeface="Helvetica Neue Light"/>
              <a:sym typeface="Helvetica Neue Light"/>
            </a:endParaRPr>
          </a:p>
        </p:txBody>
      </p:sp>
      <p:pic>
        <p:nvPicPr>
          <p:cNvPr id="214" name="Google Shape;214;h11a342068904e6d2_0_138" title="Screenshot from 2026-03-03 11-43-57.png"/>
          <p:cNvPicPr preferRelativeResize="0"/>
          <p:nvPr/>
        </p:nvPicPr>
        <p:blipFill>
          <a:blip r:embed="rId3">
            <a:alphaModFix/>
          </a:blip>
          <a:stretch>
            <a:fillRect/>
          </a:stretch>
        </p:blipFill>
        <p:spPr>
          <a:xfrm>
            <a:off x="5406150" y="1492442"/>
            <a:ext cx="2666450" cy="1671825"/>
          </a:xfrm>
          <a:prstGeom prst="rect">
            <a:avLst/>
          </a:prstGeom>
          <a:noFill/>
          <a:ln>
            <a:noFill/>
          </a:ln>
        </p:spPr>
      </p:pic>
      <p:sp>
        <p:nvSpPr>
          <p:cNvPr id="215" name="Google Shape;215;h11a342068904e6d2_0_138"/>
          <p:cNvSpPr txBox="1"/>
          <p:nvPr/>
        </p:nvSpPr>
        <p:spPr>
          <a:xfrm>
            <a:off x="695741" y="3568972"/>
            <a:ext cx="30594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600">
                <a:solidFill>
                  <a:srgbClr val="000000"/>
                </a:solidFill>
                <a:latin typeface="Helvetica Neue Light"/>
                <a:ea typeface="Helvetica Neue Light"/>
                <a:cs typeface="Helvetica Neue Light"/>
                <a:sym typeface="Helvetica Neue Light"/>
              </a:rPr>
              <a:t>Viruses transmi</a:t>
            </a:r>
            <a:r>
              <a:rPr lang="en-US" sz="1600">
                <a:latin typeface="Helvetica Neue Light"/>
                <a:ea typeface="Helvetica Neue Light"/>
                <a:cs typeface="Helvetica Neue Light"/>
                <a:sym typeface="Helvetica Neue Light"/>
              </a:rPr>
              <a:t>tted</a:t>
            </a:r>
            <a:r>
              <a:rPr lang="en-US" sz="1600">
                <a:solidFill>
                  <a:srgbClr val="000000"/>
                </a:solidFill>
                <a:latin typeface="Helvetica Neue Light"/>
                <a:ea typeface="Helvetica Neue Light"/>
                <a:cs typeface="Helvetica Neue Light"/>
                <a:sym typeface="Helvetica Neue Light"/>
              </a:rPr>
              <a:t> </a:t>
            </a:r>
            <a:r>
              <a:rPr lang="en-US" sz="1600">
                <a:latin typeface="Helvetica Neue Light"/>
                <a:ea typeface="Helvetica Neue Light"/>
                <a:cs typeface="Helvetica Neue Light"/>
                <a:sym typeface="Helvetica Neue Light"/>
              </a:rPr>
              <a:t>to</a:t>
            </a:r>
            <a:r>
              <a:rPr lang="en-US" sz="1600">
                <a:solidFill>
                  <a:srgbClr val="000000"/>
                </a:solidFill>
                <a:latin typeface="Helvetica Neue Light"/>
                <a:ea typeface="Helvetica Neue Light"/>
                <a:cs typeface="Helvetica Neue Light"/>
                <a:sym typeface="Helvetica Neue Light"/>
              </a:rPr>
              <a:t> </a:t>
            </a:r>
            <a:r>
              <a:rPr lang="en-US" sz="1600" u="sng">
                <a:solidFill>
                  <a:srgbClr val="000000"/>
                </a:solidFill>
                <a:latin typeface="Helvetica Neue Light"/>
                <a:ea typeface="Helvetica Neue Light"/>
                <a:cs typeface="Helvetica Neue Light"/>
                <a:sym typeface="Helvetica Neue Light"/>
              </a:rPr>
              <a:t>vert</a:t>
            </a:r>
            <a:r>
              <a:rPr lang="en-US" sz="1600" u="sng">
                <a:latin typeface="Helvetica Neue Light"/>
                <a:ea typeface="Helvetica Neue Light"/>
                <a:cs typeface="Helvetica Neue Light"/>
                <a:sym typeface="Helvetica Neue Light"/>
              </a:rPr>
              <a:t>e</a:t>
            </a:r>
            <a:r>
              <a:rPr lang="en-US" sz="1600" u="sng">
                <a:solidFill>
                  <a:srgbClr val="000000"/>
                </a:solidFill>
                <a:latin typeface="Helvetica Neue Light"/>
                <a:ea typeface="Helvetica Neue Light"/>
                <a:cs typeface="Helvetica Neue Light"/>
                <a:sym typeface="Helvetica Neue Light"/>
              </a:rPr>
              <a:t>br</a:t>
            </a:r>
            <a:r>
              <a:rPr lang="en-US" sz="1600" u="sng">
                <a:latin typeface="Helvetica Neue Light"/>
                <a:ea typeface="Helvetica Neue Light"/>
                <a:cs typeface="Helvetica Neue Light"/>
                <a:sym typeface="Helvetica Neue Light"/>
              </a:rPr>
              <a:t>ate</a:t>
            </a:r>
            <a:r>
              <a:rPr lang="en-US" sz="1600" u="sng">
                <a:solidFill>
                  <a:srgbClr val="000000"/>
                </a:solidFill>
                <a:latin typeface="Helvetica Neue Light"/>
                <a:ea typeface="Helvetica Neue Light"/>
                <a:cs typeface="Helvetica Neue Light"/>
                <a:sym typeface="Helvetica Neue Light"/>
              </a:rPr>
              <a:t>s</a:t>
            </a:r>
            <a:r>
              <a:rPr lang="en-US" sz="1600">
                <a:solidFill>
                  <a:srgbClr val="000000"/>
                </a:solidFill>
                <a:latin typeface="Helvetica Neue Light"/>
                <a:ea typeface="Helvetica Neue Light"/>
                <a:cs typeface="Helvetica Neue Light"/>
                <a:sym typeface="Helvetica Neue Light"/>
              </a:rPr>
              <a:t> </a:t>
            </a:r>
            <a:r>
              <a:rPr lang="en-US" sz="1600">
                <a:latin typeface="Helvetica Neue Light"/>
                <a:ea typeface="Helvetica Neue Light"/>
                <a:cs typeface="Helvetica Neue Light"/>
                <a:sym typeface="Helvetica Neue Light"/>
              </a:rPr>
              <a:t>by</a:t>
            </a:r>
            <a:r>
              <a:rPr lang="en-US" sz="1600">
                <a:solidFill>
                  <a:srgbClr val="000000"/>
                </a:solidFill>
                <a:latin typeface="Helvetica Neue Light"/>
                <a:ea typeface="Helvetica Neue Light"/>
                <a:cs typeface="Helvetica Neue Light"/>
                <a:sym typeface="Helvetica Neue Light"/>
              </a:rPr>
              <a:t> </a:t>
            </a:r>
            <a:r>
              <a:rPr lang="en-US" sz="1600" u="sng">
                <a:solidFill>
                  <a:schemeClr val="dk1"/>
                </a:solidFill>
                <a:latin typeface="Helvetica Neue Light"/>
                <a:ea typeface="Helvetica Neue Light"/>
                <a:cs typeface="Helvetica Neue Light"/>
                <a:sym typeface="Helvetica Neue Light"/>
              </a:rPr>
              <a:t>hematophagous </a:t>
            </a:r>
            <a:r>
              <a:rPr lang="en-US" sz="1600" u="sng">
                <a:solidFill>
                  <a:srgbClr val="000000"/>
                </a:solidFill>
                <a:latin typeface="Helvetica Neue Light"/>
                <a:ea typeface="Helvetica Neue Light"/>
                <a:cs typeface="Helvetica Neue Light"/>
                <a:sym typeface="Helvetica Neue Light"/>
              </a:rPr>
              <a:t>arthropods </a:t>
            </a:r>
            <a:endParaRPr sz="1600" u="sng">
              <a:latin typeface="Helvetica Neue Light"/>
              <a:ea typeface="Helvetica Neue Light"/>
              <a:cs typeface="Helvetica Neue Light"/>
              <a:sym typeface="Helvetica Neue Light"/>
            </a:endParaRPr>
          </a:p>
        </p:txBody>
      </p:sp>
      <p:pic>
        <p:nvPicPr>
          <p:cNvPr id="216" name="Google Shape;216;h11a342068904e6d2_0_138" title="Screenshot from 2026-03-03 10-58-08.png"/>
          <p:cNvPicPr preferRelativeResize="0"/>
          <p:nvPr/>
        </p:nvPicPr>
        <p:blipFill>
          <a:blip r:embed="rId4">
            <a:alphaModFix/>
          </a:blip>
          <a:stretch>
            <a:fillRect/>
          </a:stretch>
        </p:blipFill>
        <p:spPr>
          <a:xfrm>
            <a:off x="463159" y="1147737"/>
            <a:ext cx="3257900" cy="2375275"/>
          </a:xfrm>
          <a:prstGeom prst="rect">
            <a:avLst/>
          </a:prstGeom>
          <a:noFill/>
          <a:ln>
            <a:noFill/>
          </a:ln>
        </p:spPr>
      </p:pic>
      <p:sp>
        <p:nvSpPr>
          <p:cNvPr id="217" name="Google Shape;217;h11a342068904e6d2_0_138"/>
          <p:cNvSpPr txBox="1"/>
          <p:nvPr/>
        </p:nvSpPr>
        <p:spPr>
          <a:xfrm>
            <a:off x="1053650" y="572709"/>
            <a:ext cx="2343600" cy="42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800">
                <a:solidFill>
                  <a:srgbClr val="45818E"/>
                </a:solidFill>
                <a:latin typeface="Helvetica Neue"/>
                <a:ea typeface="Helvetica Neue"/>
                <a:cs typeface="Helvetica Neue"/>
                <a:sym typeface="Helvetica Neue"/>
              </a:rPr>
              <a:t>Arboviruses</a:t>
            </a:r>
            <a:endParaRPr b="1" sz="1800">
              <a:solidFill>
                <a:srgbClr val="45818E"/>
              </a:solidFill>
              <a:latin typeface="Helvetica Neue"/>
              <a:ea typeface="Helvetica Neue"/>
              <a:cs typeface="Helvetica Neue"/>
              <a:sym typeface="Helvetica Neue"/>
            </a:endParaRPr>
          </a:p>
        </p:txBody>
      </p:sp>
      <p:sp>
        <p:nvSpPr>
          <p:cNvPr id="218" name="Google Shape;218;h11a342068904e6d2_0_138"/>
          <p:cNvSpPr txBox="1"/>
          <p:nvPr/>
        </p:nvSpPr>
        <p:spPr>
          <a:xfrm>
            <a:off x="5567575" y="572711"/>
            <a:ext cx="2343600" cy="42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800">
                <a:solidFill>
                  <a:srgbClr val="45818E"/>
                </a:solidFill>
                <a:latin typeface="Helvetica Neue"/>
                <a:ea typeface="Helvetica Neue"/>
                <a:cs typeface="Helvetica Neue"/>
                <a:sym typeface="Helvetica Neue"/>
              </a:rPr>
              <a:t>Zoonoses</a:t>
            </a:r>
            <a:endParaRPr b="1" sz="1800">
              <a:solidFill>
                <a:srgbClr val="45818E"/>
              </a:solidFill>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id="223" name="Google Shape;223;h11a342068904e6d2_0_57" title="Screenshot from 2026-03-03 10-58-08.png"/>
          <p:cNvPicPr preferRelativeResize="0"/>
          <p:nvPr/>
        </p:nvPicPr>
        <p:blipFill>
          <a:blip r:embed="rId3">
            <a:alphaModFix/>
          </a:blip>
          <a:stretch>
            <a:fillRect/>
          </a:stretch>
        </p:blipFill>
        <p:spPr>
          <a:xfrm>
            <a:off x="381375" y="856512"/>
            <a:ext cx="3434951" cy="2504360"/>
          </a:xfrm>
          <a:prstGeom prst="rect">
            <a:avLst/>
          </a:prstGeom>
          <a:noFill/>
          <a:ln>
            <a:noFill/>
          </a:ln>
        </p:spPr>
      </p:pic>
      <p:sp>
        <p:nvSpPr>
          <p:cNvPr id="224" name="Google Shape;224;h11a342068904e6d2_0_57"/>
          <p:cNvSpPr txBox="1"/>
          <p:nvPr/>
        </p:nvSpPr>
        <p:spPr>
          <a:xfrm>
            <a:off x="1003960" y="250235"/>
            <a:ext cx="2471100" cy="451500"/>
          </a:xfrm>
          <a:prstGeom prst="rect">
            <a:avLst/>
          </a:prstGeom>
          <a:noFill/>
          <a:ln>
            <a:noFill/>
          </a:ln>
        </p:spPr>
        <p:txBody>
          <a:bodyPr anchorCtr="0" anchor="t" bIns="96400" lIns="96400" spcFirstLastPara="1" rIns="96400" wrap="square" tIns="96400">
            <a:noAutofit/>
          </a:bodyPr>
          <a:lstStyle/>
          <a:p>
            <a:pPr indent="0" lvl="0" marL="0" rtl="0" algn="ctr">
              <a:spcBef>
                <a:spcPts val="0"/>
              </a:spcBef>
              <a:spcAft>
                <a:spcPts val="0"/>
              </a:spcAft>
              <a:buNone/>
            </a:pPr>
            <a:r>
              <a:rPr b="1" lang="en-US" sz="1898">
                <a:solidFill>
                  <a:srgbClr val="0C2D9A"/>
                </a:solidFill>
                <a:latin typeface="Helvetica Neue"/>
                <a:ea typeface="Helvetica Neue"/>
                <a:cs typeface="Helvetica Neue"/>
                <a:sym typeface="Helvetica Neue"/>
              </a:rPr>
              <a:t>Arboviruses</a:t>
            </a:r>
            <a:endParaRPr b="1" sz="1898">
              <a:solidFill>
                <a:srgbClr val="0C2D9A"/>
              </a:solidFill>
              <a:latin typeface="Helvetica Neue"/>
              <a:ea typeface="Helvetica Neue"/>
              <a:cs typeface="Helvetica Neue"/>
              <a:sym typeface="Helvetica Neue"/>
            </a:endParaRPr>
          </a:p>
        </p:txBody>
      </p:sp>
      <p:sp>
        <p:nvSpPr>
          <p:cNvPr id="225" name="Google Shape;225;h11a342068904e6d2_0_57"/>
          <p:cNvSpPr txBox="1"/>
          <p:nvPr/>
        </p:nvSpPr>
        <p:spPr>
          <a:xfrm>
            <a:off x="4556850" y="299974"/>
            <a:ext cx="4107000" cy="3677700"/>
          </a:xfrm>
          <a:prstGeom prst="rect">
            <a:avLst/>
          </a:prstGeom>
          <a:noFill/>
          <a:ln>
            <a:noFill/>
          </a:ln>
        </p:spPr>
        <p:txBody>
          <a:bodyPr anchorCtr="0" anchor="t" bIns="96400" lIns="96400" spcFirstLastPara="1" rIns="96400" wrap="square" tIns="96400">
            <a:spAutoFit/>
          </a:bodyPr>
          <a:lstStyle/>
          <a:p>
            <a:pPr indent="0" lvl="0" marL="0" rtl="0" algn="l">
              <a:lnSpc>
                <a:spcPct val="115000"/>
              </a:lnSpc>
              <a:spcBef>
                <a:spcPts val="1000"/>
              </a:spcBef>
              <a:spcAft>
                <a:spcPts val="0"/>
              </a:spcAft>
              <a:buNone/>
            </a:pPr>
            <a:r>
              <a:rPr lang="en-US" sz="1700">
                <a:latin typeface="Helvetica Neue Light"/>
                <a:ea typeface="Helvetica Neue Light"/>
                <a:cs typeface="Helvetica Neue Light"/>
                <a:sym typeface="Helvetica Neue Light"/>
              </a:rPr>
              <a:t>A</a:t>
            </a:r>
            <a:r>
              <a:rPr lang="en-US" sz="1700">
                <a:latin typeface="Helvetica Neue Light"/>
                <a:ea typeface="Helvetica Neue Light"/>
                <a:cs typeface="Helvetica Neue Light"/>
                <a:sym typeface="Helvetica Neue Light"/>
              </a:rPr>
              <a:t> </a:t>
            </a:r>
            <a:r>
              <a:rPr b="1" lang="en-US" sz="1700">
                <a:solidFill>
                  <a:srgbClr val="0C2D9A"/>
                </a:solidFill>
                <a:latin typeface="Helvetica Neue"/>
                <a:ea typeface="Helvetica Neue"/>
                <a:cs typeface="Helvetica Neue"/>
                <a:sym typeface="Helvetica Neue"/>
              </a:rPr>
              <a:t>diversified</a:t>
            </a:r>
            <a:r>
              <a:rPr lang="en-US" sz="1700">
                <a:solidFill>
                  <a:schemeClr val="dk1"/>
                </a:solidFill>
                <a:latin typeface="Helvetica Neue Light"/>
                <a:ea typeface="Helvetica Neue Light"/>
                <a:cs typeface="Helvetica Neue Light"/>
                <a:sym typeface="Helvetica Neue Light"/>
              </a:rPr>
              <a:t> group</a:t>
            </a:r>
            <a:endParaRPr sz="1700">
              <a:solidFill>
                <a:schemeClr val="dk1"/>
              </a:solidFill>
              <a:latin typeface="Helvetica Neue Light"/>
              <a:ea typeface="Helvetica Neue Light"/>
              <a:cs typeface="Helvetica Neue Light"/>
              <a:sym typeface="Helvetica Neue Light"/>
            </a:endParaRPr>
          </a:p>
          <a:p>
            <a:pPr indent="-336550" lvl="1" marL="914400" rtl="0" algn="l">
              <a:lnSpc>
                <a:spcPct val="115000"/>
              </a:lnSpc>
              <a:spcBef>
                <a:spcPts val="1000"/>
              </a:spcBef>
              <a:spcAft>
                <a:spcPts val="0"/>
              </a:spcAft>
              <a:buSzPts val="1700"/>
              <a:buFont typeface="Helvetica Neue Light"/>
              <a:buChar char="○"/>
            </a:pPr>
            <a:r>
              <a:rPr lang="en-US" sz="1700">
                <a:latin typeface="Helvetica Neue Light"/>
                <a:ea typeface="Helvetica Neue Light"/>
                <a:cs typeface="Helvetica Neue Light"/>
                <a:sym typeface="Helvetica Neue Light"/>
              </a:rPr>
              <a:t>Genomic organisation</a:t>
            </a:r>
            <a:endParaRPr sz="1700">
              <a:latin typeface="Helvetica Neue Light"/>
              <a:ea typeface="Helvetica Neue Light"/>
              <a:cs typeface="Helvetica Neue Light"/>
              <a:sym typeface="Helvetica Neue Light"/>
            </a:endParaRPr>
          </a:p>
          <a:p>
            <a:pPr indent="-336550" lvl="1" marL="914400" rtl="0" algn="l">
              <a:lnSpc>
                <a:spcPct val="115000"/>
              </a:lnSpc>
              <a:spcBef>
                <a:spcPts val="0"/>
              </a:spcBef>
              <a:spcAft>
                <a:spcPts val="0"/>
              </a:spcAft>
              <a:buSzPts val="1700"/>
              <a:buFont typeface="Helvetica Neue Light"/>
              <a:buChar char="○"/>
            </a:pPr>
            <a:r>
              <a:rPr lang="en-US" sz="1700">
                <a:latin typeface="Helvetica Neue Light"/>
                <a:ea typeface="Helvetica Neue Light"/>
                <a:cs typeface="Helvetica Neue Light"/>
                <a:sym typeface="Helvetica Neue Light"/>
              </a:rPr>
              <a:t>Host/vector ecology</a:t>
            </a:r>
            <a:endParaRPr sz="1700">
              <a:latin typeface="Helvetica Neue Light"/>
              <a:ea typeface="Helvetica Neue Light"/>
              <a:cs typeface="Helvetica Neue Light"/>
              <a:sym typeface="Helvetica Neue Light"/>
            </a:endParaRPr>
          </a:p>
          <a:p>
            <a:pPr indent="-336550" lvl="1" marL="914400" rtl="0" algn="l">
              <a:lnSpc>
                <a:spcPct val="115000"/>
              </a:lnSpc>
              <a:spcBef>
                <a:spcPts val="0"/>
              </a:spcBef>
              <a:spcAft>
                <a:spcPts val="0"/>
              </a:spcAft>
              <a:buSzPts val="1700"/>
              <a:buFont typeface="Helvetica Neue Light"/>
              <a:buChar char="○"/>
            </a:pPr>
            <a:r>
              <a:rPr lang="en-US" sz="1700">
                <a:latin typeface="Helvetica Neue Light"/>
                <a:ea typeface="Helvetica Neue Light"/>
                <a:cs typeface="Helvetica Neue Light"/>
                <a:sym typeface="Helvetica Neue Light"/>
              </a:rPr>
              <a:t>Distribution</a:t>
            </a:r>
            <a:endParaRPr sz="1700">
              <a:latin typeface="Helvetica Neue Light"/>
              <a:ea typeface="Helvetica Neue Light"/>
              <a:cs typeface="Helvetica Neue Light"/>
              <a:sym typeface="Helvetica Neue Light"/>
            </a:endParaRPr>
          </a:p>
          <a:p>
            <a:pPr indent="-336550" lvl="1" marL="914400" rtl="0" algn="l">
              <a:lnSpc>
                <a:spcPct val="115000"/>
              </a:lnSpc>
              <a:spcBef>
                <a:spcPts val="0"/>
              </a:spcBef>
              <a:spcAft>
                <a:spcPts val="0"/>
              </a:spcAft>
              <a:buSzPts val="1700"/>
              <a:buFont typeface="Helvetica Neue Light"/>
              <a:buChar char="○"/>
            </a:pPr>
            <a:r>
              <a:rPr lang="en-US" sz="1700">
                <a:latin typeface="Helvetica Neue Light"/>
                <a:ea typeface="Helvetica Neue Light"/>
                <a:cs typeface="Helvetica Neue Light"/>
                <a:sym typeface="Helvetica Neue Light"/>
              </a:rPr>
              <a:t>Clinical presentation</a:t>
            </a:r>
            <a:endParaRPr sz="1700">
              <a:latin typeface="Helvetica Neue Light"/>
              <a:ea typeface="Helvetica Neue Light"/>
              <a:cs typeface="Helvetica Neue Light"/>
              <a:sym typeface="Helvetica Neue Light"/>
            </a:endParaRPr>
          </a:p>
          <a:p>
            <a:pPr indent="0" lvl="0" marL="0" rtl="0" algn="l">
              <a:lnSpc>
                <a:spcPct val="115000"/>
              </a:lnSpc>
              <a:spcBef>
                <a:spcPts val="1000"/>
              </a:spcBef>
              <a:spcAft>
                <a:spcPts val="0"/>
              </a:spcAft>
              <a:buNone/>
            </a:pPr>
            <a:r>
              <a:t/>
            </a:r>
            <a:endParaRPr sz="1700">
              <a:latin typeface="Helvetica Neue Light"/>
              <a:ea typeface="Helvetica Neue Light"/>
              <a:cs typeface="Helvetica Neue Light"/>
              <a:sym typeface="Helvetica Neue Light"/>
            </a:endParaRPr>
          </a:p>
          <a:p>
            <a:pPr indent="0" lvl="0" marL="0" rtl="0" algn="l">
              <a:lnSpc>
                <a:spcPct val="115000"/>
              </a:lnSpc>
              <a:spcBef>
                <a:spcPts val="1000"/>
              </a:spcBef>
              <a:spcAft>
                <a:spcPts val="0"/>
              </a:spcAft>
              <a:buNone/>
            </a:pPr>
            <a:r>
              <a:rPr lang="en-US" sz="1700">
                <a:latin typeface="Helvetica Neue Light"/>
                <a:ea typeface="Helvetica Neue Light"/>
                <a:cs typeface="Helvetica Neue Light"/>
                <a:sym typeface="Helvetica Neue Light"/>
              </a:rPr>
              <a:t>A risk that is </a:t>
            </a:r>
            <a:r>
              <a:rPr b="1" lang="en-US" sz="1700">
                <a:solidFill>
                  <a:srgbClr val="0C2D9A"/>
                </a:solidFill>
                <a:latin typeface="Helvetica Neue"/>
                <a:ea typeface="Helvetica Neue"/>
                <a:cs typeface="Helvetica Neue"/>
                <a:sym typeface="Helvetica Neue"/>
              </a:rPr>
              <a:t>growing</a:t>
            </a:r>
            <a:endParaRPr b="1" sz="1700">
              <a:solidFill>
                <a:srgbClr val="0C2D9A"/>
              </a:solidFill>
              <a:latin typeface="Helvetica Neue"/>
              <a:ea typeface="Helvetica Neue"/>
              <a:cs typeface="Helvetica Neue"/>
              <a:sym typeface="Helvetica Neue"/>
            </a:endParaRPr>
          </a:p>
          <a:p>
            <a:pPr indent="-336550" lvl="1" marL="914400" rtl="0" algn="l">
              <a:lnSpc>
                <a:spcPct val="115000"/>
              </a:lnSpc>
              <a:spcBef>
                <a:spcPts val="1000"/>
              </a:spcBef>
              <a:spcAft>
                <a:spcPts val="0"/>
              </a:spcAft>
              <a:buSzPts val="1700"/>
              <a:buFont typeface="Helvetica Neue Light"/>
              <a:buChar char="○"/>
            </a:pPr>
            <a:r>
              <a:rPr lang="en-US" sz="1700">
                <a:latin typeface="Helvetica Neue Light"/>
                <a:ea typeface="Helvetica Neue Light"/>
                <a:cs typeface="Helvetica Neue Light"/>
                <a:sym typeface="Helvetica Neue Light"/>
              </a:rPr>
              <a:t>Climate change</a:t>
            </a:r>
            <a:endParaRPr sz="1700">
              <a:latin typeface="Helvetica Neue Light"/>
              <a:ea typeface="Helvetica Neue Light"/>
              <a:cs typeface="Helvetica Neue Light"/>
              <a:sym typeface="Helvetica Neue Light"/>
            </a:endParaRPr>
          </a:p>
          <a:p>
            <a:pPr indent="-336550" lvl="1" marL="914400" rtl="0" algn="l">
              <a:lnSpc>
                <a:spcPct val="115000"/>
              </a:lnSpc>
              <a:spcBef>
                <a:spcPts val="0"/>
              </a:spcBef>
              <a:spcAft>
                <a:spcPts val="0"/>
              </a:spcAft>
              <a:buSzPts val="1700"/>
              <a:buFont typeface="Helvetica Neue Light"/>
              <a:buChar char="○"/>
            </a:pPr>
            <a:r>
              <a:rPr lang="en-US" sz="1700">
                <a:latin typeface="Helvetica Neue Light"/>
                <a:ea typeface="Helvetica Neue Light"/>
                <a:cs typeface="Helvetica Neue Light"/>
                <a:sym typeface="Helvetica Neue Light"/>
              </a:rPr>
              <a:t>Changes in land use</a:t>
            </a:r>
            <a:endParaRPr sz="1700">
              <a:latin typeface="Helvetica Neue Light"/>
              <a:ea typeface="Helvetica Neue Light"/>
              <a:cs typeface="Helvetica Neue Light"/>
              <a:sym typeface="Helvetica Neue Light"/>
            </a:endParaRPr>
          </a:p>
          <a:p>
            <a:pPr indent="-336550" lvl="1" marL="914400" rtl="0" algn="l">
              <a:lnSpc>
                <a:spcPct val="115000"/>
              </a:lnSpc>
              <a:spcBef>
                <a:spcPts val="0"/>
              </a:spcBef>
              <a:spcAft>
                <a:spcPts val="0"/>
              </a:spcAft>
              <a:buSzPts val="1700"/>
              <a:buFont typeface="Helvetica Neue Light"/>
              <a:buChar char="○"/>
            </a:pPr>
            <a:r>
              <a:rPr lang="en-US" sz="1700">
                <a:latin typeface="Helvetica Neue Light"/>
                <a:ea typeface="Helvetica Neue Light"/>
                <a:cs typeface="Helvetica Neue Light"/>
                <a:sym typeface="Helvetica Neue Light"/>
              </a:rPr>
              <a:t>Globalisation / interconnectivity</a:t>
            </a:r>
            <a:endParaRPr sz="1700">
              <a:latin typeface="Helvetica Neue Light"/>
              <a:ea typeface="Helvetica Neue Light"/>
              <a:cs typeface="Helvetica Neue Light"/>
              <a:sym typeface="Helvetica Neue Light"/>
            </a:endParaRPr>
          </a:p>
        </p:txBody>
      </p:sp>
      <p:sp>
        <p:nvSpPr>
          <p:cNvPr id="226" name="Google Shape;226;h11a342068904e6d2_0_57"/>
          <p:cNvSpPr txBox="1"/>
          <p:nvPr/>
        </p:nvSpPr>
        <p:spPr>
          <a:xfrm>
            <a:off x="418184" y="4565894"/>
            <a:ext cx="8638200" cy="47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700">
                <a:solidFill>
                  <a:srgbClr val="0C2D9A"/>
                </a:solidFill>
                <a:latin typeface="Helvetica Neue"/>
                <a:ea typeface="Helvetica Neue"/>
                <a:cs typeface="Helvetica Neue"/>
                <a:sym typeface="Helvetica Neue"/>
              </a:rPr>
              <a:t>&gt;&gt; Acute need to </a:t>
            </a:r>
            <a:r>
              <a:rPr lang="en-US" sz="1700">
                <a:solidFill>
                  <a:srgbClr val="0C2D9A"/>
                </a:solidFill>
                <a:latin typeface="Helvetica Neue"/>
                <a:ea typeface="Helvetica Neue"/>
                <a:cs typeface="Helvetica Neue"/>
                <a:sym typeface="Helvetica Neue"/>
              </a:rPr>
              <a:t>understand</a:t>
            </a:r>
            <a:r>
              <a:rPr lang="en-US" sz="1700">
                <a:solidFill>
                  <a:srgbClr val="0C2D9A"/>
                </a:solidFill>
                <a:latin typeface="Helvetica Neue"/>
                <a:ea typeface="Helvetica Neue"/>
                <a:cs typeface="Helvetica Neue"/>
                <a:sym typeface="Helvetica Neue"/>
              </a:rPr>
              <a:t> </a:t>
            </a:r>
            <a:r>
              <a:rPr lang="en-US" sz="1700">
                <a:solidFill>
                  <a:srgbClr val="0C2D9A"/>
                </a:solidFill>
                <a:latin typeface="Helvetica Neue"/>
                <a:ea typeface="Helvetica Neue"/>
                <a:cs typeface="Helvetica Neue"/>
                <a:sym typeface="Helvetica Neue"/>
              </a:rPr>
              <a:t>evolutionary</a:t>
            </a:r>
            <a:r>
              <a:rPr lang="en-US" sz="1700">
                <a:solidFill>
                  <a:srgbClr val="0C2D9A"/>
                </a:solidFill>
                <a:latin typeface="Helvetica Neue"/>
                <a:ea typeface="Helvetica Neue"/>
                <a:cs typeface="Helvetica Neue"/>
                <a:sym typeface="Helvetica Neue"/>
              </a:rPr>
              <a:t>, ecological and epidemiological dynamics</a:t>
            </a:r>
            <a:endParaRPr sz="1700">
              <a:solidFill>
                <a:srgbClr val="0C2D9A"/>
              </a:solidFill>
              <a:latin typeface="Helvetica Neue"/>
              <a:ea typeface="Helvetica Neue"/>
              <a:cs typeface="Helvetica Neue"/>
              <a:sym typeface="Helvetica Neue"/>
            </a:endParaRPr>
          </a:p>
        </p:txBody>
      </p:sp>
      <p:sp>
        <p:nvSpPr>
          <p:cNvPr id="227" name="Google Shape;227;h11a342068904e6d2_0_57"/>
          <p:cNvSpPr txBox="1"/>
          <p:nvPr/>
        </p:nvSpPr>
        <p:spPr>
          <a:xfrm>
            <a:off x="695741" y="3568972"/>
            <a:ext cx="30594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600">
                <a:solidFill>
                  <a:srgbClr val="000000"/>
                </a:solidFill>
                <a:latin typeface="Helvetica Neue Light"/>
                <a:ea typeface="Helvetica Neue Light"/>
                <a:cs typeface="Helvetica Neue Light"/>
                <a:sym typeface="Helvetica Neue Light"/>
              </a:rPr>
              <a:t>Viruses transmi</a:t>
            </a:r>
            <a:r>
              <a:rPr lang="en-US" sz="1600">
                <a:latin typeface="Helvetica Neue Light"/>
                <a:ea typeface="Helvetica Neue Light"/>
                <a:cs typeface="Helvetica Neue Light"/>
                <a:sym typeface="Helvetica Neue Light"/>
              </a:rPr>
              <a:t>tted</a:t>
            </a:r>
            <a:r>
              <a:rPr lang="en-US" sz="1600">
                <a:solidFill>
                  <a:srgbClr val="000000"/>
                </a:solidFill>
                <a:latin typeface="Helvetica Neue Light"/>
                <a:ea typeface="Helvetica Neue Light"/>
                <a:cs typeface="Helvetica Neue Light"/>
                <a:sym typeface="Helvetica Neue Light"/>
              </a:rPr>
              <a:t> </a:t>
            </a:r>
            <a:r>
              <a:rPr lang="en-US" sz="1600">
                <a:latin typeface="Helvetica Neue Light"/>
                <a:ea typeface="Helvetica Neue Light"/>
                <a:cs typeface="Helvetica Neue Light"/>
                <a:sym typeface="Helvetica Neue Light"/>
              </a:rPr>
              <a:t>to</a:t>
            </a:r>
            <a:r>
              <a:rPr lang="en-US" sz="1600">
                <a:solidFill>
                  <a:srgbClr val="000000"/>
                </a:solidFill>
                <a:latin typeface="Helvetica Neue Light"/>
                <a:ea typeface="Helvetica Neue Light"/>
                <a:cs typeface="Helvetica Neue Light"/>
                <a:sym typeface="Helvetica Neue Light"/>
              </a:rPr>
              <a:t> </a:t>
            </a:r>
            <a:r>
              <a:rPr lang="en-US" sz="1600" u="sng">
                <a:solidFill>
                  <a:srgbClr val="000000"/>
                </a:solidFill>
                <a:latin typeface="Helvetica Neue Light"/>
                <a:ea typeface="Helvetica Neue Light"/>
                <a:cs typeface="Helvetica Neue Light"/>
                <a:sym typeface="Helvetica Neue Light"/>
              </a:rPr>
              <a:t>vert</a:t>
            </a:r>
            <a:r>
              <a:rPr lang="en-US" sz="1600" u="sng">
                <a:latin typeface="Helvetica Neue Light"/>
                <a:ea typeface="Helvetica Neue Light"/>
                <a:cs typeface="Helvetica Neue Light"/>
                <a:sym typeface="Helvetica Neue Light"/>
              </a:rPr>
              <a:t>e</a:t>
            </a:r>
            <a:r>
              <a:rPr lang="en-US" sz="1600" u="sng">
                <a:solidFill>
                  <a:srgbClr val="000000"/>
                </a:solidFill>
                <a:latin typeface="Helvetica Neue Light"/>
                <a:ea typeface="Helvetica Neue Light"/>
                <a:cs typeface="Helvetica Neue Light"/>
                <a:sym typeface="Helvetica Neue Light"/>
              </a:rPr>
              <a:t>br</a:t>
            </a:r>
            <a:r>
              <a:rPr lang="en-US" sz="1600" u="sng">
                <a:latin typeface="Helvetica Neue Light"/>
                <a:ea typeface="Helvetica Neue Light"/>
                <a:cs typeface="Helvetica Neue Light"/>
                <a:sym typeface="Helvetica Neue Light"/>
              </a:rPr>
              <a:t>ate</a:t>
            </a:r>
            <a:r>
              <a:rPr lang="en-US" sz="1600" u="sng">
                <a:solidFill>
                  <a:srgbClr val="000000"/>
                </a:solidFill>
                <a:latin typeface="Helvetica Neue Light"/>
                <a:ea typeface="Helvetica Neue Light"/>
                <a:cs typeface="Helvetica Neue Light"/>
                <a:sym typeface="Helvetica Neue Light"/>
              </a:rPr>
              <a:t>s</a:t>
            </a:r>
            <a:r>
              <a:rPr lang="en-US" sz="1600">
                <a:solidFill>
                  <a:srgbClr val="000000"/>
                </a:solidFill>
                <a:latin typeface="Helvetica Neue Light"/>
                <a:ea typeface="Helvetica Neue Light"/>
                <a:cs typeface="Helvetica Neue Light"/>
                <a:sym typeface="Helvetica Neue Light"/>
              </a:rPr>
              <a:t> </a:t>
            </a:r>
            <a:r>
              <a:rPr lang="en-US" sz="1600">
                <a:latin typeface="Helvetica Neue Light"/>
                <a:ea typeface="Helvetica Neue Light"/>
                <a:cs typeface="Helvetica Neue Light"/>
                <a:sym typeface="Helvetica Neue Light"/>
              </a:rPr>
              <a:t>by</a:t>
            </a:r>
            <a:r>
              <a:rPr lang="en-US" sz="1600">
                <a:solidFill>
                  <a:srgbClr val="000000"/>
                </a:solidFill>
                <a:latin typeface="Helvetica Neue Light"/>
                <a:ea typeface="Helvetica Neue Light"/>
                <a:cs typeface="Helvetica Neue Light"/>
                <a:sym typeface="Helvetica Neue Light"/>
              </a:rPr>
              <a:t> </a:t>
            </a:r>
            <a:r>
              <a:rPr lang="en-US" sz="1600" u="sng">
                <a:solidFill>
                  <a:schemeClr val="dk1"/>
                </a:solidFill>
                <a:latin typeface="Helvetica Neue Light"/>
                <a:ea typeface="Helvetica Neue Light"/>
                <a:cs typeface="Helvetica Neue Light"/>
                <a:sym typeface="Helvetica Neue Light"/>
              </a:rPr>
              <a:t>hematophagous </a:t>
            </a:r>
            <a:r>
              <a:rPr lang="en-US" sz="1600" u="sng">
                <a:solidFill>
                  <a:srgbClr val="000000"/>
                </a:solidFill>
                <a:latin typeface="Helvetica Neue Light"/>
                <a:ea typeface="Helvetica Neue Light"/>
                <a:cs typeface="Helvetica Neue Light"/>
                <a:sym typeface="Helvetica Neue Light"/>
              </a:rPr>
              <a:t>arthropods </a:t>
            </a:r>
            <a:endParaRPr sz="1600" u="sng">
              <a:latin typeface="Helvetica Neue Light"/>
              <a:ea typeface="Helvetica Neue Light"/>
              <a:cs typeface="Helvetica Neue Light"/>
              <a:sym typeface="Helvetica Neue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2D9A"/>
        </a:solidFill>
      </p:bgPr>
    </p:bg>
    <p:spTree>
      <p:nvGrpSpPr>
        <p:cNvPr id="231" name="Shape 231"/>
        <p:cNvGrpSpPr/>
        <p:nvPr/>
      </p:nvGrpSpPr>
      <p:grpSpPr>
        <a:xfrm>
          <a:off x="0" y="0"/>
          <a:ext cx="0" cy="0"/>
          <a:chOff x="0" y="0"/>
          <a:chExt cx="0" cy="0"/>
        </a:xfrm>
      </p:grpSpPr>
      <p:sp>
        <p:nvSpPr>
          <p:cNvPr id="232" name="Google Shape;232;h11a342068904e6d2_0_993"/>
          <p:cNvSpPr txBox="1"/>
          <p:nvPr>
            <p:ph idx="1" type="subTitle"/>
          </p:nvPr>
        </p:nvSpPr>
        <p:spPr>
          <a:xfrm>
            <a:off x="311700" y="2028625"/>
            <a:ext cx="8520600" cy="2303700"/>
          </a:xfrm>
          <a:prstGeom prst="rect">
            <a:avLst/>
          </a:prstGeom>
        </p:spPr>
        <p:txBody>
          <a:bodyPr anchorCtr="0" anchor="t" bIns="91425" lIns="91425" spcFirstLastPara="1" rIns="91425" wrap="square" tIns="91425">
            <a:noAutofit/>
          </a:bodyPr>
          <a:lstStyle/>
          <a:p>
            <a:pPr indent="0" lvl="0" marL="0" rtl="0" algn="ctr">
              <a:lnSpc>
                <a:spcPct val="150000"/>
              </a:lnSpc>
              <a:spcBef>
                <a:spcPts val="1000"/>
              </a:spcBef>
              <a:spcAft>
                <a:spcPts val="0"/>
              </a:spcAft>
              <a:buNone/>
            </a:pPr>
            <a:r>
              <a:rPr lang="en-US" sz="3200">
                <a:solidFill>
                  <a:srgbClr val="FF9900"/>
                </a:solidFill>
                <a:latin typeface="Helvetica Neue Light"/>
                <a:ea typeface="Helvetica Neue Light"/>
                <a:cs typeface="Helvetica Neue Light"/>
                <a:sym typeface="Helvetica Neue Light"/>
              </a:rPr>
              <a:t>Spread</a:t>
            </a:r>
            <a:endParaRPr sz="3200">
              <a:solidFill>
                <a:srgbClr val="FF9900"/>
              </a:solidFill>
              <a:latin typeface="Helvetica Neue Light"/>
              <a:ea typeface="Helvetica Neue Light"/>
              <a:cs typeface="Helvetica Neue Light"/>
              <a:sym typeface="Helvetica Neue Light"/>
            </a:endParaRPr>
          </a:p>
          <a:p>
            <a:pPr indent="0" lvl="0" marL="0" rtl="0" algn="ctr">
              <a:lnSpc>
                <a:spcPct val="150000"/>
              </a:lnSpc>
              <a:spcBef>
                <a:spcPts val="0"/>
              </a:spcBef>
              <a:spcAft>
                <a:spcPts val="0"/>
              </a:spcAft>
              <a:buNone/>
            </a:pPr>
            <a:r>
              <a:rPr lang="en-US" sz="3200">
                <a:solidFill>
                  <a:srgbClr val="FF9900"/>
                </a:solidFill>
                <a:latin typeface="Helvetica Neue Light"/>
                <a:ea typeface="Helvetica Neue Light"/>
                <a:cs typeface="Helvetica Neue Light"/>
                <a:sym typeface="Helvetica Neue Light"/>
              </a:rPr>
              <a:t>Resist</a:t>
            </a:r>
            <a:endParaRPr sz="3200">
              <a:solidFill>
                <a:srgbClr val="FF9900"/>
              </a:solidFill>
              <a:latin typeface="Helvetica Neue Light"/>
              <a:ea typeface="Helvetica Neue Light"/>
              <a:cs typeface="Helvetica Neue Light"/>
              <a:sym typeface="Helvetica Neue Light"/>
            </a:endParaRPr>
          </a:p>
          <a:p>
            <a:pPr indent="0" lvl="0" marL="0" rtl="0" algn="ctr">
              <a:lnSpc>
                <a:spcPct val="150000"/>
              </a:lnSpc>
              <a:spcBef>
                <a:spcPts val="0"/>
              </a:spcBef>
              <a:spcAft>
                <a:spcPts val="0"/>
              </a:spcAft>
              <a:buNone/>
            </a:pPr>
            <a:r>
              <a:rPr lang="en-US" sz="3200">
                <a:solidFill>
                  <a:srgbClr val="FF9900"/>
                </a:solidFill>
                <a:latin typeface="Helvetica Neue Light"/>
                <a:ea typeface="Helvetica Neue Light"/>
                <a:cs typeface="Helvetica Neue Light"/>
                <a:sym typeface="Helvetica Neue Light"/>
              </a:rPr>
              <a:t>Escape</a:t>
            </a:r>
            <a:endParaRPr sz="3200">
              <a:solidFill>
                <a:srgbClr val="FF9900"/>
              </a:solidFill>
              <a:latin typeface="Helvetica Neue Light"/>
              <a:ea typeface="Helvetica Neue Light"/>
              <a:cs typeface="Helvetica Neue Light"/>
              <a:sym typeface="Helvetica Neue Light"/>
            </a:endParaRPr>
          </a:p>
          <a:p>
            <a:pPr indent="0" lvl="0" marL="0" rtl="0" algn="ctr">
              <a:lnSpc>
                <a:spcPct val="150000"/>
              </a:lnSpc>
              <a:spcBef>
                <a:spcPts val="0"/>
              </a:spcBef>
              <a:spcAft>
                <a:spcPts val="0"/>
              </a:spcAft>
              <a:buNone/>
            </a:pPr>
            <a:r>
              <a:t/>
            </a:r>
            <a:endParaRPr sz="3200">
              <a:solidFill>
                <a:srgbClr val="FF9900"/>
              </a:solidFill>
              <a:latin typeface="Helvetica Neue Light"/>
              <a:ea typeface="Helvetica Neue Light"/>
              <a:cs typeface="Helvetica Neue Light"/>
              <a:sym typeface="Helvetica Neue Light"/>
            </a:endParaRPr>
          </a:p>
        </p:txBody>
      </p:sp>
      <p:pic>
        <p:nvPicPr>
          <p:cNvPr id="233" name="Google Shape;233;h11a342068904e6d2_0_993"/>
          <p:cNvPicPr preferRelativeResize="0"/>
          <p:nvPr/>
        </p:nvPicPr>
        <p:blipFill rotWithShape="1">
          <a:blip r:embed="rId3">
            <a:alphaModFix/>
          </a:blip>
          <a:srcRect b="44414" l="52580" r="0" t="28865"/>
          <a:stretch/>
        </p:blipFill>
        <p:spPr>
          <a:xfrm>
            <a:off x="3927546" y="392273"/>
            <a:ext cx="1342800" cy="1202975"/>
          </a:xfrm>
          <a:prstGeom prst="rect">
            <a:avLst/>
          </a:prstGeom>
          <a:noFill/>
          <a:ln>
            <a:noFill/>
          </a:ln>
          <a:effectLst>
            <a:reflection blurRad="0" dir="5400000" dist="38100" endA="0" endPos="30000" fadeDir="5400012" kx="0" rotWithShape="0" algn="bl" stPos="0" sy="-100000" ky="0"/>
          </a:effectLst>
        </p:spPr>
      </p:pic>
      <p:cxnSp>
        <p:nvCxnSpPr>
          <p:cNvPr id="234" name="Google Shape;234;h11a342068904e6d2_0_993"/>
          <p:cNvCxnSpPr>
            <a:stCxn id="233" idx="1"/>
            <a:endCxn id="232" idx="1"/>
          </p:cNvCxnSpPr>
          <p:nvPr/>
        </p:nvCxnSpPr>
        <p:spPr>
          <a:xfrm flipH="1">
            <a:off x="311646" y="993760"/>
            <a:ext cx="3615900" cy="2186700"/>
          </a:xfrm>
          <a:prstGeom prst="curvedConnector3">
            <a:avLst>
              <a:gd fmla="val 62628" name="adj1"/>
            </a:avLst>
          </a:prstGeom>
          <a:noFill/>
          <a:ln cap="flat" cmpd="sng" w="28575">
            <a:solidFill>
              <a:srgbClr val="FF9900"/>
            </a:solidFill>
            <a:prstDash val="dot"/>
            <a:round/>
            <a:headEnd len="med" w="med" type="none"/>
            <a:tailEnd len="med" w="med" type="stealth"/>
          </a:ln>
        </p:spPr>
      </p:cxnSp>
      <p:cxnSp>
        <p:nvCxnSpPr>
          <p:cNvPr id="235" name="Google Shape;235;h11a342068904e6d2_0_993"/>
          <p:cNvCxnSpPr>
            <a:endCxn id="232" idx="2"/>
          </p:cNvCxnSpPr>
          <p:nvPr/>
        </p:nvCxnSpPr>
        <p:spPr>
          <a:xfrm rot="5400000">
            <a:off x="3293250" y="2308675"/>
            <a:ext cx="3302400" cy="744900"/>
          </a:xfrm>
          <a:prstGeom prst="curvedConnector5">
            <a:avLst>
              <a:gd fmla="val 2817" name="adj1"/>
              <a:gd fmla="val -425524" name="adj2"/>
              <a:gd fmla="val 107211" name="adj3"/>
            </a:avLst>
          </a:prstGeom>
          <a:noFill/>
          <a:ln cap="flat" cmpd="sng" w="28575">
            <a:solidFill>
              <a:srgbClr val="FF9900"/>
            </a:solidFill>
            <a:prstDash val="dot"/>
            <a:round/>
            <a:headEnd len="med" w="med" type="none"/>
            <a:tailEnd len="med" w="med" type="non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2D9A"/>
        </a:solidFill>
      </p:bgPr>
    </p:bg>
    <p:spTree>
      <p:nvGrpSpPr>
        <p:cNvPr id="240" name="Shape 240"/>
        <p:cNvGrpSpPr/>
        <p:nvPr/>
      </p:nvGrpSpPr>
      <p:grpSpPr>
        <a:xfrm>
          <a:off x="0" y="0"/>
          <a:ext cx="0" cy="0"/>
          <a:chOff x="0" y="0"/>
          <a:chExt cx="0" cy="0"/>
        </a:xfrm>
      </p:grpSpPr>
      <p:pic>
        <p:nvPicPr>
          <p:cNvPr id="241" name="Google Shape;241;h11a342068904e6d2_0_909"/>
          <p:cNvPicPr preferRelativeResize="0"/>
          <p:nvPr/>
        </p:nvPicPr>
        <p:blipFill rotWithShape="1">
          <a:blip r:embed="rId3">
            <a:alphaModFix amt="85000"/>
          </a:blip>
          <a:srcRect b="0" l="0" r="0" t="0"/>
          <a:stretch/>
        </p:blipFill>
        <p:spPr>
          <a:xfrm>
            <a:off x="0" y="0"/>
            <a:ext cx="9159624" cy="3268975"/>
          </a:xfrm>
          <a:prstGeom prst="rect">
            <a:avLst/>
          </a:prstGeom>
          <a:noFill/>
          <a:ln>
            <a:noFill/>
          </a:ln>
        </p:spPr>
      </p:pic>
      <p:sp>
        <p:nvSpPr>
          <p:cNvPr id="242" name="Google Shape;242;h11a342068904e6d2_0_909"/>
          <p:cNvSpPr txBox="1"/>
          <p:nvPr/>
        </p:nvSpPr>
        <p:spPr>
          <a:xfrm>
            <a:off x="329262" y="3531300"/>
            <a:ext cx="84855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200" u="none" cap="none" strike="noStrike">
                <a:solidFill>
                  <a:srgbClr val="FF9900"/>
                </a:solidFill>
                <a:latin typeface="Calibri"/>
                <a:ea typeface="Calibri"/>
                <a:cs typeface="Calibri"/>
                <a:sym typeface="Calibri"/>
              </a:rPr>
              <a:t>Unravelling the epidemiological and dispersal dynamics of the 2024-2025 chikungunya virus (CHIKV) outbreak on Réunion island</a:t>
            </a:r>
            <a:endParaRPr>
              <a:solidFill>
                <a:srgbClr val="FF9900"/>
              </a:solidFill>
            </a:endParaRPr>
          </a:p>
        </p:txBody>
      </p:sp>
      <p:sp>
        <p:nvSpPr>
          <p:cNvPr id="243" name="Google Shape;243;h11a342068904e6d2_0_909"/>
          <p:cNvSpPr/>
          <p:nvPr/>
        </p:nvSpPr>
        <p:spPr>
          <a:xfrm>
            <a:off x="4419600" y="2434590"/>
            <a:ext cx="304800" cy="274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cxnSp>
        <p:nvCxnSpPr>
          <p:cNvPr id="244" name="Google Shape;244;h11a342068904e6d2_0_909"/>
          <p:cNvCxnSpPr/>
          <p:nvPr/>
        </p:nvCxnSpPr>
        <p:spPr>
          <a:xfrm>
            <a:off x="0" y="3268978"/>
            <a:ext cx="9144000" cy="0"/>
          </a:xfrm>
          <a:prstGeom prst="straightConnector1">
            <a:avLst/>
          </a:prstGeom>
          <a:noFill/>
          <a:ln cap="flat" cmpd="sng" w="9525">
            <a:solidFill>
              <a:srgbClr val="595959"/>
            </a:solidFill>
            <a:prstDash val="solid"/>
            <a:miter lim="800000"/>
            <a:headEnd len="sm" w="sm" type="none"/>
            <a:tailEnd len="sm" w="sm" type="none"/>
          </a:ln>
        </p:spPr>
      </p:cxnSp>
      <p:sp>
        <p:nvSpPr>
          <p:cNvPr id="245" name="Google Shape;245;h11a342068904e6d2_0_909"/>
          <p:cNvSpPr txBox="1"/>
          <p:nvPr/>
        </p:nvSpPr>
        <p:spPr>
          <a:xfrm>
            <a:off x="337728" y="4312141"/>
            <a:ext cx="8485500" cy="523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400" u="none" strike="noStrike">
                <a:solidFill>
                  <a:schemeClr val="lt1"/>
                </a:solidFill>
                <a:latin typeface="Calibri"/>
                <a:ea typeface="Calibri"/>
                <a:cs typeface="Calibri"/>
                <a:sym typeface="Calibri"/>
              </a:rPr>
              <a:t>Etienne Frumence</a:t>
            </a:r>
            <a:r>
              <a:rPr baseline="30000" lang="en-US" sz="1400">
                <a:solidFill>
                  <a:schemeClr val="lt1"/>
                </a:solidFill>
                <a:latin typeface="Calibri"/>
                <a:ea typeface="Calibri"/>
                <a:cs typeface="Calibri"/>
                <a:sym typeface="Calibri"/>
              </a:rPr>
              <a:t>@,</a:t>
            </a:r>
            <a:r>
              <a:rPr lang="en-US" sz="1400">
                <a:solidFill>
                  <a:schemeClr val="lt1"/>
                </a:solidFill>
                <a:latin typeface="Calibri"/>
                <a:ea typeface="Calibri"/>
                <a:cs typeface="Calibri"/>
                <a:sym typeface="Calibri"/>
              </a:rPr>
              <a:t>*, </a:t>
            </a:r>
            <a:r>
              <a:rPr b="1" i="0" lang="en-US" sz="1400" u="none" strike="noStrike">
                <a:solidFill>
                  <a:schemeClr val="lt1"/>
                </a:solidFill>
                <a:latin typeface="Calibri"/>
                <a:ea typeface="Calibri"/>
                <a:cs typeface="Calibri"/>
                <a:sym typeface="Calibri"/>
              </a:rPr>
              <a:t>Raphaëlle Klitting</a:t>
            </a:r>
            <a:r>
              <a:rPr b="0" baseline="30000" i="0" lang="en-US" sz="1400" u="none" strike="noStrike">
                <a:solidFill>
                  <a:schemeClr val="lt1"/>
                </a:solidFill>
                <a:latin typeface="Calibri"/>
                <a:ea typeface="Calibri"/>
                <a:cs typeface="Calibri"/>
                <a:sym typeface="Calibri"/>
              </a:rPr>
              <a:t>,</a:t>
            </a:r>
            <a:r>
              <a:rPr b="0" i="0" lang="en-US" sz="1400" u="none" strike="noStrike">
                <a:solidFill>
                  <a:schemeClr val="lt1"/>
                </a:solidFill>
                <a:latin typeface="Calibri"/>
                <a:ea typeface="Calibri"/>
                <a:cs typeface="Calibri"/>
                <a:sym typeface="Calibri"/>
              </a:rPr>
              <a:t>*, Kyla Serres, Yucai Shao, Muriel Vincent, Mandev S. Gill, Marc A. Suchard, Philippe Lemey, Xavier de Lamballerie, Marie-Christine Jaffar-Bandjee, </a:t>
            </a:r>
            <a:r>
              <a:rPr b="1" i="0" lang="en-US" sz="1400" u="none" strike="noStrike">
                <a:solidFill>
                  <a:schemeClr val="lt1"/>
                </a:solidFill>
                <a:latin typeface="Calibri"/>
                <a:ea typeface="Calibri"/>
                <a:cs typeface="Calibri"/>
                <a:sym typeface="Calibri"/>
              </a:rPr>
              <a:t>Simon Dellicour</a:t>
            </a:r>
            <a:r>
              <a:rPr b="0" baseline="30000" i="0" lang="en-US" sz="1400" u="none" strike="noStrike">
                <a:solidFill>
                  <a:schemeClr val="lt1"/>
                </a:solidFill>
                <a:latin typeface="Calibri"/>
                <a:ea typeface="Calibri"/>
                <a:cs typeface="Calibri"/>
                <a:sym typeface="Calibri"/>
              </a:rPr>
              <a:t>@</a:t>
            </a:r>
            <a:endParaRPr sz="1400">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h11a342068904e6d2_0_288"/>
          <p:cNvSpPr txBox="1"/>
          <p:nvPr>
            <p:ph idx="4294967295" type="title"/>
          </p:nvPr>
        </p:nvSpPr>
        <p:spPr>
          <a:xfrm>
            <a:off x="437371" y="208093"/>
            <a:ext cx="7823700" cy="654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595959"/>
              </a:buClr>
              <a:buSzPts val="2700"/>
              <a:buFont typeface="Poppins"/>
              <a:buNone/>
            </a:pPr>
            <a:r>
              <a:rPr b="1" lang="en-US" sz="2400">
                <a:solidFill>
                  <a:srgbClr val="073763"/>
                </a:solidFill>
                <a:latin typeface="Helvetica Neue"/>
                <a:ea typeface="Helvetica Neue"/>
                <a:cs typeface="Helvetica Neue"/>
                <a:sym typeface="Helvetica Neue"/>
              </a:rPr>
              <a:t>C</a:t>
            </a:r>
            <a:r>
              <a:rPr b="1" lang="en-US" sz="2400">
                <a:solidFill>
                  <a:srgbClr val="073763"/>
                </a:solidFill>
                <a:latin typeface="Helvetica Neue"/>
                <a:ea typeface="Helvetica Neue"/>
                <a:cs typeface="Helvetica Neue"/>
                <a:sym typeface="Helvetica Neue"/>
              </a:rPr>
              <a:t>hikungunya epidemic on Réunion island 2024-2025</a:t>
            </a:r>
            <a:endParaRPr b="1" sz="2400">
              <a:solidFill>
                <a:srgbClr val="073763"/>
              </a:solidFill>
              <a:latin typeface="Helvetica Neue"/>
              <a:ea typeface="Helvetica Neue"/>
              <a:cs typeface="Helvetica Neue"/>
              <a:sym typeface="Helvetica Neue"/>
            </a:endParaRPr>
          </a:p>
        </p:txBody>
      </p:sp>
      <p:cxnSp>
        <p:nvCxnSpPr>
          <p:cNvPr id="251" name="Google Shape;251;h11a342068904e6d2_0_288"/>
          <p:cNvCxnSpPr/>
          <p:nvPr/>
        </p:nvCxnSpPr>
        <p:spPr>
          <a:xfrm flipH="1" rot="10800000">
            <a:off x="478339" y="945575"/>
            <a:ext cx="7873200" cy="33600"/>
          </a:xfrm>
          <a:prstGeom prst="straightConnector1">
            <a:avLst/>
          </a:prstGeom>
          <a:noFill/>
          <a:ln cap="flat" cmpd="sng" w="28575">
            <a:solidFill>
              <a:srgbClr val="FF9900"/>
            </a:solidFill>
            <a:prstDash val="solid"/>
            <a:round/>
            <a:headEnd len="sm" w="sm" type="none"/>
            <a:tailEnd len="sm" w="sm" type="none"/>
          </a:ln>
        </p:spPr>
      </p:cxnSp>
      <p:sp>
        <p:nvSpPr>
          <p:cNvPr id="252" name="Google Shape;252;h11a342068904e6d2_0_288"/>
          <p:cNvSpPr txBox="1"/>
          <p:nvPr/>
        </p:nvSpPr>
        <p:spPr>
          <a:xfrm>
            <a:off x="337725" y="1283449"/>
            <a:ext cx="5650200" cy="3519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i="1" lang="en-US" sz="1500">
                <a:solidFill>
                  <a:schemeClr val="dk2"/>
                </a:solidFill>
                <a:highlight>
                  <a:schemeClr val="lt1"/>
                </a:highlight>
                <a:latin typeface="Helvetica Neue Light"/>
                <a:ea typeface="Helvetica Neue Light"/>
                <a:cs typeface="Helvetica Neue Light"/>
                <a:sym typeface="Helvetica Neue Light"/>
              </a:rPr>
              <a:t>Aedes albopictus</a:t>
            </a:r>
            <a:endParaRPr i="1" sz="1500">
              <a:solidFill>
                <a:schemeClr val="dk2"/>
              </a:solidFill>
              <a:highlight>
                <a:schemeClr val="lt1"/>
              </a:highlight>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rPr lang="en-US" sz="1500">
                <a:solidFill>
                  <a:schemeClr val="dk2"/>
                </a:solidFill>
                <a:highlight>
                  <a:schemeClr val="lt1"/>
                </a:highlight>
                <a:latin typeface="Helvetica Neue Light"/>
                <a:ea typeface="Helvetica Neue Light"/>
                <a:cs typeface="Helvetica Neue Light"/>
                <a:sym typeface="Helvetica Neue Light"/>
              </a:rPr>
              <a:t>	&gt; present across the island</a:t>
            </a:r>
            <a:endParaRPr sz="1500">
              <a:solidFill>
                <a:schemeClr val="dk2"/>
              </a:solidFill>
              <a:highlight>
                <a:schemeClr val="lt1"/>
              </a:highlight>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rPr lang="en-US" sz="1500">
                <a:solidFill>
                  <a:schemeClr val="dk2"/>
                </a:solidFill>
                <a:highlight>
                  <a:schemeClr val="lt1"/>
                </a:highlight>
                <a:latin typeface="Helvetica Neue Light"/>
                <a:ea typeface="Helvetica Neue Light"/>
                <a:cs typeface="Helvetica Neue Light"/>
                <a:sym typeface="Helvetica Neue Light"/>
              </a:rPr>
              <a:t>	&gt; high density in urban/peri-urban areas</a:t>
            </a:r>
            <a:endParaRPr sz="1500">
              <a:solidFill>
                <a:schemeClr val="dk2"/>
              </a:solidFill>
              <a:highlight>
                <a:schemeClr val="lt1"/>
              </a:highlight>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t/>
            </a:r>
            <a:endParaRPr sz="1500">
              <a:solidFill>
                <a:schemeClr val="dk2"/>
              </a:solidFill>
              <a:highlight>
                <a:schemeClr val="lt1"/>
              </a:highlight>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rPr lang="en-US" sz="1500">
                <a:solidFill>
                  <a:schemeClr val="dk2"/>
                </a:solidFill>
                <a:highlight>
                  <a:schemeClr val="lt1"/>
                </a:highlight>
                <a:latin typeface="Helvetica Neue Light"/>
                <a:ea typeface="Helvetica Neue Light"/>
                <a:cs typeface="Helvetica Neue Light"/>
                <a:sym typeface="Helvetica Neue Light"/>
              </a:rPr>
              <a:t>2005-2006 - major epidemic of CHIKV (&gt;30% of population)</a:t>
            </a:r>
            <a:endParaRPr sz="1500">
              <a:solidFill>
                <a:schemeClr val="dk2"/>
              </a:solidFill>
              <a:highlight>
                <a:schemeClr val="lt1"/>
              </a:highlight>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t/>
            </a:r>
            <a:endParaRPr sz="1500">
              <a:solidFill>
                <a:schemeClr val="dk2"/>
              </a:solidFill>
              <a:highlight>
                <a:schemeClr val="lt1"/>
              </a:highlight>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rPr lang="en-US" sz="1500">
                <a:solidFill>
                  <a:schemeClr val="dk2"/>
                </a:solidFill>
                <a:highlight>
                  <a:schemeClr val="lt1"/>
                </a:highlight>
                <a:latin typeface="Helvetica Neue Light"/>
                <a:ea typeface="Helvetica Neue Light"/>
                <a:cs typeface="Helvetica Neue Light"/>
                <a:sym typeface="Helvetica Neue Light"/>
              </a:rPr>
              <a:t>Aug. 2024 first case detected</a:t>
            </a:r>
            <a:endParaRPr sz="1500">
              <a:solidFill>
                <a:schemeClr val="dk2"/>
              </a:solidFill>
              <a:highlight>
                <a:schemeClr val="lt1"/>
              </a:highlight>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rPr lang="en-US" sz="1500">
                <a:solidFill>
                  <a:schemeClr val="dk2"/>
                </a:solidFill>
                <a:highlight>
                  <a:schemeClr val="lt1"/>
                </a:highlight>
                <a:latin typeface="Helvetica Neue Light"/>
                <a:ea typeface="Helvetica Neue Light"/>
                <a:cs typeface="Helvetica Neue Light"/>
                <a:sym typeface="Helvetica Neue Light"/>
              </a:rPr>
              <a:t>	&gt; low-level circulation up to the end of 2024</a:t>
            </a:r>
            <a:endParaRPr sz="1500">
              <a:solidFill>
                <a:schemeClr val="dk2"/>
              </a:solidFill>
              <a:highlight>
                <a:schemeClr val="lt1"/>
              </a:highlight>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rPr lang="en-US" sz="1500">
                <a:solidFill>
                  <a:schemeClr val="dk2"/>
                </a:solidFill>
                <a:highlight>
                  <a:schemeClr val="lt1"/>
                </a:highlight>
                <a:latin typeface="Helvetica Neue Light"/>
                <a:ea typeface="Helvetica Neue Light"/>
                <a:cs typeface="Helvetica Neue Light"/>
                <a:sym typeface="Helvetica Neue Light"/>
              </a:rPr>
              <a:t>	&gt; major epidemic in 2025 &gt; 54000 conf. cases</a:t>
            </a:r>
            <a:endParaRPr sz="1500">
              <a:solidFill>
                <a:schemeClr val="dk2"/>
              </a:solidFill>
              <a:highlight>
                <a:schemeClr val="lt1"/>
              </a:highlight>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t/>
            </a:r>
            <a:endParaRPr sz="1500">
              <a:solidFill>
                <a:schemeClr val="dk2"/>
              </a:solidFill>
              <a:highlight>
                <a:schemeClr val="lt1"/>
              </a:highlight>
              <a:latin typeface="Helvetica Neue Light"/>
              <a:ea typeface="Helvetica Neue Light"/>
              <a:cs typeface="Helvetica Neue Light"/>
              <a:sym typeface="Helvetica Neue Light"/>
            </a:endParaRPr>
          </a:p>
        </p:txBody>
      </p:sp>
      <p:sp>
        <p:nvSpPr>
          <p:cNvPr id="253" name="Google Shape;253;h11a342068904e6d2_0_288"/>
          <p:cNvSpPr txBox="1"/>
          <p:nvPr/>
        </p:nvSpPr>
        <p:spPr>
          <a:xfrm>
            <a:off x="429902" y="3972074"/>
            <a:ext cx="4032300" cy="65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lang="en-US" sz="1600">
                <a:solidFill>
                  <a:schemeClr val="dk2"/>
                </a:solidFill>
                <a:latin typeface="Helvetica Neue"/>
                <a:ea typeface="Helvetica Neue"/>
                <a:cs typeface="Helvetica Neue"/>
                <a:sym typeface="Helvetica Neue"/>
              </a:rPr>
              <a:t>&gt;3000 </a:t>
            </a:r>
            <a:r>
              <a:rPr lang="en-US" sz="1600">
                <a:solidFill>
                  <a:schemeClr val="dk2"/>
                </a:solidFill>
                <a:latin typeface="Helvetica Neue Light"/>
                <a:ea typeface="Helvetica Neue Light"/>
                <a:cs typeface="Helvetica Neue Light"/>
                <a:sym typeface="Helvetica Neue Light"/>
              </a:rPr>
              <a:t>viral genomes</a:t>
            </a:r>
            <a:endParaRPr sz="1600">
              <a:solidFill>
                <a:schemeClr val="dk2"/>
              </a:solidFill>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2"/>
                </a:solidFill>
                <a:latin typeface="Helvetica Neue"/>
                <a:ea typeface="Helvetica Neue"/>
                <a:cs typeface="Helvetica Neue"/>
                <a:sym typeface="Helvetica Neue"/>
              </a:rPr>
              <a:t>&gt;5% </a:t>
            </a:r>
            <a:r>
              <a:rPr lang="en-US" sz="1600">
                <a:solidFill>
                  <a:schemeClr val="dk2"/>
                </a:solidFill>
                <a:latin typeface="Helvetica Neue Light"/>
                <a:ea typeface="Helvetica Neue Light"/>
                <a:cs typeface="Helvetica Neue Light"/>
                <a:sym typeface="Helvetica Neue Light"/>
              </a:rPr>
              <a:t>of cases</a:t>
            </a:r>
            <a:r>
              <a:rPr b="0" i="0" lang="en-US" sz="1600" u="none" cap="none" strike="noStrike">
                <a:solidFill>
                  <a:schemeClr val="dk2"/>
                </a:solidFill>
                <a:latin typeface="Helvetica Neue Light"/>
                <a:ea typeface="Helvetica Neue Light"/>
                <a:cs typeface="Helvetica Neue Light"/>
                <a:sym typeface="Helvetica Neue Light"/>
              </a:rPr>
              <a:t> s</a:t>
            </a:r>
            <a:r>
              <a:rPr lang="en-US" sz="1600">
                <a:solidFill>
                  <a:schemeClr val="dk2"/>
                </a:solidFill>
                <a:latin typeface="Helvetica Neue Light"/>
                <a:ea typeface="Helvetica Neue Light"/>
                <a:cs typeface="Helvetica Neue Light"/>
                <a:sym typeface="Helvetica Neue Light"/>
              </a:rPr>
              <a:t>equenced</a:t>
            </a:r>
            <a:endParaRPr b="0" i="0" sz="1600" u="none" cap="none" strike="noStrike">
              <a:solidFill>
                <a:schemeClr val="dk2"/>
              </a:solidFill>
              <a:latin typeface="Helvetica Neue Light"/>
              <a:ea typeface="Helvetica Neue Light"/>
              <a:cs typeface="Helvetica Neue Light"/>
              <a:sym typeface="Helvetica Neue Light"/>
            </a:endParaRPr>
          </a:p>
        </p:txBody>
      </p:sp>
      <p:pic>
        <p:nvPicPr>
          <p:cNvPr id="254" name="Google Shape;254;h11a342068904e6d2_0_288"/>
          <p:cNvPicPr preferRelativeResize="0"/>
          <p:nvPr/>
        </p:nvPicPr>
        <p:blipFill rotWithShape="1">
          <a:blip r:embed="rId3">
            <a:alphaModFix/>
          </a:blip>
          <a:srcRect b="0" l="0" r="0" t="0"/>
          <a:stretch/>
        </p:blipFill>
        <p:spPr>
          <a:xfrm>
            <a:off x="6170042" y="1863812"/>
            <a:ext cx="2104188" cy="1283042"/>
          </a:xfrm>
          <a:prstGeom prst="rect">
            <a:avLst/>
          </a:prstGeom>
          <a:noFill/>
          <a:ln>
            <a:noFill/>
          </a:ln>
        </p:spPr>
      </p:pic>
      <p:pic>
        <p:nvPicPr>
          <p:cNvPr id="255" name="Google Shape;255;h11a342068904e6d2_0_288"/>
          <p:cNvPicPr preferRelativeResize="0"/>
          <p:nvPr/>
        </p:nvPicPr>
        <p:blipFill rotWithShape="1">
          <a:blip r:embed="rId4">
            <a:alphaModFix/>
          </a:blip>
          <a:srcRect b="0" l="0" r="0" t="0"/>
          <a:stretch/>
        </p:blipFill>
        <p:spPr>
          <a:xfrm>
            <a:off x="6170042" y="3282469"/>
            <a:ext cx="2071296" cy="1283042"/>
          </a:xfrm>
          <a:prstGeom prst="rect">
            <a:avLst/>
          </a:prstGeom>
          <a:noFill/>
          <a:ln>
            <a:noFill/>
          </a:ln>
        </p:spPr>
      </p:pic>
      <p:sp>
        <p:nvSpPr>
          <p:cNvPr id="256" name="Google Shape;256;h11a342068904e6d2_0_288"/>
          <p:cNvSpPr txBox="1"/>
          <p:nvPr/>
        </p:nvSpPr>
        <p:spPr>
          <a:xfrm>
            <a:off x="6061555" y="1245675"/>
            <a:ext cx="4032300" cy="44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lang="en-US" sz="1600">
                <a:solidFill>
                  <a:srgbClr val="434343"/>
                </a:solidFill>
                <a:latin typeface="Helvetica Neue"/>
                <a:ea typeface="Helvetica Neue"/>
                <a:cs typeface="Helvetica Neue"/>
                <a:sym typeface="Helvetica Neue"/>
              </a:rPr>
              <a:t>Excellent representativity !! </a:t>
            </a:r>
            <a:endParaRPr b="0" i="0" sz="1600" u="none" cap="none" strike="noStrike">
              <a:solidFill>
                <a:srgbClr val="434343"/>
              </a:solidFill>
              <a:latin typeface="Helvetica Neue Light"/>
              <a:ea typeface="Helvetica Neue Light"/>
              <a:cs typeface="Helvetica Neue Light"/>
              <a:sym typeface="Helvetica Neue Light"/>
            </a:endParaRPr>
          </a:p>
        </p:txBody>
      </p:sp>
      <p:pic>
        <p:nvPicPr>
          <p:cNvPr id="257" name="Google Shape;257;h11a342068904e6d2_0_288"/>
          <p:cNvPicPr preferRelativeResize="0"/>
          <p:nvPr/>
        </p:nvPicPr>
        <p:blipFill>
          <a:blip r:embed="rId5">
            <a:alphaModFix/>
          </a:blip>
          <a:stretch>
            <a:fillRect/>
          </a:stretch>
        </p:blipFill>
        <p:spPr>
          <a:xfrm>
            <a:off x="8241338" y="1821712"/>
            <a:ext cx="386375" cy="5020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h11a342068904e6d2_0_295"/>
          <p:cNvSpPr txBox="1"/>
          <p:nvPr>
            <p:ph idx="4294967295" type="title"/>
          </p:nvPr>
        </p:nvSpPr>
        <p:spPr>
          <a:xfrm>
            <a:off x="688657" y="6836"/>
            <a:ext cx="7823700" cy="654900"/>
          </a:xfrm>
          <a:prstGeom prst="rect">
            <a:avLst/>
          </a:prstGeom>
          <a:noFill/>
          <a:ln>
            <a:noFill/>
          </a:ln>
        </p:spPr>
        <p:txBody>
          <a:bodyPr anchorCtr="0" anchor="b" bIns="34275" lIns="68575" spcFirstLastPara="1" rIns="68575" wrap="square" tIns="34275">
            <a:normAutofit fontScale="90000"/>
          </a:bodyPr>
          <a:lstStyle/>
          <a:p>
            <a:pPr indent="0" lvl="0" marL="0" rtl="0" algn="l">
              <a:lnSpc>
                <a:spcPct val="90000"/>
              </a:lnSpc>
              <a:spcBef>
                <a:spcPts val="0"/>
              </a:spcBef>
              <a:spcAft>
                <a:spcPts val="0"/>
              </a:spcAft>
              <a:buClr>
                <a:srgbClr val="595959"/>
              </a:buClr>
              <a:buSzPct val="96429"/>
              <a:buFont typeface="Poppins"/>
              <a:buNone/>
            </a:pPr>
            <a:r>
              <a:rPr b="1" lang="en-US">
                <a:solidFill>
                  <a:srgbClr val="073763"/>
                </a:solidFill>
                <a:latin typeface="Helvetica Neue"/>
                <a:ea typeface="Helvetica Neue"/>
                <a:cs typeface="Helvetica Neue"/>
                <a:sym typeface="Helvetica Neue"/>
              </a:rPr>
              <a:t>An epidemic lineage </a:t>
            </a:r>
            <a:r>
              <a:rPr b="1" lang="en-US">
                <a:solidFill>
                  <a:srgbClr val="073763"/>
                </a:solidFill>
                <a:latin typeface="Helvetica Neue"/>
                <a:ea typeface="Helvetica Neue"/>
                <a:cs typeface="Helvetica Neue"/>
                <a:sym typeface="Helvetica Neue"/>
              </a:rPr>
              <a:t>particularly</a:t>
            </a:r>
            <a:r>
              <a:rPr b="1" lang="en-US">
                <a:solidFill>
                  <a:srgbClr val="073763"/>
                </a:solidFill>
                <a:latin typeface="Helvetica Neue"/>
                <a:ea typeface="Helvetica Neue"/>
                <a:cs typeface="Helvetica Neue"/>
                <a:sym typeface="Helvetica Neue"/>
              </a:rPr>
              <a:t> fit for albopictus</a:t>
            </a:r>
            <a:endParaRPr b="1">
              <a:solidFill>
                <a:srgbClr val="073763"/>
              </a:solidFill>
              <a:latin typeface="Helvetica Neue"/>
              <a:ea typeface="Helvetica Neue"/>
              <a:cs typeface="Helvetica Neue"/>
              <a:sym typeface="Helvetica Neue"/>
            </a:endParaRPr>
          </a:p>
        </p:txBody>
      </p:sp>
      <p:cxnSp>
        <p:nvCxnSpPr>
          <p:cNvPr id="263" name="Google Shape;263;h11a342068904e6d2_0_295"/>
          <p:cNvCxnSpPr/>
          <p:nvPr/>
        </p:nvCxnSpPr>
        <p:spPr>
          <a:xfrm flipH="1" rot="10800000">
            <a:off x="729625" y="775218"/>
            <a:ext cx="7315200" cy="2700"/>
          </a:xfrm>
          <a:prstGeom prst="straightConnector1">
            <a:avLst/>
          </a:prstGeom>
          <a:noFill/>
          <a:ln cap="flat" cmpd="sng" w="28575">
            <a:solidFill>
              <a:srgbClr val="FF9900"/>
            </a:solidFill>
            <a:prstDash val="solid"/>
            <a:round/>
            <a:headEnd len="sm" w="sm" type="none"/>
            <a:tailEnd len="sm" w="sm" type="none"/>
          </a:ln>
        </p:spPr>
      </p:cxnSp>
      <p:sp>
        <p:nvSpPr>
          <p:cNvPr id="264" name="Google Shape;264;h11a342068904e6d2_0_295"/>
          <p:cNvSpPr/>
          <p:nvPr/>
        </p:nvSpPr>
        <p:spPr>
          <a:xfrm>
            <a:off x="3661825" y="954985"/>
            <a:ext cx="762000" cy="317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h11a342068904e6d2_0_295"/>
          <p:cNvSpPr/>
          <p:nvPr/>
        </p:nvSpPr>
        <p:spPr>
          <a:xfrm>
            <a:off x="4095750" y="870310"/>
            <a:ext cx="888900" cy="180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h11a342068904e6d2_0_295"/>
          <p:cNvSpPr/>
          <p:nvPr/>
        </p:nvSpPr>
        <p:spPr>
          <a:xfrm>
            <a:off x="3407825" y="2097985"/>
            <a:ext cx="2243700" cy="20001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h11a342068904e6d2_0_295"/>
          <p:cNvSpPr/>
          <p:nvPr/>
        </p:nvSpPr>
        <p:spPr>
          <a:xfrm>
            <a:off x="3958175" y="869010"/>
            <a:ext cx="1322700" cy="180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h11a342068904e6d2_0_295"/>
          <p:cNvSpPr txBox="1"/>
          <p:nvPr/>
        </p:nvSpPr>
        <p:spPr>
          <a:xfrm>
            <a:off x="598751" y="1044679"/>
            <a:ext cx="5135400" cy="160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2"/>
                </a:solidFill>
                <a:highlight>
                  <a:schemeClr val="lt1"/>
                </a:highlight>
                <a:latin typeface="Helvetica Neue Light"/>
                <a:ea typeface="Helvetica Neue Light"/>
                <a:cs typeface="Helvetica Neue Light"/>
                <a:sym typeface="Helvetica Neue Light"/>
              </a:rPr>
              <a:t>&gt; Unique lineage, distinct from the one circulating in 2005-2006</a:t>
            </a:r>
            <a:endParaRPr>
              <a:solidFill>
                <a:schemeClr val="dk2"/>
              </a:solidFill>
              <a:highlight>
                <a:schemeClr val="lt1"/>
              </a:highlight>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a:solidFill>
                <a:schemeClr val="dk2"/>
              </a:solidFill>
              <a:highlight>
                <a:schemeClr val="lt1"/>
              </a:highlight>
              <a:latin typeface="Helvetica Neue Light"/>
              <a:ea typeface="Helvetica Neue Light"/>
              <a:cs typeface="Helvetica Neue Light"/>
              <a:sym typeface="Helvetica Neue Light"/>
            </a:endParaRPr>
          </a:p>
          <a:p>
            <a:pPr indent="0" lvl="0" marL="0" rtl="0" algn="l">
              <a:spcBef>
                <a:spcPts val="0"/>
              </a:spcBef>
              <a:spcAft>
                <a:spcPts val="0"/>
              </a:spcAft>
              <a:buNone/>
            </a:pPr>
            <a:r>
              <a:rPr lang="en-US">
                <a:solidFill>
                  <a:schemeClr val="dk2"/>
                </a:solidFill>
                <a:highlight>
                  <a:schemeClr val="lt1"/>
                </a:highlight>
                <a:latin typeface="Helvetica Neue Light"/>
                <a:ea typeface="Helvetica Neue Light"/>
                <a:cs typeface="Helvetica Neue Light"/>
                <a:sym typeface="Helvetica Neue Light"/>
              </a:rPr>
              <a:t>&gt; Mutations favoring transmission by </a:t>
            </a:r>
            <a:r>
              <a:rPr i="1" lang="en-US">
                <a:solidFill>
                  <a:schemeClr val="dk2"/>
                </a:solidFill>
                <a:highlight>
                  <a:schemeClr val="lt1"/>
                </a:highlight>
                <a:latin typeface="Helvetica Neue Light"/>
                <a:ea typeface="Helvetica Neue Light"/>
                <a:cs typeface="Helvetica Neue Light"/>
                <a:sym typeface="Helvetica Neue Light"/>
              </a:rPr>
              <a:t>Ae. albopictus</a:t>
            </a:r>
            <a:r>
              <a:rPr lang="en-US">
                <a:solidFill>
                  <a:schemeClr val="dk2"/>
                </a:solidFill>
                <a:highlight>
                  <a:schemeClr val="lt1"/>
                </a:highlight>
                <a:latin typeface="Helvetica Neue Light"/>
                <a:ea typeface="Helvetica Neue Light"/>
                <a:cs typeface="Helvetica Neue Light"/>
                <a:sym typeface="Helvetica Neue Light"/>
              </a:rPr>
              <a:t> (E1-A226V, E2-I210Q, L211T)</a:t>
            </a:r>
            <a:endParaRPr>
              <a:solidFill>
                <a:schemeClr val="dk2"/>
              </a:solidFill>
              <a:highlight>
                <a:schemeClr val="lt1"/>
              </a:highlight>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a:solidFill>
                <a:schemeClr val="dk2"/>
              </a:solidFill>
              <a:highlight>
                <a:schemeClr val="lt1"/>
              </a:highlight>
              <a:latin typeface="Helvetica Neue Light"/>
              <a:ea typeface="Helvetica Neue Light"/>
              <a:cs typeface="Helvetica Neue Light"/>
              <a:sym typeface="Helvetica Neue Light"/>
            </a:endParaRPr>
          </a:p>
          <a:p>
            <a:pPr indent="0" lvl="0" marL="0" rtl="0" algn="l">
              <a:spcBef>
                <a:spcPts val="0"/>
              </a:spcBef>
              <a:spcAft>
                <a:spcPts val="0"/>
              </a:spcAft>
              <a:buNone/>
            </a:pPr>
            <a:r>
              <a:rPr lang="en-US">
                <a:solidFill>
                  <a:schemeClr val="dk2"/>
                </a:solidFill>
                <a:highlight>
                  <a:schemeClr val="lt1"/>
                </a:highlight>
                <a:latin typeface="Helvetica Neue Light"/>
                <a:ea typeface="Helvetica Neue Light"/>
                <a:cs typeface="Helvetica Neue Light"/>
                <a:sym typeface="Helvetica Neue Light"/>
              </a:rPr>
              <a:t>&gt; Then detected in the Indian Ocean, Europe, China</a:t>
            </a:r>
            <a:endParaRPr>
              <a:solidFill>
                <a:schemeClr val="dk2"/>
              </a:solidFill>
              <a:highlight>
                <a:schemeClr val="accent6"/>
              </a:highlight>
              <a:latin typeface="Helvetica Neue Light"/>
              <a:ea typeface="Helvetica Neue Light"/>
              <a:cs typeface="Helvetica Neue Light"/>
              <a:sym typeface="Helvetica Neue Light"/>
            </a:endParaRPr>
          </a:p>
        </p:txBody>
      </p:sp>
      <p:pic>
        <p:nvPicPr>
          <p:cNvPr id="269" name="Google Shape;269;h11a342068904e6d2_0_295" title="Screenshot from 2026-04-22 15-22-15.png"/>
          <p:cNvPicPr preferRelativeResize="0"/>
          <p:nvPr/>
        </p:nvPicPr>
        <p:blipFill>
          <a:blip r:embed="rId3">
            <a:alphaModFix/>
          </a:blip>
          <a:stretch>
            <a:fillRect/>
          </a:stretch>
        </p:blipFill>
        <p:spPr>
          <a:xfrm>
            <a:off x="6140463" y="922655"/>
            <a:ext cx="2648813" cy="3758576"/>
          </a:xfrm>
          <a:prstGeom prst="rect">
            <a:avLst/>
          </a:prstGeom>
          <a:noFill/>
          <a:ln>
            <a:noFill/>
          </a:ln>
        </p:spPr>
      </p:pic>
      <p:pic>
        <p:nvPicPr>
          <p:cNvPr id="270" name="Google Shape;270;h11a342068904e6d2_0_295" title="Screenshot from 2026-04-28 12-06-23.png"/>
          <p:cNvPicPr preferRelativeResize="0"/>
          <p:nvPr/>
        </p:nvPicPr>
        <p:blipFill rotWithShape="1">
          <a:blip r:embed="rId4">
            <a:alphaModFix/>
          </a:blip>
          <a:srcRect b="40238" l="31811" r="22504" t="0"/>
          <a:stretch/>
        </p:blipFill>
        <p:spPr>
          <a:xfrm>
            <a:off x="538699" y="2832942"/>
            <a:ext cx="2435900" cy="2110700"/>
          </a:xfrm>
          <a:prstGeom prst="rect">
            <a:avLst/>
          </a:prstGeom>
          <a:noFill/>
          <a:ln cap="flat" cmpd="sng" w="9525">
            <a:solidFill>
              <a:srgbClr val="0C2D9A"/>
            </a:solidFill>
            <a:prstDash val="solid"/>
            <a:round/>
            <a:headEnd len="sm" w="sm" type="none"/>
            <a:tailEnd len="sm" w="sm" type="none"/>
          </a:ln>
        </p:spPr>
      </p:pic>
      <p:sp>
        <p:nvSpPr>
          <p:cNvPr id="271" name="Google Shape;271;h11a342068904e6d2_0_295"/>
          <p:cNvSpPr txBox="1"/>
          <p:nvPr/>
        </p:nvSpPr>
        <p:spPr>
          <a:xfrm>
            <a:off x="3005850" y="2764455"/>
            <a:ext cx="1978800" cy="71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a:solidFill>
                  <a:srgbClr val="062C75"/>
                </a:solidFill>
                <a:latin typeface="Helvetica Neue Light"/>
                <a:ea typeface="Helvetica Neue Light"/>
                <a:cs typeface="Helvetica Neue Light"/>
                <a:sym typeface="Helvetica Neue Light"/>
              </a:rPr>
              <a:t>Summer 2025</a:t>
            </a:r>
            <a:endParaRPr sz="1500">
              <a:solidFill>
                <a:srgbClr val="062C75"/>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500">
                <a:solidFill>
                  <a:srgbClr val="062C75"/>
                </a:solidFill>
                <a:latin typeface="Helvetica Neue Light"/>
                <a:ea typeface="Helvetica Neue Light"/>
                <a:cs typeface="Helvetica Neue Light"/>
                <a:sym typeface="Helvetica Neue Light"/>
              </a:rPr>
              <a:t>~ 800 cases</a:t>
            </a:r>
            <a:endParaRPr sz="1500">
              <a:solidFill>
                <a:srgbClr val="062C75"/>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500">
                <a:solidFill>
                  <a:srgbClr val="062C75"/>
                </a:solidFill>
                <a:latin typeface="Helvetica Neue Light"/>
                <a:ea typeface="Helvetica Neue Light"/>
                <a:cs typeface="Helvetica Neue Light"/>
                <a:sym typeface="Helvetica Neue Light"/>
              </a:rPr>
              <a:t>&gt; 80 foci</a:t>
            </a:r>
            <a:endParaRPr sz="1500">
              <a:solidFill>
                <a:srgbClr val="062C75"/>
              </a:solidFill>
              <a:latin typeface="Helvetica Neue Light"/>
              <a:ea typeface="Helvetica Neue Light"/>
              <a:cs typeface="Helvetica Neue Light"/>
              <a:sym typeface="Helvetica Neue Light"/>
            </a:endParaRPr>
          </a:p>
        </p:txBody>
      </p:sp>
      <p:sp>
        <p:nvSpPr>
          <p:cNvPr id="272" name="Google Shape;272;h11a342068904e6d2_0_295"/>
          <p:cNvSpPr txBox="1"/>
          <p:nvPr/>
        </p:nvSpPr>
        <p:spPr>
          <a:xfrm>
            <a:off x="5241838" y="4627007"/>
            <a:ext cx="3597600" cy="317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000">
                <a:solidFill>
                  <a:schemeClr val="dk2"/>
                </a:solidFill>
                <a:latin typeface="Helvetica Neue Light"/>
                <a:ea typeface="Helvetica Neue Light"/>
                <a:cs typeface="Helvetica Neue Light"/>
                <a:sym typeface="Helvetica Neue Light"/>
              </a:rPr>
              <a:t>Frumence</a:t>
            </a:r>
            <a:r>
              <a:rPr lang="en-US" sz="1000">
                <a:solidFill>
                  <a:schemeClr val="dk2"/>
                </a:solidFill>
                <a:latin typeface="Helvetica Neue Light"/>
                <a:ea typeface="Helvetica Neue Light"/>
                <a:cs typeface="Helvetica Neue Light"/>
                <a:sym typeface="Helvetica Neue Light"/>
              </a:rPr>
              <a:t> et al. Eurosurveillance. 2025</a:t>
            </a:r>
            <a:endParaRPr sz="1000">
              <a:solidFill>
                <a:schemeClr val="dk2"/>
              </a:solidFill>
              <a:latin typeface="Helvetica Neue Light"/>
              <a:ea typeface="Helvetica Neue Light"/>
              <a:cs typeface="Helvetica Neue Light"/>
              <a:sym typeface="Helvetica Neue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h11a342068904e6d2_0_320"/>
          <p:cNvSpPr txBox="1"/>
          <p:nvPr/>
        </p:nvSpPr>
        <p:spPr>
          <a:xfrm>
            <a:off x="505125" y="302063"/>
            <a:ext cx="8055600" cy="800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1" lang="en-US" sz="2300">
                <a:solidFill>
                  <a:srgbClr val="0C2D9A"/>
                </a:solidFill>
                <a:latin typeface="Calibri"/>
                <a:ea typeface="Calibri"/>
                <a:cs typeface="Calibri"/>
                <a:sym typeface="Calibri"/>
              </a:rPr>
              <a:t>Spatial</a:t>
            </a:r>
            <a:r>
              <a:rPr b="1" i="1" lang="en-US" sz="2300" u="none" cap="none" strike="noStrike">
                <a:solidFill>
                  <a:srgbClr val="0C2D9A"/>
                </a:solidFill>
                <a:latin typeface="Calibri"/>
                <a:ea typeface="Calibri"/>
                <a:cs typeface="Calibri"/>
                <a:sym typeface="Calibri"/>
              </a:rPr>
              <a:t> dispers</a:t>
            </a:r>
            <a:r>
              <a:rPr b="1" i="1" lang="en-US" sz="2300">
                <a:solidFill>
                  <a:srgbClr val="0C2D9A"/>
                </a:solidFill>
                <a:latin typeface="Calibri"/>
                <a:ea typeface="Calibri"/>
                <a:cs typeface="Calibri"/>
                <a:sym typeface="Calibri"/>
              </a:rPr>
              <a:t>al dynamics of</a:t>
            </a:r>
            <a:r>
              <a:rPr b="1" i="1" lang="en-US" sz="2300" u="none" cap="none" strike="noStrike">
                <a:solidFill>
                  <a:srgbClr val="0C2D9A"/>
                </a:solidFill>
                <a:latin typeface="Calibri"/>
                <a:ea typeface="Calibri"/>
                <a:cs typeface="Calibri"/>
                <a:sym typeface="Calibri"/>
              </a:rPr>
              <a:t> CHIKV </a:t>
            </a:r>
            <a:r>
              <a:rPr b="1" i="1" lang="en-US" sz="2300">
                <a:solidFill>
                  <a:srgbClr val="0C2D9A"/>
                </a:solidFill>
                <a:latin typeface="Calibri"/>
                <a:ea typeface="Calibri"/>
                <a:cs typeface="Calibri"/>
                <a:sym typeface="Calibri"/>
              </a:rPr>
              <a:t>on </a:t>
            </a:r>
            <a:r>
              <a:rPr b="1" i="1" lang="en-US" sz="2300" u="none" cap="none" strike="noStrike">
                <a:solidFill>
                  <a:srgbClr val="0C2D9A"/>
                </a:solidFill>
                <a:latin typeface="Calibri"/>
                <a:ea typeface="Calibri"/>
                <a:cs typeface="Calibri"/>
                <a:sym typeface="Calibri"/>
              </a:rPr>
              <a:t>Réunion is</a:t>
            </a:r>
            <a:r>
              <a:rPr b="1" i="1" lang="en-US" sz="2300">
                <a:solidFill>
                  <a:srgbClr val="0C2D9A"/>
                </a:solidFill>
                <a:latin typeface="Calibri"/>
                <a:ea typeface="Calibri"/>
                <a:cs typeface="Calibri"/>
                <a:sym typeface="Calibri"/>
              </a:rPr>
              <a:t>land in </a:t>
            </a:r>
            <a:r>
              <a:rPr b="1" i="1" lang="en-US" sz="2300" u="none" cap="none" strike="noStrike">
                <a:solidFill>
                  <a:srgbClr val="0C2D9A"/>
                </a:solidFill>
                <a:latin typeface="Calibri"/>
                <a:ea typeface="Calibri"/>
                <a:cs typeface="Calibri"/>
                <a:sym typeface="Calibri"/>
              </a:rPr>
              <a:t>2024-2025</a:t>
            </a:r>
            <a:r>
              <a:rPr b="1" i="1" lang="en-US" sz="2300">
                <a:solidFill>
                  <a:srgbClr val="0C2D9A"/>
                </a:solidFill>
                <a:latin typeface="Calibri"/>
                <a:ea typeface="Calibri"/>
                <a:cs typeface="Calibri"/>
                <a:sym typeface="Calibri"/>
              </a:rPr>
              <a:t> ?</a:t>
            </a:r>
            <a:endParaRPr b="1" i="1" sz="1700" u="none" cap="none" strike="noStrike">
              <a:solidFill>
                <a:srgbClr val="0C2D9A"/>
              </a:solidFill>
              <a:latin typeface="Arial"/>
              <a:ea typeface="Arial"/>
              <a:cs typeface="Arial"/>
              <a:sym typeface="Arial"/>
            </a:endParaRPr>
          </a:p>
        </p:txBody>
      </p:sp>
      <p:grpSp>
        <p:nvGrpSpPr>
          <p:cNvPr id="279" name="Google Shape;279;h11a342068904e6d2_0_320"/>
          <p:cNvGrpSpPr/>
          <p:nvPr/>
        </p:nvGrpSpPr>
        <p:grpSpPr>
          <a:xfrm>
            <a:off x="4675215" y="1027314"/>
            <a:ext cx="4528059" cy="3693705"/>
            <a:chOff x="4349821" y="1152885"/>
            <a:chExt cx="4528059" cy="4104116"/>
          </a:xfrm>
        </p:grpSpPr>
        <p:pic>
          <p:nvPicPr>
            <p:cNvPr id="280" name="Google Shape;280;h11a342068904e6d2_0_320"/>
            <p:cNvPicPr preferRelativeResize="0"/>
            <p:nvPr/>
          </p:nvPicPr>
          <p:blipFill rotWithShape="1">
            <a:blip r:embed="rId3">
              <a:alphaModFix/>
            </a:blip>
            <a:srcRect b="0" l="0" r="50463" t="0"/>
            <a:stretch/>
          </p:blipFill>
          <p:spPr>
            <a:xfrm>
              <a:off x="4349821" y="1533625"/>
              <a:ext cx="4122100" cy="3723376"/>
            </a:xfrm>
            <a:prstGeom prst="rect">
              <a:avLst/>
            </a:prstGeom>
            <a:noFill/>
            <a:ln>
              <a:noFill/>
            </a:ln>
          </p:spPr>
        </p:pic>
        <p:sp>
          <p:nvSpPr>
            <p:cNvPr id="281" name="Google Shape;281;h11a342068904e6d2_0_320"/>
            <p:cNvSpPr/>
            <p:nvPr/>
          </p:nvSpPr>
          <p:spPr>
            <a:xfrm rot="-1455263">
              <a:off x="7549033" y="1326638"/>
              <a:ext cx="1118093" cy="1266194"/>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cxnSp>
        <p:nvCxnSpPr>
          <p:cNvPr id="282" name="Google Shape;282;h11a342068904e6d2_0_320"/>
          <p:cNvCxnSpPr/>
          <p:nvPr/>
        </p:nvCxnSpPr>
        <p:spPr>
          <a:xfrm flipH="1" rot="-5400000">
            <a:off x="5774225" y="2559420"/>
            <a:ext cx="1544100" cy="325500"/>
          </a:xfrm>
          <a:prstGeom prst="curvedConnector3">
            <a:avLst>
              <a:gd fmla="val 50000" name="adj1"/>
            </a:avLst>
          </a:prstGeom>
          <a:noFill/>
          <a:ln cap="flat" cmpd="sng" w="19050">
            <a:solidFill>
              <a:srgbClr val="A61C00"/>
            </a:solidFill>
            <a:prstDash val="solid"/>
            <a:round/>
            <a:headEnd len="med" w="med" type="stealth"/>
            <a:tailEnd len="med" w="med" type="stealth"/>
          </a:ln>
          <a:effectLst>
            <a:outerShdw blurRad="57150" rotWithShape="0" algn="bl" dir="5400000" dist="19050">
              <a:srgbClr val="000000">
                <a:alpha val="50200"/>
              </a:srgbClr>
            </a:outerShdw>
          </a:effectLst>
        </p:spPr>
      </p:cxnSp>
      <p:sp>
        <p:nvSpPr>
          <p:cNvPr id="283" name="Google Shape;283;h11a342068904e6d2_0_320"/>
          <p:cNvSpPr/>
          <p:nvPr/>
        </p:nvSpPr>
        <p:spPr>
          <a:xfrm rot="10093903">
            <a:off x="6757010" y="3939059"/>
            <a:ext cx="88255" cy="101435"/>
          </a:xfrm>
          <a:prstGeom prst="sun">
            <a:avLst>
              <a:gd fmla="val 25000"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84" name="Google Shape;284;h11a342068904e6d2_0_320"/>
          <p:cNvSpPr/>
          <p:nvPr/>
        </p:nvSpPr>
        <p:spPr>
          <a:xfrm rot="10093252">
            <a:off x="6578597" y="3831279"/>
            <a:ext cx="129323" cy="139150"/>
          </a:xfrm>
          <a:prstGeom prst="sun">
            <a:avLst>
              <a:gd fmla="val 25000" name="adj"/>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285" name="Google Shape;285;h11a342068904e6d2_0_320"/>
          <p:cNvCxnSpPr>
            <a:stCxn id="283" idx="1"/>
            <a:endCxn id="284" idx="2"/>
          </p:cNvCxnSpPr>
          <p:nvPr/>
        </p:nvCxnSpPr>
        <p:spPr>
          <a:xfrm rot="10800000">
            <a:off x="6628937" y="3832877"/>
            <a:ext cx="215400" cy="147900"/>
          </a:xfrm>
          <a:prstGeom prst="curvedConnector4">
            <a:avLst>
              <a:gd fmla="val -110705" name="adj1"/>
              <a:gd fmla="val 244332" name="adj2"/>
            </a:avLst>
          </a:prstGeom>
          <a:noFill/>
          <a:ln cap="flat" cmpd="sng" w="19050">
            <a:solidFill>
              <a:srgbClr val="A61C00"/>
            </a:solidFill>
            <a:prstDash val="solid"/>
            <a:round/>
            <a:headEnd len="sm" w="sm" type="none"/>
            <a:tailEnd len="med" w="med" type="stealth"/>
          </a:ln>
          <a:effectLst>
            <a:outerShdw blurRad="57150" rotWithShape="0" algn="bl" dir="5400000" dist="19050">
              <a:srgbClr val="000000">
                <a:alpha val="50200"/>
              </a:srgbClr>
            </a:outerShdw>
          </a:effectLst>
        </p:spPr>
      </p:cxnSp>
      <p:sp>
        <p:nvSpPr>
          <p:cNvPr id="286" name="Google Shape;286;h11a342068904e6d2_0_320"/>
          <p:cNvSpPr txBox="1"/>
          <p:nvPr/>
        </p:nvSpPr>
        <p:spPr>
          <a:xfrm>
            <a:off x="5394238" y="4779407"/>
            <a:ext cx="3597600" cy="317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000">
                <a:solidFill>
                  <a:schemeClr val="dk2"/>
                </a:solidFill>
                <a:latin typeface="Helvetica Neue Light"/>
                <a:ea typeface="Helvetica Neue Light"/>
                <a:cs typeface="Helvetica Neue Light"/>
                <a:sym typeface="Helvetica Neue Light"/>
              </a:rPr>
              <a:t>Frumence, Klitting et al. PNAS. 2026</a:t>
            </a:r>
            <a:endParaRPr sz="1000">
              <a:solidFill>
                <a:schemeClr val="dk2"/>
              </a:solidFill>
              <a:latin typeface="Helvetica Neue Light"/>
              <a:ea typeface="Helvetica Neue Light"/>
              <a:cs typeface="Helvetica Neue Light"/>
              <a:sym typeface="Helvetica Neue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grpSp>
        <p:nvGrpSpPr>
          <p:cNvPr id="292" name="Google Shape;292;h11a342068904e6d2_0_332"/>
          <p:cNvGrpSpPr/>
          <p:nvPr/>
        </p:nvGrpSpPr>
        <p:grpSpPr>
          <a:xfrm>
            <a:off x="4675215" y="1027314"/>
            <a:ext cx="4528059" cy="3693705"/>
            <a:chOff x="4349821" y="1152885"/>
            <a:chExt cx="4528059" cy="4104116"/>
          </a:xfrm>
        </p:grpSpPr>
        <p:pic>
          <p:nvPicPr>
            <p:cNvPr id="293" name="Google Shape;293;h11a342068904e6d2_0_332"/>
            <p:cNvPicPr preferRelativeResize="0"/>
            <p:nvPr/>
          </p:nvPicPr>
          <p:blipFill rotWithShape="1">
            <a:blip r:embed="rId3">
              <a:alphaModFix/>
            </a:blip>
            <a:srcRect b="0" l="0" r="50463" t="0"/>
            <a:stretch/>
          </p:blipFill>
          <p:spPr>
            <a:xfrm>
              <a:off x="4349821" y="1533625"/>
              <a:ext cx="4122100" cy="3723376"/>
            </a:xfrm>
            <a:prstGeom prst="rect">
              <a:avLst/>
            </a:prstGeom>
            <a:noFill/>
            <a:ln>
              <a:noFill/>
            </a:ln>
          </p:spPr>
        </p:pic>
        <p:sp>
          <p:nvSpPr>
            <p:cNvPr id="294" name="Google Shape;294;h11a342068904e6d2_0_332"/>
            <p:cNvSpPr/>
            <p:nvPr/>
          </p:nvSpPr>
          <p:spPr>
            <a:xfrm rot="-1455263">
              <a:off x="7549033" y="1326638"/>
              <a:ext cx="1118093" cy="1266194"/>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295" name="Google Shape;295;h11a342068904e6d2_0_332"/>
          <p:cNvSpPr txBox="1"/>
          <p:nvPr/>
        </p:nvSpPr>
        <p:spPr>
          <a:xfrm>
            <a:off x="516420" y="1583011"/>
            <a:ext cx="2252700" cy="107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700">
                <a:solidFill>
                  <a:schemeClr val="dk1"/>
                </a:solidFill>
                <a:latin typeface="Helvetica Neue Light"/>
                <a:ea typeface="Helvetica Neue Light"/>
                <a:cs typeface="Helvetica Neue Light"/>
                <a:sym typeface="Helvetica Neue Light"/>
              </a:rPr>
              <a:t>Phylogeographic inference</a:t>
            </a:r>
            <a:endParaRPr sz="1700">
              <a:solidFill>
                <a:schemeClr val="dk1"/>
              </a:solidFill>
              <a:latin typeface="Helvetica Neue Light"/>
              <a:ea typeface="Helvetica Neue Light"/>
              <a:cs typeface="Helvetica Neue Light"/>
              <a:sym typeface="Helvetica Neue Light"/>
            </a:endParaRPr>
          </a:p>
          <a:p>
            <a:pPr indent="0" lvl="0" marL="0" marR="0" rtl="0" algn="l">
              <a:spcBef>
                <a:spcPts val="0"/>
              </a:spcBef>
              <a:spcAft>
                <a:spcPts val="0"/>
              </a:spcAft>
              <a:buNone/>
            </a:pPr>
            <a:r>
              <a:t/>
            </a:r>
            <a:endParaRPr sz="1700">
              <a:solidFill>
                <a:schemeClr val="dk1"/>
              </a:solidFill>
              <a:latin typeface="Helvetica Neue Light"/>
              <a:ea typeface="Helvetica Neue Light"/>
              <a:cs typeface="Helvetica Neue Light"/>
              <a:sym typeface="Helvetica Neue Light"/>
            </a:endParaRPr>
          </a:p>
          <a:p>
            <a:pPr indent="0" lvl="0" marL="0" marR="0" rtl="0" algn="l">
              <a:spcBef>
                <a:spcPts val="0"/>
              </a:spcBef>
              <a:spcAft>
                <a:spcPts val="0"/>
              </a:spcAft>
              <a:buNone/>
            </a:pPr>
            <a:r>
              <a:t/>
            </a:r>
            <a:endParaRPr sz="1300">
              <a:solidFill>
                <a:schemeClr val="dk1"/>
              </a:solidFill>
              <a:latin typeface="Helvetica Neue Light"/>
              <a:ea typeface="Helvetica Neue Light"/>
              <a:cs typeface="Helvetica Neue Light"/>
              <a:sym typeface="Helvetica Neue Light"/>
            </a:endParaRPr>
          </a:p>
        </p:txBody>
      </p:sp>
      <p:grpSp>
        <p:nvGrpSpPr>
          <p:cNvPr id="296" name="Google Shape;296;h11a342068904e6d2_0_332"/>
          <p:cNvGrpSpPr/>
          <p:nvPr/>
        </p:nvGrpSpPr>
        <p:grpSpPr>
          <a:xfrm>
            <a:off x="5478643" y="1870510"/>
            <a:ext cx="2182925" cy="2529292"/>
            <a:chOff x="4744750" y="1705325"/>
            <a:chExt cx="2182925" cy="2810325"/>
          </a:xfrm>
        </p:grpSpPr>
        <p:cxnSp>
          <p:nvCxnSpPr>
            <p:cNvPr id="297" name="Google Shape;297;h11a342068904e6d2_0_332"/>
            <p:cNvCxnSpPr/>
            <p:nvPr/>
          </p:nvCxnSpPr>
          <p:spPr>
            <a:xfrm flipH="1">
              <a:off x="5703225" y="1705325"/>
              <a:ext cx="17700" cy="686400"/>
            </a:xfrm>
            <a:prstGeom prst="straightConnector1">
              <a:avLst/>
            </a:prstGeom>
            <a:noFill/>
            <a:ln cap="flat" cmpd="sng" w="19050">
              <a:solidFill>
                <a:srgbClr val="1155CC"/>
              </a:solidFill>
              <a:prstDash val="solid"/>
              <a:round/>
              <a:headEnd len="med" w="med" type="oval"/>
              <a:tailEnd len="med" w="med" type="none"/>
            </a:ln>
            <a:effectLst>
              <a:outerShdw blurRad="57150" rotWithShape="0" algn="bl" dir="5400000" dist="19050">
                <a:srgbClr val="000000">
                  <a:alpha val="50000"/>
                </a:srgbClr>
              </a:outerShdw>
            </a:effectLst>
          </p:spPr>
        </p:cxnSp>
        <p:cxnSp>
          <p:nvCxnSpPr>
            <p:cNvPr id="298" name="Google Shape;298;h11a342068904e6d2_0_332"/>
            <p:cNvCxnSpPr/>
            <p:nvPr/>
          </p:nvCxnSpPr>
          <p:spPr>
            <a:xfrm>
              <a:off x="4744750" y="2208200"/>
              <a:ext cx="958500" cy="189300"/>
            </a:xfrm>
            <a:prstGeom prst="straightConnector1">
              <a:avLst/>
            </a:prstGeom>
            <a:noFill/>
            <a:ln cap="flat" cmpd="sng" w="19050">
              <a:solidFill>
                <a:srgbClr val="1155CC"/>
              </a:solidFill>
              <a:prstDash val="solid"/>
              <a:round/>
              <a:headEnd len="med" w="med" type="oval"/>
              <a:tailEnd len="med" w="med" type="none"/>
            </a:ln>
            <a:effectLst>
              <a:outerShdw blurRad="57150" rotWithShape="0" algn="bl" dir="5400000" dist="19050">
                <a:srgbClr val="000000">
                  <a:alpha val="50000"/>
                </a:srgbClr>
              </a:outerShdw>
            </a:effectLst>
          </p:spPr>
        </p:cxnSp>
        <p:cxnSp>
          <p:nvCxnSpPr>
            <p:cNvPr id="299" name="Google Shape;299;h11a342068904e6d2_0_332"/>
            <p:cNvCxnSpPr/>
            <p:nvPr/>
          </p:nvCxnSpPr>
          <p:spPr>
            <a:xfrm flipH="1" rot="10800000">
              <a:off x="5194375" y="3574925"/>
              <a:ext cx="556200" cy="289800"/>
            </a:xfrm>
            <a:prstGeom prst="straightConnector1">
              <a:avLst/>
            </a:prstGeom>
            <a:noFill/>
            <a:ln cap="flat" cmpd="sng" w="19050">
              <a:solidFill>
                <a:srgbClr val="1155CC"/>
              </a:solidFill>
              <a:prstDash val="solid"/>
              <a:round/>
              <a:headEnd len="med" w="med" type="oval"/>
              <a:tailEnd len="med" w="med" type="none"/>
            </a:ln>
            <a:effectLst>
              <a:outerShdw blurRad="57150" rotWithShape="0" algn="bl" dir="5400000" dist="19050">
                <a:srgbClr val="000000">
                  <a:alpha val="50000"/>
                </a:srgbClr>
              </a:outerShdw>
            </a:effectLst>
          </p:spPr>
        </p:cxnSp>
        <p:cxnSp>
          <p:nvCxnSpPr>
            <p:cNvPr id="300" name="Google Shape;300;h11a342068904e6d2_0_332"/>
            <p:cNvCxnSpPr/>
            <p:nvPr/>
          </p:nvCxnSpPr>
          <p:spPr>
            <a:xfrm flipH="1" rot="10800000">
              <a:off x="5726825" y="3580802"/>
              <a:ext cx="17700" cy="461400"/>
            </a:xfrm>
            <a:prstGeom prst="straightConnector1">
              <a:avLst/>
            </a:prstGeom>
            <a:noFill/>
            <a:ln cap="flat" cmpd="sng" w="19050">
              <a:solidFill>
                <a:srgbClr val="1155CC"/>
              </a:solidFill>
              <a:prstDash val="solid"/>
              <a:round/>
              <a:headEnd len="med" w="med" type="oval"/>
              <a:tailEnd len="med" w="med" type="none"/>
            </a:ln>
            <a:effectLst>
              <a:outerShdw blurRad="57150" rotWithShape="0" algn="bl" dir="5400000" dist="19050">
                <a:srgbClr val="000000">
                  <a:alpha val="50000"/>
                </a:srgbClr>
              </a:outerShdw>
            </a:effectLst>
          </p:spPr>
        </p:cxnSp>
        <p:cxnSp>
          <p:nvCxnSpPr>
            <p:cNvPr id="301" name="Google Shape;301;h11a342068904e6d2_0_332"/>
            <p:cNvCxnSpPr/>
            <p:nvPr/>
          </p:nvCxnSpPr>
          <p:spPr>
            <a:xfrm flipH="1">
              <a:off x="6200175" y="3492000"/>
              <a:ext cx="59100" cy="881700"/>
            </a:xfrm>
            <a:prstGeom prst="straightConnector1">
              <a:avLst/>
            </a:prstGeom>
            <a:noFill/>
            <a:ln cap="flat" cmpd="sng" w="19050">
              <a:solidFill>
                <a:srgbClr val="1155CC"/>
              </a:solidFill>
              <a:prstDash val="solid"/>
              <a:round/>
              <a:headEnd len="med" w="med" type="none"/>
              <a:tailEnd len="med" w="med" type="oval"/>
            </a:ln>
            <a:effectLst>
              <a:outerShdw blurRad="57150" rotWithShape="0" algn="bl" dir="5400000" dist="19050">
                <a:srgbClr val="000000">
                  <a:alpha val="50000"/>
                </a:srgbClr>
              </a:outerShdw>
            </a:effectLst>
          </p:spPr>
        </p:cxnSp>
        <p:cxnSp>
          <p:nvCxnSpPr>
            <p:cNvPr id="302" name="Google Shape;302;h11a342068904e6d2_0_332"/>
            <p:cNvCxnSpPr/>
            <p:nvPr/>
          </p:nvCxnSpPr>
          <p:spPr>
            <a:xfrm flipH="1">
              <a:off x="5744575" y="3184375"/>
              <a:ext cx="402300" cy="390600"/>
            </a:xfrm>
            <a:prstGeom prst="straightConnector1">
              <a:avLst/>
            </a:prstGeom>
            <a:noFill/>
            <a:ln cap="flat" cmpd="sng" w="19050">
              <a:solidFill>
                <a:srgbClr val="1155CC"/>
              </a:solidFill>
              <a:prstDash val="solid"/>
              <a:round/>
              <a:headEnd len="med" w="med" type="none"/>
              <a:tailEnd len="med" w="med" type="none"/>
            </a:ln>
            <a:effectLst>
              <a:outerShdw blurRad="57150" rotWithShape="0" algn="bl" dir="5400000" dist="19050">
                <a:srgbClr val="000000">
                  <a:alpha val="50000"/>
                </a:srgbClr>
              </a:outerShdw>
            </a:effectLst>
          </p:spPr>
        </p:cxnSp>
        <p:cxnSp>
          <p:nvCxnSpPr>
            <p:cNvPr id="303" name="Google Shape;303;h11a342068904e6d2_0_332"/>
            <p:cNvCxnSpPr/>
            <p:nvPr/>
          </p:nvCxnSpPr>
          <p:spPr>
            <a:xfrm>
              <a:off x="5703175" y="2391600"/>
              <a:ext cx="443700" cy="810600"/>
            </a:xfrm>
            <a:prstGeom prst="straightConnector1">
              <a:avLst/>
            </a:prstGeom>
            <a:noFill/>
            <a:ln cap="flat" cmpd="sng" w="19050">
              <a:solidFill>
                <a:srgbClr val="1155CC"/>
              </a:solidFill>
              <a:prstDash val="solid"/>
              <a:round/>
              <a:headEnd len="med" w="med" type="none"/>
              <a:tailEnd len="med" w="med" type="none"/>
            </a:ln>
            <a:effectLst>
              <a:outerShdw blurRad="57150" rotWithShape="0" algn="bl" dir="5400000" dist="19050">
                <a:srgbClr val="000000">
                  <a:alpha val="50000"/>
                </a:srgbClr>
              </a:outerShdw>
            </a:effectLst>
          </p:spPr>
        </p:cxnSp>
        <p:cxnSp>
          <p:nvCxnSpPr>
            <p:cNvPr id="304" name="Google Shape;304;h11a342068904e6d2_0_332"/>
            <p:cNvCxnSpPr/>
            <p:nvPr/>
          </p:nvCxnSpPr>
          <p:spPr>
            <a:xfrm>
              <a:off x="6259275" y="3509750"/>
              <a:ext cx="668400" cy="1005900"/>
            </a:xfrm>
            <a:prstGeom prst="straightConnector1">
              <a:avLst/>
            </a:prstGeom>
            <a:noFill/>
            <a:ln cap="flat" cmpd="sng" w="19050">
              <a:solidFill>
                <a:srgbClr val="1155CC"/>
              </a:solidFill>
              <a:prstDash val="solid"/>
              <a:round/>
              <a:headEnd len="med" w="med" type="none"/>
              <a:tailEnd len="med" w="med" type="oval"/>
            </a:ln>
            <a:effectLst>
              <a:outerShdw blurRad="57150" rotWithShape="0" algn="bl" dir="5400000" dist="19050">
                <a:srgbClr val="000000">
                  <a:alpha val="50000"/>
                </a:srgbClr>
              </a:outerShdw>
            </a:effectLst>
          </p:spPr>
        </p:cxnSp>
      </p:grpSp>
      <p:cxnSp>
        <p:nvCxnSpPr>
          <p:cNvPr id="305" name="Google Shape;305;h11a342068904e6d2_0_332"/>
          <p:cNvCxnSpPr/>
          <p:nvPr/>
        </p:nvCxnSpPr>
        <p:spPr>
          <a:xfrm>
            <a:off x="6874352" y="3201655"/>
            <a:ext cx="118800" cy="298200"/>
          </a:xfrm>
          <a:prstGeom prst="straightConnector1">
            <a:avLst/>
          </a:prstGeom>
          <a:noFill/>
          <a:ln cap="flat" cmpd="sng" w="19050">
            <a:solidFill>
              <a:srgbClr val="1155CC"/>
            </a:solidFill>
            <a:prstDash val="solid"/>
            <a:round/>
            <a:headEnd len="med" w="med" type="none"/>
            <a:tailEnd len="med" w="med" type="none"/>
          </a:ln>
        </p:spPr>
      </p:cxnSp>
      <p:pic>
        <p:nvPicPr>
          <p:cNvPr id="306" name="Google Shape;306;h11a342068904e6d2_0_332"/>
          <p:cNvPicPr preferRelativeResize="0"/>
          <p:nvPr/>
        </p:nvPicPr>
        <p:blipFill rotWithShape="1">
          <a:blip r:embed="rId4">
            <a:alphaModFix/>
          </a:blip>
          <a:srcRect b="15333" l="0" r="0" t="0"/>
          <a:stretch/>
        </p:blipFill>
        <p:spPr>
          <a:xfrm>
            <a:off x="578375" y="2115214"/>
            <a:ext cx="2784404" cy="1799528"/>
          </a:xfrm>
          <a:prstGeom prst="rect">
            <a:avLst/>
          </a:prstGeom>
          <a:noFill/>
          <a:ln>
            <a:noFill/>
          </a:ln>
        </p:spPr>
      </p:pic>
      <p:sp>
        <p:nvSpPr>
          <p:cNvPr id="307" name="Google Shape;307;h11a342068904e6d2_0_332"/>
          <p:cNvSpPr/>
          <p:nvPr/>
        </p:nvSpPr>
        <p:spPr>
          <a:xfrm rot="1218056">
            <a:off x="3240824" y="1590008"/>
            <a:ext cx="591438" cy="457635"/>
          </a:xfrm>
          <a:prstGeom prst="bentArrow">
            <a:avLst>
              <a:gd fmla="val 17859" name="adj1"/>
              <a:gd fmla="val 25000" name="adj2"/>
              <a:gd fmla="val 25000" name="adj3"/>
              <a:gd fmla="val 87500" name="adj4"/>
            </a:avLst>
          </a:prstGeom>
          <a:solidFill>
            <a:srgbClr val="66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08" name="Google Shape;308;h11a342068904e6d2_0_332"/>
          <p:cNvSpPr txBox="1"/>
          <p:nvPr/>
        </p:nvSpPr>
        <p:spPr>
          <a:xfrm>
            <a:off x="505125" y="302063"/>
            <a:ext cx="8055600" cy="800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1" lang="en-US" sz="2300">
                <a:solidFill>
                  <a:srgbClr val="0C2D9A"/>
                </a:solidFill>
                <a:latin typeface="Calibri"/>
                <a:ea typeface="Calibri"/>
                <a:cs typeface="Calibri"/>
                <a:sym typeface="Calibri"/>
              </a:rPr>
              <a:t>Spatial</a:t>
            </a:r>
            <a:r>
              <a:rPr b="1" i="1" lang="en-US" sz="2300" u="none" cap="none" strike="noStrike">
                <a:solidFill>
                  <a:srgbClr val="0C2D9A"/>
                </a:solidFill>
                <a:latin typeface="Calibri"/>
                <a:ea typeface="Calibri"/>
                <a:cs typeface="Calibri"/>
                <a:sym typeface="Calibri"/>
              </a:rPr>
              <a:t> dispers</a:t>
            </a:r>
            <a:r>
              <a:rPr b="1" i="1" lang="en-US" sz="2300">
                <a:solidFill>
                  <a:srgbClr val="0C2D9A"/>
                </a:solidFill>
                <a:latin typeface="Calibri"/>
                <a:ea typeface="Calibri"/>
                <a:cs typeface="Calibri"/>
                <a:sym typeface="Calibri"/>
              </a:rPr>
              <a:t>al dynamics of</a:t>
            </a:r>
            <a:r>
              <a:rPr b="1" i="1" lang="en-US" sz="2300" u="none" cap="none" strike="noStrike">
                <a:solidFill>
                  <a:srgbClr val="0C2D9A"/>
                </a:solidFill>
                <a:latin typeface="Calibri"/>
                <a:ea typeface="Calibri"/>
                <a:cs typeface="Calibri"/>
                <a:sym typeface="Calibri"/>
              </a:rPr>
              <a:t> CHIKV </a:t>
            </a:r>
            <a:r>
              <a:rPr b="1" i="1" lang="en-US" sz="2300">
                <a:solidFill>
                  <a:srgbClr val="0C2D9A"/>
                </a:solidFill>
                <a:latin typeface="Calibri"/>
                <a:ea typeface="Calibri"/>
                <a:cs typeface="Calibri"/>
                <a:sym typeface="Calibri"/>
              </a:rPr>
              <a:t>on </a:t>
            </a:r>
            <a:r>
              <a:rPr b="1" i="1" lang="en-US" sz="2300" u="none" cap="none" strike="noStrike">
                <a:solidFill>
                  <a:srgbClr val="0C2D9A"/>
                </a:solidFill>
                <a:latin typeface="Calibri"/>
                <a:ea typeface="Calibri"/>
                <a:cs typeface="Calibri"/>
                <a:sym typeface="Calibri"/>
              </a:rPr>
              <a:t>Réunion is</a:t>
            </a:r>
            <a:r>
              <a:rPr b="1" i="1" lang="en-US" sz="2300">
                <a:solidFill>
                  <a:srgbClr val="0C2D9A"/>
                </a:solidFill>
                <a:latin typeface="Calibri"/>
                <a:ea typeface="Calibri"/>
                <a:cs typeface="Calibri"/>
                <a:sym typeface="Calibri"/>
              </a:rPr>
              <a:t>land in </a:t>
            </a:r>
            <a:r>
              <a:rPr b="1" i="1" lang="en-US" sz="2300" u="none" cap="none" strike="noStrike">
                <a:solidFill>
                  <a:srgbClr val="0C2D9A"/>
                </a:solidFill>
                <a:latin typeface="Calibri"/>
                <a:ea typeface="Calibri"/>
                <a:cs typeface="Calibri"/>
                <a:sym typeface="Calibri"/>
              </a:rPr>
              <a:t>2024-2025</a:t>
            </a:r>
            <a:r>
              <a:rPr b="1" i="1" lang="en-US" sz="2300">
                <a:solidFill>
                  <a:srgbClr val="0C2D9A"/>
                </a:solidFill>
                <a:latin typeface="Calibri"/>
                <a:ea typeface="Calibri"/>
                <a:cs typeface="Calibri"/>
                <a:sym typeface="Calibri"/>
              </a:rPr>
              <a:t> ?</a:t>
            </a:r>
            <a:endParaRPr b="1" i="1" sz="1700" u="none" cap="none" strike="noStrike">
              <a:solidFill>
                <a:srgbClr val="0C2D9A"/>
              </a:solidFill>
              <a:latin typeface="Arial"/>
              <a:ea typeface="Arial"/>
              <a:cs typeface="Arial"/>
              <a:sym typeface="Arial"/>
            </a:endParaRPr>
          </a:p>
        </p:txBody>
      </p:sp>
      <p:sp>
        <p:nvSpPr>
          <p:cNvPr id="309" name="Google Shape;309;h11a342068904e6d2_0_332"/>
          <p:cNvSpPr txBox="1"/>
          <p:nvPr/>
        </p:nvSpPr>
        <p:spPr>
          <a:xfrm>
            <a:off x="5394238" y="4779407"/>
            <a:ext cx="3597600" cy="317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000">
                <a:solidFill>
                  <a:schemeClr val="dk2"/>
                </a:solidFill>
                <a:latin typeface="Helvetica Neue Light"/>
                <a:ea typeface="Helvetica Neue Light"/>
                <a:cs typeface="Helvetica Neue Light"/>
                <a:sym typeface="Helvetica Neue Light"/>
              </a:rPr>
              <a:t>Frumence, Klitting et al. PNAS. 2026</a:t>
            </a:r>
            <a:endParaRPr sz="1000">
              <a:solidFill>
                <a:schemeClr val="dk2"/>
              </a:solidFill>
              <a:latin typeface="Helvetica Neue Light"/>
              <a:ea typeface="Helvetica Neue Light"/>
              <a:cs typeface="Helvetica Neue Light"/>
              <a:sym typeface="Helvetica Neue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pic>
        <p:nvPicPr>
          <p:cNvPr id="315" name="Google Shape;315;h11a342068904e6d2_0_357"/>
          <p:cNvPicPr preferRelativeResize="0"/>
          <p:nvPr/>
        </p:nvPicPr>
        <p:blipFill rotWithShape="1">
          <a:blip r:embed="rId3">
            <a:alphaModFix/>
          </a:blip>
          <a:srcRect b="0" l="0" r="0" t="0"/>
          <a:stretch/>
        </p:blipFill>
        <p:spPr>
          <a:xfrm>
            <a:off x="3141136" y="358140"/>
            <a:ext cx="5041869" cy="4437612"/>
          </a:xfrm>
          <a:prstGeom prst="rect">
            <a:avLst/>
          </a:prstGeom>
          <a:noFill/>
          <a:ln>
            <a:noFill/>
          </a:ln>
        </p:spPr>
      </p:pic>
      <p:sp>
        <p:nvSpPr>
          <p:cNvPr id="316" name="Google Shape;316;h11a342068904e6d2_0_357"/>
          <p:cNvSpPr txBox="1"/>
          <p:nvPr/>
        </p:nvSpPr>
        <p:spPr>
          <a:xfrm>
            <a:off x="217975" y="217575"/>
            <a:ext cx="2893800" cy="2011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1" lang="en-US" sz="1800">
                <a:solidFill>
                  <a:srgbClr val="0C2D9A"/>
                </a:solidFill>
                <a:latin typeface="Helvetica Neue"/>
                <a:ea typeface="Helvetica Neue"/>
                <a:cs typeface="Helvetica Neue"/>
                <a:sym typeface="Helvetica Neue"/>
              </a:rPr>
              <a:t>CHIKV dispersal dynamics in</a:t>
            </a:r>
            <a:r>
              <a:rPr b="1" i="1" lang="en-US" sz="1800" u="none" cap="none" strike="noStrike">
                <a:solidFill>
                  <a:srgbClr val="0C2D9A"/>
                </a:solidFill>
                <a:latin typeface="Helvetica Neue"/>
                <a:ea typeface="Helvetica Neue"/>
                <a:cs typeface="Helvetica Neue"/>
                <a:sym typeface="Helvetica Neue"/>
              </a:rPr>
              <a:t> 2024-2025</a:t>
            </a:r>
            <a:endParaRPr b="1" i="1" sz="1800" u="none" cap="none" strike="noStrike">
              <a:solidFill>
                <a:srgbClr val="0C2D9A"/>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i="0" sz="1600" u="none" cap="none" strike="noStrike">
              <a:solidFill>
                <a:srgbClr val="0C2D9A"/>
              </a:solidFill>
              <a:latin typeface="Helvetica Neue Light"/>
              <a:ea typeface="Helvetica Neue Light"/>
              <a:cs typeface="Helvetica Neue Light"/>
              <a:sym typeface="Helvetica Neue Light"/>
            </a:endParaRPr>
          </a:p>
          <a:p>
            <a:pPr indent="0" lvl="0" marL="0" marR="0" rtl="0" algn="l">
              <a:lnSpc>
                <a:spcPct val="100000"/>
              </a:lnSpc>
              <a:spcBef>
                <a:spcPts val="1000"/>
              </a:spcBef>
              <a:spcAft>
                <a:spcPts val="0"/>
              </a:spcAft>
              <a:buNone/>
            </a:pPr>
            <a:r>
              <a:rPr lang="en-US">
                <a:solidFill>
                  <a:srgbClr val="595959"/>
                </a:solidFill>
                <a:latin typeface="Helvetica Neue Light"/>
                <a:ea typeface="Helvetica Neue Light"/>
                <a:cs typeface="Helvetica Neue Light"/>
                <a:sym typeface="Helvetica Neue Light"/>
              </a:rPr>
              <a:t>&gt; Ma</a:t>
            </a:r>
            <a:r>
              <a:rPr i="0" lang="en-US" u="none" cap="none" strike="noStrike">
                <a:solidFill>
                  <a:srgbClr val="595959"/>
                </a:solidFill>
                <a:latin typeface="Helvetica Neue Light"/>
                <a:ea typeface="Helvetica Neue Light"/>
                <a:cs typeface="Helvetica Neue Light"/>
                <a:sym typeface="Helvetica Neue Light"/>
              </a:rPr>
              <a:t>j</a:t>
            </a:r>
            <a:r>
              <a:rPr lang="en-US">
                <a:solidFill>
                  <a:srgbClr val="595959"/>
                </a:solidFill>
                <a:latin typeface="Helvetica Neue Light"/>
                <a:ea typeface="Helvetica Neue Light"/>
                <a:cs typeface="Helvetica Neue Light"/>
                <a:sym typeface="Helvetica Neue Light"/>
              </a:rPr>
              <a:t>o</a:t>
            </a:r>
            <a:r>
              <a:rPr i="0" lang="en-US" u="none" cap="none" strike="noStrike">
                <a:solidFill>
                  <a:srgbClr val="595959"/>
                </a:solidFill>
                <a:latin typeface="Helvetica Neue Light"/>
                <a:ea typeface="Helvetica Neue Light"/>
                <a:cs typeface="Helvetica Neue Light"/>
                <a:sym typeface="Helvetica Neue Light"/>
              </a:rPr>
              <a:t>r role of cities </a:t>
            </a:r>
            <a:r>
              <a:rPr lang="en-US">
                <a:solidFill>
                  <a:srgbClr val="595959"/>
                </a:solidFill>
                <a:latin typeface="Helvetica Neue Light"/>
                <a:ea typeface="Helvetica Neue Light"/>
                <a:cs typeface="Helvetica Neue Light"/>
                <a:sym typeface="Helvetica Neue Light"/>
              </a:rPr>
              <a:t>in the South-west</a:t>
            </a:r>
            <a:r>
              <a:rPr i="0" lang="en-US" u="none" cap="none" strike="noStrike">
                <a:solidFill>
                  <a:srgbClr val="595959"/>
                </a:solidFill>
                <a:latin typeface="Helvetica Neue Light"/>
                <a:ea typeface="Helvetica Neue Light"/>
                <a:cs typeface="Helvetica Neue Light"/>
                <a:sym typeface="Helvetica Neue Light"/>
              </a:rPr>
              <a:t> (ex. Le Tampon)</a:t>
            </a:r>
            <a:endParaRPr i="0" u="none" cap="none" strike="noStrike">
              <a:solidFill>
                <a:srgbClr val="595959"/>
              </a:solidFill>
              <a:latin typeface="Helvetica Neue Light"/>
              <a:ea typeface="Helvetica Neue Light"/>
              <a:cs typeface="Helvetica Neue Light"/>
              <a:sym typeface="Helvetica Neue Light"/>
            </a:endParaRPr>
          </a:p>
          <a:p>
            <a:pPr indent="0" lvl="0" marL="0" marR="0" rtl="0" algn="l">
              <a:lnSpc>
                <a:spcPct val="100000"/>
              </a:lnSpc>
              <a:spcBef>
                <a:spcPts val="1000"/>
              </a:spcBef>
              <a:spcAft>
                <a:spcPts val="1000"/>
              </a:spcAft>
              <a:buNone/>
            </a:pPr>
            <a:r>
              <a:rPr lang="en-US">
                <a:solidFill>
                  <a:srgbClr val="595959"/>
                </a:solidFill>
                <a:latin typeface="Helvetica Neue Light"/>
                <a:ea typeface="Helvetica Neue Light"/>
                <a:cs typeface="Helvetica Neue Light"/>
                <a:sym typeface="Helvetica Neue Light"/>
              </a:rPr>
              <a:t>&gt; High </a:t>
            </a:r>
            <a:r>
              <a:rPr i="0" lang="en-US" u="none" cap="none" strike="noStrike">
                <a:solidFill>
                  <a:srgbClr val="595959"/>
                </a:solidFill>
                <a:latin typeface="Helvetica Neue Light"/>
                <a:ea typeface="Helvetica Neue Light"/>
                <a:cs typeface="Helvetica Neue Light"/>
                <a:sym typeface="Helvetica Neue Light"/>
              </a:rPr>
              <a:t>“intermixing” between urban centers</a:t>
            </a:r>
            <a:endParaRPr i="0" u="none" cap="none" strike="noStrike">
              <a:solidFill>
                <a:srgbClr val="595959"/>
              </a:solidFill>
              <a:latin typeface="Helvetica Neue Light"/>
              <a:ea typeface="Helvetica Neue Light"/>
              <a:cs typeface="Helvetica Neue Light"/>
              <a:sym typeface="Helvetica Neue Light"/>
            </a:endParaRPr>
          </a:p>
        </p:txBody>
      </p:sp>
      <p:sp>
        <p:nvSpPr>
          <p:cNvPr id="317" name="Google Shape;317;h11a342068904e6d2_0_357"/>
          <p:cNvSpPr txBox="1"/>
          <p:nvPr/>
        </p:nvSpPr>
        <p:spPr>
          <a:xfrm>
            <a:off x="5394238" y="4779407"/>
            <a:ext cx="3597600" cy="317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000">
                <a:solidFill>
                  <a:schemeClr val="dk2"/>
                </a:solidFill>
                <a:latin typeface="Helvetica Neue Light"/>
                <a:ea typeface="Helvetica Neue Light"/>
                <a:cs typeface="Helvetica Neue Light"/>
                <a:sym typeface="Helvetica Neue Light"/>
              </a:rPr>
              <a:t>Frumence, Klitting et al. PNAS. 2026</a:t>
            </a:r>
            <a:endParaRPr sz="1000">
              <a:solidFill>
                <a:schemeClr val="dk2"/>
              </a:solidFill>
              <a:latin typeface="Helvetica Neue Light"/>
              <a:ea typeface="Helvetica Neue Light"/>
              <a:cs typeface="Helvetica Neue Light"/>
              <a:sym typeface="Helvetica Neue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grpSp>
        <p:nvGrpSpPr>
          <p:cNvPr id="323" name="Google Shape;323;g3d5b1289de4_0_1375"/>
          <p:cNvGrpSpPr/>
          <p:nvPr/>
        </p:nvGrpSpPr>
        <p:grpSpPr>
          <a:xfrm>
            <a:off x="343954" y="164723"/>
            <a:ext cx="2825919" cy="4016678"/>
            <a:chOff x="337430" y="346125"/>
            <a:chExt cx="2825919" cy="4462975"/>
          </a:xfrm>
        </p:grpSpPr>
        <p:sp>
          <p:nvSpPr>
            <p:cNvPr id="324" name="Google Shape;324;g3d5b1289de4_0_1375"/>
            <p:cNvSpPr txBox="1"/>
            <p:nvPr/>
          </p:nvSpPr>
          <p:spPr>
            <a:xfrm>
              <a:off x="341606" y="3424174"/>
              <a:ext cx="352200" cy="39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76A5AF"/>
                  </a:solidFill>
                  <a:highlight>
                    <a:schemeClr val="lt1"/>
                  </a:highlight>
                  <a:latin typeface="Calibri"/>
                  <a:ea typeface="Calibri"/>
                  <a:cs typeface="Calibri"/>
                  <a:sym typeface="Calibri"/>
                </a:rPr>
                <a:t>A</a:t>
              </a:r>
              <a:endParaRPr b="1" i="0" sz="1200" u="none" cap="none" strike="noStrike">
                <a:solidFill>
                  <a:srgbClr val="76A5AF"/>
                </a:solidFill>
                <a:highlight>
                  <a:schemeClr val="lt1"/>
                </a:highlight>
                <a:latin typeface="Calibri"/>
                <a:ea typeface="Calibri"/>
                <a:cs typeface="Calibri"/>
                <a:sym typeface="Calibri"/>
              </a:endParaRPr>
            </a:p>
          </p:txBody>
        </p:sp>
        <p:pic>
          <p:nvPicPr>
            <p:cNvPr id="325" name="Google Shape;325;g3d5b1289de4_0_1375"/>
            <p:cNvPicPr preferRelativeResize="0"/>
            <p:nvPr/>
          </p:nvPicPr>
          <p:blipFill rotWithShape="1">
            <a:blip r:embed="rId3">
              <a:alphaModFix/>
            </a:blip>
            <a:srcRect b="0" l="51281" r="0" t="0"/>
            <a:stretch/>
          </p:blipFill>
          <p:spPr>
            <a:xfrm>
              <a:off x="358825" y="346125"/>
              <a:ext cx="2804524" cy="4462975"/>
            </a:xfrm>
            <a:prstGeom prst="rect">
              <a:avLst/>
            </a:prstGeom>
            <a:noFill/>
            <a:ln>
              <a:noFill/>
            </a:ln>
          </p:spPr>
        </p:pic>
        <p:sp>
          <p:nvSpPr>
            <p:cNvPr id="326" name="Google Shape;326;g3d5b1289de4_0_1375"/>
            <p:cNvSpPr txBox="1"/>
            <p:nvPr/>
          </p:nvSpPr>
          <p:spPr>
            <a:xfrm>
              <a:off x="345781" y="3239154"/>
              <a:ext cx="352200" cy="39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64D79"/>
                  </a:solidFill>
                  <a:highlight>
                    <a:schemeClr val="lt1"/>
                  </a:highlight>
                  <a:latin typeface="Calibri"/>
                  <a:ea typeface="Calibri"/>
                  <a:cs typeface="Calibri"/>
                  <a:sym typeface="Calibri"/>
                </a:rPr>
                <a:t>D</a:t>
              </a:r>
              <a:endParaRPr b="1" i="0" sz="1100" u="none" cap="none" strike="noStrike">
                <a:solidFill>
                  <a:srgbClr val="A64D79"/>
                </a:solidFill>
                <a:highlight>
                  <a:schemeClr val="lt1"/>
                </a:highlight>
                <a:latin typeface="Calibri"/>
                <a:ea typeface="Calibri"/>
                <a:cs typeface="Calibri"/>
                <a:sym typeface="Calibri"/>
              </a:endParaRPr>
            </a:p>
          </p:txBody>
        </p:sp>
        <p:sp>
          <p:nvSpPr>
            <p:cNvPr id="327" name="Google Shape;327;g3d5b1289de4_0_1375"/>
            <p:cNvSpPr txBox="1"/>
            <p:nvPr/>
          </p:nvSpPr>
          <p:spPr>
            <a:xfrm>
              <a:off x="337430" y="3628766"/>
              <a:ext cx="352200" cy="39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76A5AF"/>
                  </a:solidFill>
                  <a:highlight>
                    <a:schemeClr val="lt1"/>
                  </a:highlight>
                  <a:latin typeface="Calibri"/>
                  <a:ea typeface="Calibri"/>
                  <a:cs typeface="Calibri"/>
                  <a:sym typeface="Calibri"/>
                </a:rPr>
                <a:t>A</a:t>
              </a:r>
              <a:endParaRPr b="1" i="0" sz="1200" u="none" cap="none" strike="noStrike">
                <a:solidFill>
                  <a:srgbClr val="76A5AF"/>
                </a:solidFill>
                <a:highlight>
                  <a:schemeClr val="lt1"/>
                </a:highlight>
                <a:latin typeface="Calibri"/>
                <a:ea typeface="Calibri"/>
                <a:cs typeface="Calibri"/>
                <a:sym typeface="Calibri"/>
              </a:endParaRPr>
            </a:p>
          </p:txBody>
        </p:sp>
        <p:sp>
          <p:nvSpPr>
            <p:cNvPr id="328" name="Google Shape;328;g3d5b1289de4_0_1375"/>
            <p:cNvSpPr txBox="1"/>
            <p:nvPr/>
          </p:nvSpPr>
          <p:spPr>
            <a:xfrm>
              <a:off x="341606" y="3013164"/>
              <a:ext cx="352200" cy="39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64D79"/>
                  </a:solidFill>
                  <a:highlight>
                    <a:schemeClr val="lt1"/>
                  </a:highlight>
                  <a:latin typeface="Calibri"/>
                  <a:ea typeface="Calibri"/>
                  <a:cs typeface="Calibri"/>
                  <a:sym typeface="Calibri"/>
                </a:rPr>
                <a:t>D</a:t>
              </a:r>
              <a:endParaRPr b="1" i="0" sz="1100" u="none" cap="none" strike="noStrike">
                <a:solidFill>
                  <a:srgbClr val="A64D79"/>
                </a:solidFill>
                <a:highlight>
                  <a:schemeClr val="lt1"/>
                </a:highlight>
                <a:latin typeface="Calibri"/>
                <a:ea typeface="Calibri"/>
                <a:cs typeface="Calibri"/>
                <a:sym typeface="Calibri"/>
              </a:endParaRPr>
            </a:p>
          </p:txBody>
        </p:sp>
      </p:grpSp>
      <p:grpSp>
        <p:nvGrpSpPr>
          <p:cNvPr id="329" name="Google Shape;329;g3d5b1289de4_0_1375"/>
          <p:cNvGrpSpPr/>
          <p:nvPr/>
        </p:nvGrpSpPr>
        <p:grpSpPr>
          <a:xfrm>
            <a:off x="5846530" y="149233"/>
            <a:ext cx="2851492" cy="4080131"/>
            <a:chOff x="3628382" y="374575"/>
            <a:chExt cx="2851492" cy="4533479"/>
          </a:xfrm>
        </p:grpSpPr>
        <p:grpSp>
          <p:nvGrpSpPr>
            <p:cNvPr id="330" name="Google Shape;330;g3d5b1289de4_0_1375"/>
            <p:cNvGrpSpPr/>
            <p:nvPr/>
          </p:nvGrpSpPr>
          <p:grpSpPr>
            <a:xfrm>
              <a:off x="3658131" y="374575"/>
              <a:ext cx="2821743" cy="4462975"/>
              <a:chOff x="341606" y="346125"/>
              <a:chExt cx="2821743" cy="4462975"/>
            </a:xfrm>
          </p:grpSpPr>
          <p:sp>
            <p:nvSpPr>
              <p:cNvPr id="331" name="Google Shape;331;g3d5b1289de4_0_1375"/>
              <p:cNvSpPr txBox="1"/>
              <p:nvPr/>
            </p:nvSpPr>
            <p:spPr>
              <a:xfrm>
                <a:off x="341606" y="3424174"/>
                <a:ext cx="352200" cy="39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76A5AF"/>
                    </a:solidFill>
                    <a:highlight>
                      <a:schemeClr val="lt1"/>
                    </a:highlight>
                    <a:latin typeface="Calibri"/>
                    <a:ea typeface="Calibri"/>
                    <a:cs typeface="Calibri"/>
                    <a:sym typeface="Calibri"/>
                  </a:rPr>
                  <a:t>A</a:t>
                </a:r>
                <a:endParaRPr b="1" i="0" sz="1200" u="none" cap="none" strike="noStrike">
                  <a:solidFill>
                    <a:srgbClr val="76A5AF"/>
                  </a:solidFill>
                  <a:highlight>
                    <a:schemeClr val="lt1"/>
                  </a:highlight>
                  <a:latin typeface="Calibri"/>
                  <a:ea typeface="Calibri"/>
                  <a:cs typeface="Calibri"/>
                  <a:sym typeface="Calibri"/>
                </a:endParaRPr>
              </a:p>
            </p:txBody>
          </p:sp>
          <p:pic>
            <p:nvPicPr>
              <p:cNvPr id="332" name="Google Shape;332;g3d5b1289de4_0_1375"/>
              <p:cNvPicPr preferRelativeResize="0"/>
              <p:nvPr/>
            </p:nvPicPr>
            <p:blipFill rotWithShape="1">
              <a:blip r:embed="rId3">
                <a:alphaModFix/>
              </a:blip>
              <a:srcRect b="0" l="51281" r="0" t="0"/>
              <a:stretch/>
            </p:blipFill>
            <p:spPr>
              <a:xfrm>
                <a:off x="358825" y="346125"/>
                <a:ext cx="2804524" cy="4462975"/>
              </a:xfrm>
              <a:prstGeom prst="rect">
                <a:avLst/>
              </a:prstGeom>
              <a:noFill/>
              <a:ln>
                <a:noFill/>
              </a:ln>
            </p:spPr>
          </p:pic>
          <p:sp>
            <p:nvSpPr>
              <p:cNvPr id="333" name="Google Shape;333;g3d5b1289de4_0_1375"/>
              <p:cNvSpPr txBox="1"/>
              <p:nvPr/>
            </p:nvSpPr>
            <p:spPr>
              <a:xfrm>
                <a:off x="345781" y="3239154"/>
                <a:ext cx="352200" cy="39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64D79"/>
                    </a:solidFill>
                    <a:highlight>
                      <a:schemeClr val="lt1"/>
                    </a:highlight>
                    <a:latin typeface="Calibri"/>
                    <a:ea typeface="Calibri"/>
                    <a:cs typeface="Calibri"/>
                    <a:sym typeface="Calibri"/>
                  </a:rPr>
                  <a:t>D</a:t>
                </a:r>
                <a:endParaRPr b="1" i="0" sz="1100" u="none" cap="none" strike="noStrike">
                  <a:solidFill>
                    <a:srgbClr val="A64D79"/>
                  </a:solidFill>
                  <a:highlight>
                    <a:schemeClr val="lt1"/>
                  </a:highlight>
                  <a:latin typeface="Calibri"/>
                  <a:ea typeface="Calibri"/>
                  <a:cs typeface="Calibri"/>
                  <a:sym typeface="Calibri"/>
                </a:endParaRPr>
              </a:p>
            </p:txBody>
          </p:sp>
        </p:grpSp>
        <p:sp>
          <p:nvSpPr>
            <p:cNvPr id="334" name="Google Shape;334;g3d5b1289de4_0_1375"/>
            <p:cNvSpPr txBox="1"/>
            <p:nvPr/>
          </p:nvSpPr>
          <p:spPr>
            <a:xfrm>
              <a:off x="3656304" y="2622253"/>
              <a:ext cx="352200" cy="39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76A5AF"/>
                  </a:solidFill>
                  <a:highlight>
                    <a:schemeClr val="lt1"/>
                  </a:highlight>
                  <a:latin typeface="Calibri"/>
                  <a:ea typeface="Calibri"/>
                  <a:cs typeface="Calibri"/>
                  <a:sym typeface="Calibri"/>
                </a:rPr>
                <a:t>A</a:t>
              </a:r>
              <a:endParaRPr b="1" i="0" sz="1200" u="none" cap="none" strike="noStrike">
                <a:solidFill>
                  <a:srgbClr val="76A5AF"/>
                </a:solidFill>
                <a:highlight>
                  <a:schemeClr val="lt1"/>
                </a:highlight>
                <a:latin typeface="Calibri"/>
                <a:ea typeface="Calibri"/>
                <a:cs typeface="Calibri"/>
                <a:sym typeface="Calibri"/>
              </a:endParaRPr>
            </a:p>
          </p:txBody>
        </p:sp>
        <p:sp>
          <p:nvSpPr>
            <p:cNvPr id="335" name="Google Shape;335;g3d5b1289de4_0_1375"/>
            <p:cNvSpPr txBox="1"/>
            <p:nvPr/>
          </p:nvSpPr>
          <p:spPr>
            <a:xfrm>
              <a:off x="3658131" y="4111546"/>
              <a:ext cx="352200" cy="39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A64D79"/>
                  </a:solidFill>
                  <a:highlight>
                    <a:schemeClr val="lt1"/>
                  </a:highlight>
                  <a:latin typeface="Calibri"/>
                  <a:ea typeface="Calibri"/>
                  <a:cs typeface="Calibri"/>
                  <a:sym typeface="Calibri"/>
                </a:rPr>
                <a:t>D</a:t>
              </a:r>
              <a:endParaRPr b="1" i="0" sz="1100" u="none" cap="none" strike="noStrike">
                <a:solidFill>
                  <a:srgbClr val="A64D79"/>
                </a:solidFill>
                <a:highlight>
                  <a:schemeClr val="lt1"/>
                </a:highlight>
                <a:latin typeface="Calibri"/>
                <a:ea typeface="Calibri"/>
                <a:cs typeface="Calibri"/>
                <a:sym typeface="Calibri"/>
              </a:endParaRPr>
            </a:p>
          </p:txBody>
        </p:sp>
        <p:sp>
          <p:nvSpPr>
            <p:cNvPr id="336" name="Google Shape;336;g3d5b1289de4_0_1375"/>
            <p:cNvSpPr txBox="1"/>
            <p:nvPr/>
          </p:nvSpPr>
          <p:spPr>
            <a:xfrm>
              <a:off x="3652129" y="4516554"/>
              <a:ext cx="352200" cy="39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76A5AF"/>
                  </a:solidFill>
                  <a:highlight>
                    <a:schemeClr val="lt1"/>
                  </a:highlight>
                  <a:latin typeface="Calibri"/>
                  <a:ea typeface="Calibri"/>
                  <a:cs typeface="Calibri"/>
                  <a:sym typeface="Calibri"/>
                </a:rPr>
                <a:t>A</a:t>
              </a:r>
              <a:endParaRPr b="1" i="0" sz="1200" u="none" cap="none" strike="noStrike">
                <a:solidFill>
                  <a:srgbClr val="76A5AF"/>
                </a:solidFill>
                <a:highlight>
                  <a:schemeClr val="lt1"/>
                </a:highlight>
                <a:latin typeface="Calibri"/>
                <a:ea typeface="Calibri"/>
                <a:cs typeface="Calibri"/>
                <a:sym typeface="Calibri"/>
              </a:endParaRPr>
            </a:p>
          </p:txBody>
        </p:sp>
        <p:sp>
          <p:nvSpPr>
            <p:cNvPr id="337" name="Google Shape;337;g3d5b1289de4_0_1375"/>
            <p:cNvSpPr txBox="1"/>
            <p:nvPr/>
          </p:nvSpPr>
          <p:spPr>
            <a:xfrm>
              <a:off x="3628382" y="3892601"/>
              <a:ext cx="352200" cy="39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rgbClr val="FF9900"/>
                  </a:solidFill>
                  <a:highlight>
                    <a:schemeClr val="lt1"/>
                  </a:highlight>
                  <a:latin typeface="Calibri"/>
                  <a:ea typeface="Calibri"/>
                  <a:cs typeface="Calibri"/>
                  <a:sym typeface="Calibri"/>
                </a:rPr>
                <a:t> E</a:t>
              </a:r>
              <a:endParaRPr b="1" i="0" sz="1200" u="none" cap="none" strike="noStrike">
                <a:solidFill>
                  <a:srgbClr val="FF9900"/>
                </a:solidFill>
                <a:highlight>
                  <a:schemeClr val="lt1"/>
                </a:highlight>
                <a:latin typeface="Calibri"/>
                <a:ea typeface="Calibri"/>
                <a:cs typeface="Calibri"/>
                <a:sym typeface="Calibri"/>
              </a:endParaRPr>
            </a:p>
          </p:txBody>
        </p:sp>
        <p:sp>
          <p:nvSpPr>
            <p:cNvPr id="338" name="Google Shape;338;g3d5b1289de4_0_1375"/>
            <p:cNvSpPr/>
            <p:nvPr/>
          </p:nvSpPr>
          <p:spPr>
            <a:xfrm>
              <a:off x="4501531" y="2638928"/>
              <a:ext cx="144000" cy="144000"/>
            </a:xfrm>
            <a:prstGeom prst="ellipse">
              <a:avLst/>
            </a:prstGeom>
            <a:solidFill>
              <a:schemeClr val="lt2"/>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39" name="Google Shape;339;g3d5b1289de4_0_1375"/>
            <p:cNvSpPr/>
            <p:nvPr/>
          </p:nvSpPr>
          <p:spPr>
            <a:xfrm>
              <a:off x="4817030" y="2797852"/>
              <a:ext cx="144000" cy="144000"/>
            </a:xfrm>
            <a:prstGeom prst="ellipse">
              <a:avLst/>
            </a:prstGeom>
            <a:solidFill>
              <a:schemeClr val="lt2"/>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0" name="Google Shape;340;g3d5b1289de4_0_1375"/>
            <p:cNvSpPr/>
            <p:nvPr/>
          </p:nvSpPr>
          <p:spPr>
            <a:xfrm>
              <a:off x="5621828" y="3028540"/>
              <a:ext cx="144000" cy="144000"/>
            </a:xfrm>
            <a:prstGeom prst="ellipse">
              <a:avLst/>
            </a:prstGeom>
            <a:solidFill>
              <a:schemeClr val="lt2"/>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1" name="Google Shape;341;g3d5b1289de4_0_1375"/>
            <p:cNvSpPr/>
            <p:nvPr/>
          </p:nvSpPr>
          <p:spPr>
            <a:xfrm>
              <a:off x="4500003" y="3265742"/>
              <a:ext cx="144000" cy="144000"/>
            </a:xfrm>
            <a:prstGeom prst="ellipse">
              <a:avLst/>
            </a:prstGeom>
            <a:solidFill>
              <a:schemeClr val="lt2"/>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2" name="Google Shape;342;g3d5b1289de4_0_1375"/>
            <p:cNvSpPr/>
            <p:nvPr/>
          </p:nvSpPr>
          <p:spPr>
            <a:xfrm>
              <a:off x="6192053" y="3620391"/>
              <a:ext cx="144000" cy="144000"/>
            </a:xfrm>
            <a:prstGeom prst="ellipse">
              <a:avLst/>
            </a:prstGeom>
            <a:solidFill>
              <a:schemeClr val="lt2"/>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3" name="Google Shape;343;g3d5b1289de4_0_1375"/>
            <p:cNvSpPr/>
            <p:nvPr/>
          </p:nvSpPr>
          <p:spPr>
            <a:xfrm>
              <a:off x="5933430" y="4215719"/>
              <a:ext cx="144000" cy="144000"/>
            </a:xfrm>
            <a:prstGeom prst="ellipse">
              <a:avLst/>
            </a:prstGeom>
            <a:solidFill>
              <a:schemeClr val="lt2"/>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4" name="Google Shape;344;g3d5b1289de4_0_1375"/>
            <p:cNvSpPr/>
            <p:nvPr/>
          </p:nvSpPr>
          <p:spPr>
            <a:xfrm>
              <a:off x="5621830" y="3892594"/>
              <a:ext cx="144000" cy="144000"/>
            </a:xfrm>
            <a:prstGeom prst="ellipse">
              <a:avLst/>
            </a:prstGeom>
            <a:solidFill>
              <a:schemeClr val="lt2"/>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5" name="Google Shape;345;g3d5b1289de4_0_1375"/>
            <p:cNvSpPr/>
            <p:nvPr/>
          </p:nvSpPr>
          <p:spPr>
            <a:xfrm>
              <a:off x="5735080" y="4529592"/>
              <a:ext cx="144000" cy="144000"/>
            </a:xfrm>
            <a:prstGeom prst="ellipse">
              <a:avLst/>
            </a:prstGeom>
            <a:solidFill>
              <a:schemeClr val="lt2"/>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6" name="Google Shape;346;g3d5b1289de4_0_1375"/>
            <p:cNvSpPr/>
            <p:nvPr/>
          </p:nvSpPr>
          <p:spPr>
            <a:xfrm>
              <a:off x="5130701" y="4111542"/>
              <a:ext cx="144000" cy="144000"/>
            </a:xfrm>
            <a:prstGeom prst="ellipse">
              <a:avLst/>
            </a:prstGeom>
            <a:solidFill>
              <a:schemeClr val="lt2"/>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7" name="Google Shape;347;g3d5b1289de4_0_1375"/>
            <p:cNvSpPr/>
            <p:nvPr/>
          </p:nvSpPr>
          <p:spPr>
            <a:xfrm>
              <a:off x="4813375" y="3689832"/>
              <a:ext cx="144000" cy="144000"/>
            </a:xfrm>
            <a:prstGeom prst="ellipse">
              <a:avLst/>
            </a:prstGeom>
            <a:solidFill>
              <a:schemeClr val="lt2"/>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sp>
        <p:nvSpPr>
          <p:cNvPr id="348" name="Google Shape;348;g3d5b1289de4_0_1375"/>
          <p:cNvSpPr txBox="1"/>
          <p:nvPr/>
        </p:nvSpPr>
        <p:spPr>
          <a:xfrm>
            <a:off x="3551730" y="47296"/>
            <a:ext cx="20403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1000"/>
              </a:spcAft>
              <a:buClr>
                <a:srgbClr val="000000"/>
              </a:buClr>
              <a:buSzPts val="2200"/>
              <a:buFont typeface="Arial"/>
              <a:buNone/>
            </a:pPr>
            <a:r>
              <a:rPr b="1" i="0" lang="en-US" sz="2200" u="none" cap="none" strike="noStrike">
                <a:solidFill>
                  <a:srgbClr val="595959"/>
                </a:solidFill>
                <a:latin typeface="Calibri"/>
                <a:ea typeface="Calibri"/>
                <a:cs typeface="Calibri"/>
                <a:sym typeface="Calibri"/>
              </a:rPr>
              <a:t>“Intermixing” ?</a:t>
            </a:r>
            <a:endParaRPr b="0" i="0" sz="2200" u="none" cap="none" strike="noStrike">
              <a:solidFill>
                <a:srgbClr val="595959"/>
              </a:solidFill>
              <a:latin typeface="Calibri"/>
              <a:ea typeface="Calibri"/>
              <a:cs typeface="Calibri"/>
              <a:sym typeface="Calibri"/>
            </a:endParaRPr>
          </a:p>
        </p:txBody>
      </p:sp>
      <p:sp>
        <p:nvSpPr>
          <p:cNvPr id="349" name="Google Shape;349;g3d5b1289de4_0_1375"/>
          <p:cNvSpPr txBox="1"/>
          <p:nvPr/>
        </p:nvSpPr>
        <p:spPr>
          <a:xfrm>
            <a:off x="195724" y="4205886"/>
            <a:ext cx="8828700" cy="710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0C2D9A"/>
                </a:solidFill>
                <a:latin typeface="Calibri"/>
                <a:ea typeface="Calibri"/>
                <a:cs typeface="Calibri"/>
                <a:sym typeface="Calibri"/>
              </a:rPr>
              <a:t>Entropie de Shannon</a:t>
            </a:r>
            <a:r>
              <a:rPr b="1" i="0" lang="en-US" sz="1800" u="none" cap="none" strike="noStrike">
                <a:solidFill>
                  <a:srgbClr val="0C2D9A"/>
                </a:solidFill>
                <a:latin typeface="Calibri"/>
                <a:ea typeface="Calibri"/>
                <a:cs typeface="Calibri"/>
                <a:sym typeface="Calibri"/>
              </a:rPr>
              <a:t> normalisée &gt; structuration phylogénétique /commune</a:t>
            </a:r>
            <a:endParaRPr b="1" i="0" sz="1800" u="none" cap="none" strike="noStrike">
              <a:solidFill>
                <a:srgbClr val="0C2D9A"/>
              </a:solidFill>
              <a:latin typeface="Calibri"/>
              <a:ea typeface="Calibri"/>
              <a:cs typeface="Calibri"/>
              <a:sym typeface="Calibri"/>
            </a:endParaRPr>
          </a:p>
          <a:p>
            <a:pPr indent="0" lvl="0" marL="0" marR="0" rtl="0" algn="ctr">
              <a:lnSpc>
                <a:spcPct val="100000"/>
              </a:lnSpc>
              <a:spcBef>
                <a:spcPts val="100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0 (</a:t>
            </a:r>
            <a:r>
              <a:rPr lang="en-US" sz="1800">
                <a:solidFill>
                  <a:schemeClr val="dk1"/>
                </a:solidFill>
                <a:latin typeface="Calibri"/>
                <a:ea typeface="Calibri"/>
                <a:cs typeface="Calibri"/>
                <a:sym typeface="Calibri"/>
              </a:rPr>
              <a:t>one</a:t>
            </a:r>
            <a:r>
              <a:rPr b="0" i="0" lang="en-US" sz="1800" u="none" cap="none" strike="noStrike">
                <a:solidFill>
                  <a:schemeClr val="dk1"/>
                </a:solidFill>
                <a:latin typeface="Calibri"/>
                <a:ea typeface="Calibri"/>
                <a:cs typeface="Calibri"/>
                <a:sym typeface="Calibri"/>
              </a:rPr>
              <a:t> cluster/</a:t>
            </a:r>
            <a:r>
              <a:rPr lang="en-US" sz="1800">
                <a:solidFill>
                  <a:schemeClr val="dk1"/>
                </a:solidFill>
                <a:latin typeface="Calibri"/>
                <a:ea typeface="Calibri"/>
                <a:cs typeface="Calibri"/>
                <a:sym typeface="Calibri"/>
              </a:rPr>
              <a:t>location</a:t>
            </a:r>
            <a:r>
              <a:rPr b="0" i="0" lang="en-US" sz="1800" u="none" cap="none" strike="noStrike">
                <a:solidFill>
                  <a:schemeClr val="dk1"/>
                </a:solidFill>
                <a:latin typeface="Calibri"/>
                <a:ea typeface="Calibri"/>
                <a:cs typeface="Calibri"/>
                <a:sym typeface="Calibri"/>
              </a:rPr>
              <a:t>)                     1 (</a:t>
            </a:r>
            <a:r>
              <a:rPr lang="en-US" sz="1800">
                <a:solidFill>
                  <a:schemeClr val="dk1"/>
                </a:solidFill>
                <a:latin typeface="Calibri"/>
                <a:ea typeface="Calibri"/>
                <a:cs typeface="Calibri"/>
                <a:sym typeface="Calibri"/>
              </a:rPr>
              <a:t>each</a:t>
            </a:r>
            <a:r>
              <a:rPr b="0" i="0" lang="en-US" sz="1800" u="none" cap="none" strike="noStrike">
                <a:solidFill>
                  <a:schemeClr val="dk1"/>
                </a:solidFill>
                <a:latin typeface="Calibri"/>
                <a:ea typeface="Calibri"/>
                <a:cs typeface="Calibri"/>
                <a:sym typeface="Calibri"/>
              </a:rPr>
              <a:t> s</a:t>
            </a:r>
            <a:r>
              <a:rPr lang="en-US" sz="1800">
                <a:solidFill>
                  <a:schemeClr val="dk1"/>
                </a:solidFill>
                <a:latin typeface="Calibri"/>
                <a:ea typeface="Calibri"/>
                <a:cs typeface="Calibri"/>
                <a:sym typeface="Calibri"/>
              </a:rPr>
              <a:t>e</a:t>
            </a:r>
            <a:r>
              <a:rPr b="0" i="0" lang="en-US" sz="1800" u="none" cap="none" strike="noStrike">
                <a:solidFill>
                  <a:schemeClr val="dk1"/>
                </a:solidFill>
                <a:latin typeface="Calibri"/>
                <a:ea typeface="Calibri"/>
                <a:cs typeface="Calibri"/>
                <a:sym typeface="Calibri"/>
              </a:rPr>
              <a:t>quence = </a:t>
            </a:r>
            <a:r>
              <a:rPr lang="en-US" sz="1800">
                <a:solidFill>
                  <a:schemeClr val="dk1"/>
                </a:solidFill>
                <a:latin typeface="Calibri"/>
                <a:ea typeface="Calibri"/>
                <a:cs typeface="Calibri"/>
                <a:sym typeface="Calibri"/>
              </a:rPr>
              <a:t>one</a:t>
            </a:r>
            <a:r>
              <a:rPr b="0" i="0" lang="en-US" sz="1800" u="none" cap="none" strike="noStrike">
                <a:solidFill>
                  <a:schemeClr val="dk1"/>
                </a:solidFill>
                <a:latin typeface="Calibri"/>
                <a:ea typeface="Calibri"/>
                <a:cs typeface="Calibri"/>
                <a:sym typeface="Calibri"/>
              </a:rPr>
              <a:t> </a:t>
            </a:r>
            <a:r>
              <a:rPr lang="en-US" sz="1800">
                <a:solidFill>
                  <a:schemeClr val="dk1"/>
                </a:solidFill>
                <a:latin typeface="Calibri"/>
                <a:ea typeface="Calibri"/>
                <a:cs typeface="Calibri"/>
                <a:sym typeface="Calibri"/>
              </a:rPr>
              <a:t>single </a:t>
            </a:r>
            <a:r>
              <a:rPr b="0" i="0" lang="en-US" sz="1800" u="none" cap="none" strike="noStrike">
                <a:solidFill>
                  <a:schemeClr val="dk1"/>
                </a:solidFill>
                <a:latin typeface="Calibri"/>
                <a:ea typeface="Calibri"/>
                <a:cs typeface="Calibri"/>
                <a:sym typeface="Calibri"/>
              </a:rPr>
              <a:t>introduction)</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3d5b1289de4_0_1406"/>
          <p:cNvSpPr txBox="1"/>
          <p:nvPr/>
        </p:nvSpPr>
        <p:spPr>
          <a:xfrm>
            <a:off x="601490" y="3063370"/>
            <a:ext cx="8182200" cy="1903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lang="en-US" sz="1900">
                <a:latin typeface="Calibri"/>
                <a:ea typeface="Calibri"/>
                <a:cs typeface="Calibri"/>
                <a:sym typeface="Calibri"/>
              </a:rPr>
              <a:t>Generally high e</a:t>
            </a:r>
            <a:r>
              <a:rPr b="0" i="0" lang="en-US" sz="1900" u="none" cap="none" strike="noStrike">
                <a:solidFill>
                  <a:srgbClr val="000000"/>
                </a:solidFill>
                <a:latin typeface="Calibri"/>
                <a:ea typeface="Calibri"/>
                <a:cs typeface="Calibri"/>
                <a:sym typeface="Calibri"/>
              </a:rPr>
              <a:t>ntrop</a:t>
            </a:r>
            <a:r>
              <a:rPr lang="en-US" sz="1900">
                <a:latin typeface="Calibri"/>
                <a:ea typeface="Calibri"/>
                <a:cs typeface="Calibri"/>
                <a:sym typeface="Calibri"/>
              </a:rPr>
              <a:t>y</a:t>
            </a:r>
            <a:r>
              <a:rPr b="0" i="0" lang="en-US" sz="1900" u="none" cap="none" strike="noStrike">
                <a:solidFill>
                  <a:srgbClr val="000000"/>
                </a:solidFill>
                <a:latin typeface="Calibri"/>
                <a:ea typeface="Calibri"/>
                <a:cs typeface="Calibri"/>
                <a:sym typeface="Calibri"/>
              </a:rPr>
              <a:t> (&gt;0.5 </a:t>
            </a:r>
            <a:r>
              <a:rPr lang="en-US" sz="1900">
                <a:latin typeface="Calibri"/>
                <a:ea typeface="Calibri"/>
                <a:cs typeface="Calibri"/>
                <a:sym typeface="Calibri"/>
              </a:rPr>
              <a:t>over</a:t>
            </a:r>
            <a:r>
              <a:rPr b="0" i="0" lang="en-US" sz="1900" u="none" cap="none" strike="noStrike">
                <a:solidFill>
                  <a:srgbClr val="000000"/>
                </a:solidFill>
                <a:latin typeface="Calibri"/>
                <a:ea typeface="Calibri"/>
                <a:cs typeface="Calibri"/>
                <a:sym typeface="Calibri"/>
              </a:rPr>
              <a:t> ~80% </a:t>
            </a:r>
            <a:r>
              <a:rPr lang="en-US" sz="1900">
                <a:latin typeface="Calibri"/>
                <a:ea typeface="Calibri"/>
                <a:cs typeface="Calibri"/>
                <a:sym typeface="Calibri"/>
              </a:rPr>
              <a:t>of locations</a:t>
            </a:r>
            <a:r>
              <a:rPr b="0" i="0" lang="en-US" sz="1900" u="none" cap="none" strike="noStrike">
                <a:solidFill>
                  <a:srgbClr val="000000"/>
                </a:solidFill>
                <a:latin typeface="Calibri"/>
                <a:ea typeface="Calibri"/>
                <a:cs typeface="Calibri"/>
                <a:sym typeface="Calibri"/>
              </a:rPr>
              <a:t>)</a:t>
            </a:r>
            <a:endParaRPr b="0" i="0" sz="1900" u="none" cap="none" strike="noStrike">
              <a:solidFill>
                <a:srgbClr val="000000"/>
              </a:solidFill>
              <a:latin typeface="Calibri"/>
              <a:ea typeface="Calibri"/>
              <a:cs typeface="Calibri"/>
              <a:sym typeface="Calibri"/>
            </a:endParaRPr>
          </a:p>
          <a:p>
            <a:pPr indent="0" lvl="0" marL="0" marR="0" rtl="0" algn="l">
              <a:lnSpc>
                <a:spcPct val="100000"/>
              </a:lnSpc>
              <a:spcBef>
                <a:spcPts val="1000"/>
              </a:spcBef>
              <a:spcAft>
                <a:spcPts val="0"/>
              </a:spcAft>
              <a:buClr>
                <a:srgbClr val="000000"/>
              </a:buClr>
              <a:buSzPts val="1900"/>
              <a:buFont typeface="Arial"/>
              <a:buNone/>
            </a:pPr>
            <a:r>
              <a:rPr b="1" i="0" lang="en-US" sz="1900" u="none" cap="none" strike="noStrike">
                <a:solidFill>
                  <a:srgbClr val="000000"/>
                </a:solidFill>
                <a:latin typeface="Calibri"/>
                <a:ea typeface="Calibri"/>
                <a:cs typeface="Calibri"/>
                <a:sym typeface="Calibri"/>
              </a:rPr>
              <a:t>Exceptions</a:t>
            </a:r>
            <a:endParaRPr b="1" i="0" sz="1900" u="none" cap="none" strike="noStrike">
              <a:solidFill>
                <a:srgbClr val="000000"/>
              </a:solidFill>
              <a:latin typeface="Calibri"/>
              <a:ea typeface="Calibri"/>
              <a:cs typeface="Calibri"/>
              <a:sym typeface="Calibri"/>
            </a:endParaRPr>
          </a:p>
          <a:p>
            <a:pPr indent="-349250" lvl="0" marL="457200" marR="0" rtl="0" algn="l">
              <a:lnSpc>
                <a:spcPct val="100000"/>
              </a:lnSpc>
              <a:spcBef>
                <a:spcPts val="1000"/>
              </a:spcBef>
              <a:spcAft>
                <a:spcPts val="0"/>
              </a:spcAft>
              <a:buClr>
                <a:srgbClr val="000000"/>
              </a:buClr>
              <a:buSzPts val="1900"/>
              <a:buFont typeface="Calibri"/>
              <a:buChar char="➔"/>
            </a:pPr>
            <a:r>
              <a:rPr b="0" i="0" lang="en-US" sz="1900" u="none" cap="none" strike="noStrike">
                <a:solidFill>
                  <a:srgbClr val="000000"/>
                </a:solidFill>
                <a:latin typeface="Calibri"/>
                <a:ea typeface="Calibri"/>
                <a:cs typeface="Calibri"/>
                <a:sym typeface="Calibri"/>
              </a:rPr>
              <a:t>Étang Salé </a:t>
            </a:r>
            <a:r>
              <a:rPr lang="en-US" sz="1900">
                <a:latin typeface="Calibri"/>
                <a:ea typeface="Calibri"/>
                <a:cs typeface="Calibri"/>
                <a:sym typeface="Calibri"/>
              </a:rPr>
              <a:t>&amp;</a:t>
            </a:r>
            <a:r>
              <a:rPr b="0" i="0" lang="en-US" sz="1900" u="none" cap="none" strike="noStrike">
                <a:solidFill>
                  <a:srgbClr val="000000"/>
                </a:solidFill>
                <a:latin typeface="Calibri"/>
                <a:ea typeface="Calibri"/>
                <a:cs typeface="Calibri"/>
                <a:sym typeface="Calibri"/>
              </a:rPr>
              <a:t> Le Tampon(&lt;0.5) </a:t>
            </a:r>
            <a:r>
              <a:rPr b="0" i="0" lang="en-US" sz="1900" u="none" cap="none" strike="noStrike">
                <a:solidFill>
                  <a:schemeClr val="dk1"/>
                </a:solidFill>
                <a:latin typeface="Calibri"/>
                <a:ea typeface="Calibri"/>
                <a:cs typeface="Calibri"/>
                <a:sym typeface="Calibri"/>
              </a:rPr>
              <a:t>– </a:t>
            </a:r>
            <a:r>
              <a:rPr b="0" i="0" lang="en-US" sz="1900" u="none" cap="none" strike="noStrike">
                <a:solidFill>
                  <a:srgbClr val="000000"/>
                </a:solidFill>
                <a:latin typeface="Calibri"/>
                <a:ea typeface="Calibri"/>
                <a:cs typeface="Calibri"/>
                <a:sym typeface="Calibri"/>
              </a:rPr>
              <a:t> </a:t>
            </a:r>
            <a:r>
              <a:rPr lang="en-US" sz="1900">
                <a:latin typeface="Calibri"/>
                <a:ea typeface="Calibri"/>
                <a:cs typeface="Calibri"/>
                <a:sym typeface="Calibri"/>
              </a:rPr>
              <a:t>highly impacted locations</a:t>
            </a:r>
            <a:endParaRPr b="0" i="0" sz="1900" u="none" cap="none" strike="noStrike">
              <a:solidFill>
                <a:srgbClr val="000000"/>
              </a:solidFill>
              <a:latin typeface="Calibri"/>
              <a:ea typeface="Calibri"/>
              <a:cs typeface="Calibri"/>
              <a:sym typeface="Calibri"/>
            </a:endParaRPr>
          </a:p>
          <a:p>
            <a:pPr indent="-349250" lvl="0" marL="457200" marR="0" rtl="0" algn="l">
              <a:lnSpc>
                <a:spcPct val="100000"/>
              </a:lnSpc>
              <a:spcBef>
                <a:spcPts val="0"/>
              </a:spcBef>
              <a:spcAft>
                <a:spcPts val="0"/>
              </a:spcAft>
              <a:buClr>
                <a:srgbClr val="000000"/>
              </a:buClr>
              <a:buSzPts val="1900"/>
              <a:buFont typeface="Calibri"/>
              <a:buChar char="➔"/>
            </a:pPr>
            <a:r>
              <a:rPr b="0" i="0" lang="en-US" sz="1900" u="none" cap="none" strike="noStrike">
                <a:solidFill>
                  <a:srgbClr val="000000"/>
                </a:solidFill>
                <a:latin typeface="Calibri"/>
                <a:ea typeface="Calibri"/>
                <a:cs typeface="Calibri"/>
                <a:sym typeface="Calibri"/>
              </a:rPr>
              <a:t>Cilaos, Petit-Île, Saint-Joseph, Saint-Philippe (&lt;0.75) </a:t>
            </a:r>
            <a:r>
              <a:rPr b="0" i="0" lang="en-US" sz="1900" u="none" cap="none" strike="noStrike">
                <a:solidFill>
                  <a:schemeClr val="dk1"/>
                </a:solidFill>
                <a:latin typeface="Calibri"/>
                <a:ea typeface="Calibri"/>
                <a:cs typeface="Calibri"/>
                <a:sym typeface="Calibri"/>
              </a:rPr>
              <a:t>– </a:t>
            </a:r>
            <a:r>
              <a:rPr lang="en-US" sz="1900">
                <a:latin typeface="Calibri"/>
                <a:ea typeface="Calibri"/>
                <a:cs typeface="Calibri"/>
                <a:sym typeface="Calibri"/>
              </a:rPr>
              <a:t>less urbanised &amp; isolated locations</a:t>
            </a:r>
            <a:endParaRPr b="0" i="0" sz="1900" u="none" cap="none" strike="noStrike">
              <a:solidFill>
                <a:srgbClr val="000000"/>
              </a:solidFill>
              <a:latin typeface="Calibri"/>
              <a:ea typeface="Calibri"/>
              <a:cs typeface="Calibri"/>
              <a:sym typeface="Calibri"/>
            </a:endParaRPr>
          </a:p>
        </p:txBody>
      </p:sp>
      <p:pic>
        <p:nvPicPr>
          <p:cNvPr id="356" name="Google Shape;356;g3d5b1289de4_0_1406" title="Screenshot from 2026-02-12 11-26-35.png"/>
          <p:cNvPicPr preferRelativeResize="0"/>
          <p:nvPr/>
        </p:nvPicPr>
        <p:blipFill rotWithShape="1">
          <a:blip r:embed="rId3">
            <a:alphaModFix/>
          </a:blip>
          <a:srcRect b="30260" l="0" r="0" t="0"/>
          <a:stretch/>
        </p:blipFill>
        <p:spPr>
          <a:xfrm>
            <a:off x="1105025" y="1020832"/>
            <a:ext cx="6879351" cy="1746225"/>
          </a:xfrm>
          <a:prstGeom prst="rect">
            <a:avLst/>
          </a:prstGeom>
          <a:noFill/>
          <a:ln>
            <a:noFill/>
          </a:ln>
        </p:spPr>
      </p:pic>
      <p:sp>
        <p:nvSpPr>
          <p:cNvPr id="357" name="Google Shape;357;g3d5b1289de4_0_1406"/>
          <p:cNvSpPr txBox="1"/>
          <p:nvPr/>
        </p:nvSpPr>
        <p:spPr>
          <a:xfrm>
            <a:off x="492027" y="383906"/>
            <a:ext cx="60429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1000"/>
              </a:spcAft>
              <a:buClr>
                <a:srgbClr val="000000"/>
              </a:buClr>
              <a:buSzPts val="2200"/>
              <a:buFont typeface="Arial"/>
              <a:buNone/>
            </a:pPr>
            <a:r>
              <a:rPr b="1" i="0" lang="en-US" sz="2200" u="none" cap="none" strike="noStrike">
                <a:solidFill>
                  <a:srgbClr val="0C2D9A"/>
                </a:solidFill>
                <a:latin typeface="Calibri"/>
                <a:ea typeface="Calibri"/>
                <a:cs typeface="Calibri"/>
                <a:sym typeface="Calibri"/>
              </a:rPr>
              <a:t>Estimation </a:t>
            </a:r>
            <a:r>
              <a:rPr b="1" lang="en-US" sz="2200">
                <a:solidFill>
                  <a:srgbClr val="0C2D9A"/>
                </a:solidFill>
                <a:latin typeface="Calibri"/>
                <a:ea typeface="Calibri"/>
                <a:cs typeface="Calibri"/>
                <a:sym typeface="Calibri"/>
              </a:rPr>
              <a:t>of </a:t>
            </a:r>
            <a:r>
              <a:rPr b="1" i="0" lang="en-US" sz="2200" u="none" cap="none" strike="noStrike">
                <a:solidFill>
                  <a:srgbClr val="0C2D9A"/>
                </a:solidFill>
                <a:latin typeface="Calibri"/>
                <a:ea typeface="Calibri"/>
                <a:cs typeface="Calibri"/>
                <a:sym typeface="Calibri"/>
              </a:rPr>
              <a:t>intermixing lev</a:t>
            </a:r>
            <a:r>
              <a:rPr b="1" lang="en-US" sz="2200">
                <a:solidFill>
                  <a:srgbClr val="0C2D9A"/>
                </a:solidFill>
                <a:latin typeface="Calibri"/>
                <a:ea typeface="Calibri"/>
                <a:cs typeface="Calibri"/>
                <a:sym typeface="Calibri"/>
              </a:rPr>
              <a:t>els per location</a:t>
            </a:r>
            <a:endParaRPr b="0" i="0" sz="2200" u="none" cap="none" strike="noStrike">
              <a:solidFill>
                <a:srgbClr val="0C2D9A"/>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3d5b1289de4_0_1438"/>
          <p:cNvSpPr txBox="1"/>
          <p:nvPr/>
        </p:nvSpPr>
        <p:spPr>
          <a:xfrm>
            <a:off x="379150" y="2677946"/>
            <a:ext cx="8455800" cy="2252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sng" cap="none" strike="noStrike">
                <a:solidFill>
                  <a:srgbClr val="000000"/>
                </a:solidFill>
                <a:latin typeface="Calibri"/>
                <a:ea typeface="Calibri"/>
                <a:cs typeface="Calibri"/>
                <a:sym typeface="Calibri"/>
              </a:rPr>
              <a:t>Pr</a:t>
            </a:r>
            <a:r>
              <a:rPr lang="en-US" sz="1800" u="sng">
                <a:latin typeface="Calibri"/>
                <a:ea typeface="Calibri"/>
                <a:cs typeface="Calibri"/>
                <a:sym typeface="Calibri"/>
              </a:rPr>
              <a:t>e</a:t>
            </a:r>
            <a:r>
              <a:rPr b="0" i="0" lang="en-US" sz="1800" u="sng" cap="none" strike="noStrike">
                <a:solidFill>
                  <a:srgbClr val="000000"/>
                </a:solidFill>
                <a:latin typeface="Calibri"/>
                <a:ea typeface="Calibri"/>
                <a:cs typeface="Calibri"/>
                <a:sym typeface="Calibri"/>
              </a:rPr>
              <a:t>dict</a:t>
            </a:r>
            <a:r>
              <a:rPr lang="en-US" sz="1800" u="sng">
                <a:latin typeface="Calibri"/>
                <a:ea typeface="Calibri"/>
                <a:cs typeface="Calibri"/>
                <a:sym typeface="Calibri"/>
              </a:rPr>
              <a:t>o</a:t>
            </a:r>
            <a:r>
              <a:rPr b="0" i="0" lang="en-US" sz="1800" u="sng" cap="none" strike="noStrike">
                <a:solidFill>
                  <a:srgbClr val="000000"/>
                </a:solidFill>
                <a:latin typeface="Calibri"/>
                <a:ea typeface="Calibri"/>
                <a:cs typeface="Calibri"/>
                <a:sym typeface="Calibri"/>
              </a:rPr>
              <a:t>rs</a:t>
            </a:r>
            <a:r>
              <a:rPr b="0" i="0" lang="en-US" sz="1800" u="none" cap="none" strike="noStrike">
                <a:solidFill>
                  <a:srgbClr val="000000"/>
                </a:solidFill>
                <a:latin typeface="Calibri"/>
                <a:ea typeface="Calibri"/>
                <a:cs typeface="Calibri"/>
                <a:sym typeface="Calibri"/>
              </a:rPr>
              <a:t> </a:t>
            </a:r>
            <a:r>
              <a:rPr lang="en-US" sz="1800">
                <a:latin typeface="Calibri"/>
                <a:ea typeface="Calibri"/>
                <a:cs typeface="Calibri"/>
                <a:sym typeface="Calibri"/>
              </a:rPr>
              <a:t>of viral</a:t>
            </a:r>
            <a:r>
              <a:rPr b="0" i="0" lang="en-US" sz="1800" u="none" cap="none" strike="noStrike">
                <a:solidFill>
                  <a:srgbClr val="000000"/>
                </a:solidFill>
                <a:latin typeface="Calibri"/>
                <a:ea typeface="Calibri"/>
                <a:cs typeface="Calibri"/>
                <a:sym typeface="Calibri"/>
              </a:rPr>
              <a:t> circulation </a:t>
            </a:r>
            <a:r>
              <a:rPr lang="en-US" sz="1800">
                <a:latin typeface="Calibri"/>
                <a:ea typeface="Calibri"/>
                <a:cs typeface="Calibri"/>
                <a:sym typeface="Calibri"/>
              </a:rPr>
              <a:t>between</a:t>
            </a:r>
            <a:r>
              <a:rPr b="0" i="0" lang="en-US" sz="1800" u="none" cap="none" strike="noStrike">
                <a:solidFill>
                  <a:srgbClr val="000000"/>
                </a:solidFill>
                <a:latin typeface="Calibri"/>
                <a:ea typeface="Calibri"/>
                <a:cs typeface="Calibri"/>
                <a:sym typeface="Calibri"/>
              </a:rPr>
              <a:t> locations</a:t>
            </a:r>
            <a:endParaRPr b="1" i="0" sz="1800" u="none" cap="none" strike="noStrike">
              <a:solidFill>
                <a:srgbClr val="0C2D9A"/>
              </a:solidFill>
              <a:latin typeface="Calibri"/>
              <a:ea typeface="Calibri"/>
              <a:cs typeface="Calibri"/>
              <a:sym typeface="Calibri"/>
            </a:endParaRPr>
          </a:p>
          <a:p>
            <a:pPr indent="0" lvl="0" marL="0" marR="0" rtl="0" algn="l">
              <a:lnSpc>
                <a:spcPct val="100000"/>
              </a:lnSpc>
              <a:spcBef>
                <a:spcPts val="100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&gt; more frequent movements </a:t>
            </a:r>
            <a:r>
              <a:rPr lang="en-US" sz="1800">
                <a:latin typeface="Calibri"/>
                <a:ea typeface="Calibri"/>
                <a:cs typeface="Calibri"/>
                <a:sym typeface="Calibri"/>
              </a:rPr>
              <a:t>between </a:t>
            </a:r>
            <a:r>
              <a:rPr lang="en-US" sz="1800" u="sng">
                <a:latin typeface="Calibri"/>
                <a:ea typeface="Calibri"/>
                <a:cs typeface="Calibri"/>
                <a:sym typeface="Calibri"/>
              </a:rPr>
              <a:t>spatially close</a:t>
            </a:r>
            <a:r>
              <a:rPr lang="en-US" sz="1800">
                <a:latin typeface="Calibri"/>
                <a:ea typeface="Calibri"/>
                <a:cs typeface="Calibri"/>
                <a:sym typeface="Calibri"/>
              </a:rPr>
              <a:t> locations</a:t>
            </a:r>
            <a:r>
              <a:rPr b="0" i="0" lang="en-US" sz="1800" u="none" cap="none" strike="noStrike">
                <a:solidFill>
                  <a:srgbClr val="00000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&gt; </a:t>
            </a:r>
            <a:r>
              <a:rPr lang="en-US" sz="1800">
                <a:solidFill>
                  <a:schemeClr val="dk1"/>
                </a:solidFill>
                <a:latin typeface="Calibri"/>
                <a:ea typeface="Calibri"/>
                <a:cs typeface="Calibri"/>
                <a:sym typeface="Calibri"/>
              </a:rPr>
              <a:t>more frequent movements from/to </a:t>
            </a:r>
            <a:r>
              <a:rPr lang="en-US" sz="1800" u="sng">
                <a:solidFill>
                  <a:schemeClr val="dk1"/>
                </a:solidFill>
                <a:latin typeface="Calibri"/>
                <a:ea typeface="Calibri"/>
                <a:cs typeface="Calibri"/>
                <a:sym typeface="Calibri"/>
              </a:rPr>
              <a:t>more populated</a:t>
            </a:r>
            <a:r>
              <a:rPr lang="en-US" sz="1800">
                <a:solidFill>
                  <a:schemeClr val="dk1"/>
                </a:solidFill>
                <a:latin typeface="Calibri"/>
                <a:ea typeface="Calibri"/>
                <a:cs typeface="Calibri"/>
                <a:sym typeface="Calibri"/>
              </a:rPr>
              <a:t> locations</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Effect </a:t>
            </a:r>
            <a:r>
              <a:rPr lang="en-US" sz="1800">
                <a:latin typeface="Calibri"/>
                <a:ea typeface="Calibri"/>
                <a:cs typeface="Calibri"/>
                <a:sym typeface="Calibri"/>
              </a:rPr>
              <a:t>of</a:t>
            </a:r>
            <a:r>
              <a:rPr b="0" i="0" lang="en-US" sz="1800" u="none" cap="none" strike="noStrike">
                <a:solidFill>
                  <a:srgbClr val="000000"/>
                </a:solidFill>
                <a:latin typeface="Calibri"/>
                <a:ea typeface="Calibri"/>
                <a:cs typeface="Calibri"/>
                <a:sym typeface="Calibri"/>
              </a:rPr>
              <a:t> human </a:t>
            </a:r>
            <a:r>
              <a:rPr b="1" i="0" lang="en-US" sz="1800" u="none" cap="none" strike="noStrike">
                <a:solidFill>
                  <a:srgbClr val="0C2D9A"/>
                </a:solidFill>
                <a:latin typeface="Calibri"/>
                <a:ea typeface="Calibri"/>
                <a:cs typeface="Calibri"/>
                <a:sym typeface="Calibri"/>
              </a:rPr>
              <a:t>mobilit</a:t>
            </a:r>
            <a:r>
              <a:rPr b="1" lang="en-US" sz="1800">
                <a:solidFill>
                  <a:srgbClr val="0C2D9A"/>
                </a:solidFill>
                <a:latin typeface="Calibri"/>
                <a:ea typeface="Calibri"/>
                <a:cs typeface="Calibri"/>
                <a:sym typeface="Calibri"/>
              </a:rPr>
              <a:t>y</a:t>
            </a:r>
            <a:r>
              <a:rPr b="0" i="0" lang="en-US" sz="1800" u="none" cap="none" strike="noStrike">
                <a:solidFill>
                  <a:srgbClr val="00000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Bayes factor = 11 </a:t>
            </a:r>
            <a:r>
              <a:rPr b="1" i="0" lang="en-US" sz="1800" u="none" cap="none" strike="noStrike">
                <a:solidFill>
                  <a:srgbClr val="000000"/>
                </a:solidFill>
                <a:latin typeface="Calibri"/>
                <a:ea typeface="Calibri"/>
                <a:cs typeface="Calibri"/>
                <a:sym typeface="Calibri"/>
              </a:rPr>
              <a:t>positi</a:t>
            </a:r>
            <a:r>
              <a:rPr b="1" lang="en-US" sz="1800">
                <a:latin typeface="Calibri"/>
                <a:ea typeface="Calibri"/>
                <a:cs typeface="Calibri"/>
                <a:sym typeface="Calibri"/>
              </a:rPr>
              <a:t>ve but weak</a:t>
            </a:r>
            <a:r>
              <a:rPr b="0" i="0" lang="en-US" sz="1800" u="none" cap="none" strike="noStrike">
                <a:solidFill>
                  <a:srgbClr val="000000"/>
                </a:solidFill>
                <a:latin typeface="Calibri"/>
                <a:ea typeface="Calibri"/>
                <a:cs typeface="Calibri"/>
                <a:sym typeface="Calibri"/>
              </a:rPr>
              <a:t> </a:t>
            </a:r>
            <a:r>
              <a:rPr b="0" i="0" lang="en-US" sz="1800" u="none" cap="none" strike="noStrike">
                <a:solidFill>
                  <a:schemeClr val="dk1"/>
                </a:solidFill>
                <a:latin typeface="Calibri"/>
                <a:ea typeface="Calibri"/>
                <a:cs typeface="Calibri"/>
                <a:sym typeface="Calibri"/>
              </a:rPr>
              <a:t>(</a:t>
            </a:r>
            <a:r>
              <a:rPr lang="en-US" sz="1800">
                <a:solidFill>
                  <a:schemeClr val="dk1"/>
                </a:solidFill>
                <a:latin typeface="Calibri"/>
                <a:ea typeface="Calibri"/>
                <a:cs typeface="Calibri"/>
                <a:sym typeface="Calibri"/>
              </a:rPr>
              <a:t>commuting flow</a:t>
            </a:r>
            <a:r>
              <a:rPr b="0" i="0" lang="en-US" sz="1800" u="none" cap="none" strike="noStrike">
                <a:solidFill>
                  <a:schemeClr val="dk1"/>
                </a:solidFill>
                <a:latin typeface="Calibri"/>
                <a:ea typeface="Calibri"/>
                <a:cs typeface="Calibri"/>
                <a:sym typeface="Calibri"/>
              </a:rPr>
              <a:t>)</a:t>
            </a:r>
            <a:endParaRPr b="0" i="0" sz="1800" u="none" cap="none" strike="noStrike">
              <a:solidFill>
                <a:srgbClr val="000000"/>
              </a:solidFill>
              <a:latin typeface="Calibri"/>
              <a:ea typeface="Calibri"/>
              <a:cs typeface="Calibri"/>
              <a:sym typeface="Calibri"/>
            </a:endParaRPr>
          </a:p>
        </p:txBody>
      </p:sp>
      <p:sp>
        <p:nvSpPr>
          <p:cNvPr id="364" name="Google Shape;364;g3d5b1289de4_0_1438"/>
          <p:cNvSpPr txBox="1"/>
          <p:nvPr/>
        </p:nvSpPr>
        <p:spPr>
          <a:xfrm>
            <a:off x="472441" y="360280"/>
            <a:ext cx="5020800" cy="430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1000"/>
              </a:spcAft>
              <a:buClr>
                <a:srgbClr val="000000"/>
              </a:buClr>
              <a:buSzPts val="2200"/>
              <a:buFont typeface="Arial"/>
              <a:buNone/>
            </a:pPr>
            <a:r>
              <a:rPr b="1" i="0" lang="en-US" sz="2200" u="none" cap="none" strike="noStrike">
                <a:solidFill>
                  <a:srgbClr val="0C2D9A"/>
                </a:solidFill>
                <a:latin typeface="Calibri"/>
                <a:ea typeface="Calibri"/>
                <a:cs typeface="Calibri"/>
                <a:sym typeface="Calibri"/>
              </a:rPr>
              <a:t>Fact</a:t>
            </a:r>
            <a:r>
              <a:rPr b="1" lang="en-US" sz="2200">
                <a:solidFill>
                  <a:srgbClr val="0C2D9A"/>
                </a:solidFill>
                <a:latin typeface="Calibri"/>
                <a:ea typeface="Calibri"/>
                <a:cs typeface="Calibri"/>
                <a:sym typeface="Calibri"/>
              </a:rPr>
              <a:t>o</a:t>
            </a:r>
            <a:r>
              <a:rPr b="1" i="0" lang="en-US" sz="2200" u="none" cap="none" strike="noStrike">
                <a:solidFill>
                  <a:srgbClr val="0C2D9A"/>
                </a:solidFill>
                <a:latin typeface="Calibri"/>
                <a:ea typeface="Calibri"/>
                <a:cs typeface="Calibri"/>
                <a:sym typeface="Calibri"/>
              </a:rPr>
              <a:t>rs i</a:t>
            </a:r>
            <a:r>
              <a:rPr b="1" lang="en-US" sz="2200">
                <a:solidFill>
                  <a:srgbClr val="0C2D9A"/>
                </a:solidFill>
                <a:latin typeface="Calibri"/>
                <a:ea typeface="Calibri"/>
                <a:cs typeface="Calibri"/>
                <a:sym typeface="Calibri"/>
              </a:rPr>
              <a:t>nvolved</a:t>
            </a:r>
            <a:r>
              <a:rPr b="1" i="0" lang="en-US" sz="2200" u="none" cap="none" strike="noStrike">
                <a:solidFill>
                  <a:srgbClr val="0C2D9A"/>
                </a:solidFill>
                <a:latin typeface="Calibri"/>
                <a:ea typeface="Calibri"/>
                <a:cs typeface="Calibri"/>
                <a:sym typeface="Calibri"/>
              </a:rPr>
              <a:t> ? </a:t>
            </a:r>
            <a:endParaRPr b="0" i="0" sz="2200" u="none" cap="none" strike="noStrike">
              <a:solidFill>
                <a:srgbClr val="0C2D9A"/>
              </a:solidFill>
              <a:latin typeface="Calibri"/>
              <a:ea typeface="Calibri"/>
              <a:cs typeface="Calibri"/>
              <a:sym typeface="Calibri"/>
            </a:endParaRPr>
          </a:p>
        </p:txBody>
      </p:sp>
      <p:grpSp>
        <p:nvGrpSpPr>
          <p:cNvPr id="365" name="Google Shape;365;g3d5b1289de4_0_1438"/>
          <p:cNvGrpSpPr/>
          <p:nvPr/>
        </p:nvGrpSpPr>
        <p:grpSpPr>
          <a:xfrm>
            <a:off x="3005584" y="318938"/>
            <a:ext cx="5126816" cy="2500425"/>
            <a:chOff x="3305584" y="219375"/>
            <a:chExt cx="5126816" cy="2778250"/>
          </a:xfrm>
        </p:grpSpPr>
        <p:pic>
          <p:nvPicPr>
            <p:cNvPr id="366" name="Google Shape;366;g3d5b1289de4_0_1438" title="Screenshot from 2026-02-18 10-36-07.png"/>
            <p:cNvPicPr preferRelativeResize="0"/>
            <p:nvPr/>
          </p:nvPicPr>
          <p:blipFill rotWithShape="1">
            <a:blip r:embed="rId3">
              <a:alphaModFix/>
            </a:blip>
            <a:srcRect b="0" l="0" r="0" t="0"/>
            <a:stretch/>
          </p:blipFill>
          <p:spPr>
            <a:xfrm>
              <a:off x="3305584" y="1104414"/>
              <a:ext cx="4096275" cy="1670117"/>
            </a:xfrm>
            <a:prstGeom prst="rect">
              <a:avLst/>
            </a:prstGeom>
            <a:noFill/>
            <a:ln>
              <a:noFill/>
            </a:ln>
          </p:spPr>
        </p:pic>
        <p:sp>
          <p:nvSpPr>
            <p:cNvPr id="367" name="Google Shape;367;g3d5b1289de4_0_1438"/>
            <p:cNvSpPr/>
            <p:nvPr/>
          </p:nvSpPr>
          <p:spPr>
            <a:xfrm>
              <a:off x="4635775" y="1817102"/>
              <a:ext cx="1472400" cy="852000"/>
            </a:xfrm>
            <a:prstGeom prst="rightArrow">
              <a:avLst>
                <a:gd fmla="val 57800" name="adj1"/>
                <a:gd fmla="val 68154" name="adj2"/>
              </a:avLst>
            </a:prstGeom>
            <a:noFill/>
            <a:ln cap="flat" cmpd="sng" w="19050">
              <a:solidFill>
                <a:srgbClr val="B45F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368" name="Google Shape;368;g3d5b1289de4_0_1438"/>
            <p:cNvPicPr preferRelativeResize="0"/>
            <p:nvPr/>
          </p:nvPicPr>
          <p:blipFill rotWithShape="1">
            <a:blip r:embed="rId4">
              <a:alphaModFix/>
            </a:blip>
            <a:srcRect b="63591" l="0" r="52066" t="20508"/>
            <a:stretch/>
          </p:blipFill>
          <p:spPr>
            <a:xfrm>
              <a:off x="4767177" y="2072189"/>
              <a:ext cx="993208" cy="329474"/>
            </a:xfrm>
            <a:prstGeom prst="rect">
              <a:avLst/>
            </a:prstGeom>
            <a:noFill/>
            <a:ln>
              <a:noFill/>
            </a:ln>
          </p:spPr>
        </p:pic>
        <p:pic>
          <p:nvPicPr>
            <p:cNvPr id="369" name="Google Shape;369;g3d5b1289de4_0_1438"/>
            <p:cNvPicPr preferRelativeResize="0"/>
            <p:nvPr/>
          </p:nvPicPr>
          <p:blipFill rotWithShape="1">
            <a:blip r:embed="rId5">
              <a:alphaModFix/>
            </a:blip>
            <a:srcRect b="38344" l="39708" r="0" t="0"/>
            <a:stretch/>
          </p:blipFill>
          <p:spPr>
            <a:xfrm>
              <a:off x="3651374" y="953752"/>
              <a:ext cx="485650" cy="606074"/>
            </a:xfrm>
            <a:prstGeom prst="rect">
              <a:avLst/>
            </a:prstGeom>
            <a:noFill/>
            <a:ln>
              <a:noFill/>
            </a:ln>
          </p:spPr>
        </p:pic>
        <p:pic>
          <p:nvPicPr>
            <p:cNvPr id="370" name="Google Shape;370;g3d5b1289de4_0_1438"/>
            <p:cNvPicPr preferRelativeResize="0"/>
            <p:nvPr/>
          </p:nvPicPr>
          <p:blipFill rotWithShape="1">
            <a:blip r:embed="rId5">
              <a:alphaModFix/>
            </a:blip>
            <a:srcRect b="38344" l="39708" r="0" t="0"/>
            <a:stretch/>
          </p:blipFill>
          <p:spPr>
            <a:xfrm>
              <a:off x="6542724" y="953752"/>
              <a:ext cx="485650" cy="606074"/>
            </a:xfrm>
            <a:prstGeom prst="rect">
              <a:avLst/>
            </a:prstGeom>
            <a:noFill/>
            <a:ln>
              <a:noFill/>
            </a:ln>
          </p:spPr>
        </p:pic>
        <p:cxnSp>
          <p:nvCxnSpPr>
            <p:cNvPr id="371" name="Google Shape;371;g3d5b1289de4_0_1438"/>
            <p:cNvCxnSpPr/>
            <p:nvPr/>
          </p:nvCxnSpPr>
          <p:spPr>
            <a:xfrm>
              <a:off x="3968986" y="631025"/>
              <a:ext cx="2705400" cy="0"/>
            </a:xfrm>
            <a:prstGeom prst="straightConnector1">
              <a:avLst/>
            </a:prstGeom>
            <a:noFill/>
            <a:ln cap="flat" cmpd="sng" w="9525">
              <a:solidFill>
                <a:srgbClr val="783F04"/>
              </a:solidFill>
              <a:prstDash val="solid"/>
              <a:round/>
              <a:headEnd len="sm" w="sm" type="none"/>
              <a:tailEnd len="med" w="med" type="triangle"/>
            </a:ln>
          </p:spPr>
        </p:cxnSp>
        <p:sp>
          <p:nvSpPr>
            <p:cNvPr id="372" name="Google Shape;372;g3d5b1289de4_0_1438"/>
            <p:cNvSpPr txBox="1"/>
            <p:nvPr/>
          </p:nvSpPr>
          <p:spPr>
            <a:xfrm>
              <a:off x="4837500" y="219375"/>
              <a:ext cx="1305000" cy="26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1" lang="en-US" sz="1700" u="none" cap="none" strike="noStrike">
                  <a:solidFill>
                    <a:srgbClr val="783F04"/>
                  </a:solidFill>
                  <a:latin typeface="Calibri"/>
                  <a:ea typeface="Calibri"/>
                  <a:cs typeface="Calibri"/>
                  <a:sym typeface="Calibri"/>
                </a:rPr>
                <a:t>distance</a:t>
              </a:r>
              <a:endParaRPr b="0" i="1" sz="1700" u="none" cap="none" strike="noStrike">
                <a:solidFill>
                  <a:srgbClr val="783F04"/>
                </a:solidFill>
                <a:latin typeface="Calibri"/>
                <a:ea typeface="Calibri"/>
                <a:cs typeface="Calibri"/>
                <a:sym typeface="Calibri"/>
              </a:endParaRPr>
            </a:p>
          </p:txBody>
        </p:sp>
        <p:sp>
          <p:nvSpPr>
            <p:cNvPr id="373" name="Google Shape;373;g3d5b1289de4_0_1438"/>
            <p:cNvSpPr txBox="1"/>
            <p:nvPr/>
          </p:nvSpPr>
          <p:spPr>
            <a:xfrm>
              <a:off x="4333723" y="2652625"/>
              <a:ext cx="1838700" cy="345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700"/>
                <a:buFont typeface="Arial"/>
                <a:buNone/>
              </a:pPr>
              <a:r>
                <a:rPr b="0" i="1" lang="en-US" sz="1700" u="none" cap="none" strike="noStrike">
                  <a:solidFill>
                    <a:srgbClr val="783F04"/>
                  </a:solidFill>
                  <a:latin typeface="Calibri"/>
                  <a:ea typeface="Calibri"/>
                  <a:cs typeface="Calibri"/>
                  <a:sym typeface="Calibri"/>
                </a:rPr>
                <a:t>Commuting flow</a:t>
              </a:r>
              <a:endParaRPr b="0" i="1" sz="1700" u="none" cap="none" strike="noStrike">
                <a:solidFill>
                  <a:srgbClr val="783F04"/>
                </a:solidFill>
                <a:latin typeface="Calibri"/>
                <a:ea typeface="Calibri"/>
                <a:cs typeface="Calibri"/>
                <a:sym typeface="Calibri"/>
              </a:endParaRPr>
            </a:p>
          </p:txBody>
        </p:sp>
        <p:sp>
          <p:nvSpPr>
            <p:cNvPr id="374" name="Google Shape;374;g3d5b1289de4_0_1438"/>
            <p:cNvSpPr txBox="1"/>
            <p:nvPr/>
          </p:nvSpPr>
          <p:spPr>
            <a:xfrm>
              <a:off x="7127400" y="1013038"/>
              <a:ext cx="1305000" cy="262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1" lang="en-US" sz="1700" u="none" cap="none" strike="noStrike">
                  <a:solidFill>
                    <a:srgbClr val="783F04"/>
                  </a:solidFill>
                  <a:latin typeface="Calibri"/>
                  <a:ea typeface="Calibri"/>
                  <a:cs typeface="Calibri"/>
                  <a:sym typeface="Calibri"/>
                </a:rPr>
                <a:t>population</a:t>
              </a:r>
              <a:endParaRPr b="0" i="1" sz="1700" u="none" cap="none" strike="noStrike">
                <a:solidFill>
                  <a:srgbClr val="783F04"/>
                </a:solidFill>
                <a:latin typeface="Calibri"/>
                <a:ea typeface="Calibri"/>
                <a:cs typeface="Calibri"/>
                <a:sym typeface="Calibri"/>
              </a:endParaRPr>
            </a:p>
          </p:txBody>
        </p:sp>
      </p:grpSp>
      <p:pic>
        <p:nvPicPr>
          <p:cNvPr id="375" name="Google Shape;375;g3d5b1289de4_0_1438" title="Screenshot from 2026-02-18 10-58-53.png"/>
          <p:cNvPicPr preferRelativeResize="0"/>
          <p:nvPr/>
        </p:nvPicPr>
        <p:blipFill rotWithShape="1">
          <a:blip r:embed="rId6">
            <a:alphaModFix/>
          </a:blip>
          <a:srcRect b="0" l="0" r="0" t="0"/>
          <a:stretch/>
        </p:blipFill>
        <p:spPr>
          <a:xfrm>
            <a:off x="4924538" y="885158"/>
            <a:ext cx="232519" cy="230332"/>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h11a342068904e6d2_0_363"/>
          <p:cNvSpPr txBox="1"/>
          <p:nvPr/>
        </p:nvSpPr>
        <p:spPr>
          <a:xfrm>
            <a:off x="505125" y="302063"/>
            <a:ext cx="8055600" cy="44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1" lang="en-US" sz="2300">
                <a:solidFill>
                  <a:srgbClr val="0C2D9A"/>
                </a:solidFill>
                <a:latin typeface="Calibri"/>
                <a:ea typeface="Calibri"/>
                <a:cs typeface="Calibri"/>
                <a:sym typeface="Calibri"/>
              </a:rPr>
              <a:t>Factors contributing to the end of the epidemic</a:t>
            </a:r>
            <a:r>
              <a:rPr b="1" i="1" lang="en-US" sz="2300">
                <a:solidFill>
                  <a:srgbClr val="0C2D9A"/>
                </a:solidFill>
                <a:latin typeface="Calibri"/>
                <a:ea typeface="Calibri"/>
                <a:cs typeface="Calibri"/>
                <a:sym typeface="Calibri"/>
              </a:rPr>
              <a:t>?</a:t>
            </a:r>
            <a:endParaRPr b="1" i="1" sz="1700" u="none" cap="none" strike="noStrike">
              <a:solidFill>
                <a:srgbClr val="0C2D9A"/>
              </a:solidFill>
              <a:latin typeface="Arial"/>
              <a:ea typeface="Arial"/>
              <a:cs typeface="Arial"/>
              <a:sym typeface="Arial"/>
            </a:endParaRPr>
          </a:p>
        </p:txBody>
      </p:sp>
      <p:pic>
        <p:nvPicPr>
          <p:cNvPr id="381" name="Google Shape;381;h11a342068904e6d2_0_363"/>
          <p:cNvPicPr preferRelativeResize="0"/>
          <p:nvPr/>
        </p:nvPicPr>
        <p:blipFill>
          <a:blip r:embed="rId3">
            <a:alphaModFix/>
          </a:blip>
          <a:stretch>
            <a:fillRect/>
          </a:stretch>
        </p:blipFill>
        <p:spPr>
          <a:xfrm>
            <a:off x="569950" y="939000"/>
            <a:ext cx="7298452" cy="3164574"/>
          </a:xfrm>
          <a:prstGeom prst="rect">
            <a:avLst/>
          </a:prstGeom>
          <a:noFill/>
          <a:ln>
            <a:noFill/>
          </a:ln>
        </p:spPr>
      </p:pic>
      <p:sp>
        <p:nvSpPr>
          <p:cNvPr id="382" name="Google Shape;382;h11a342068904e6d2_0_363"/>
          <p:cNvSpPr txBox="1"/>
          <p:nvPr/>
        </p:nvSpPr>
        <p:spPr>
          <a:xfrm>
            <a:off x="202975" y="4426772"/>
            <a:ext cx="5535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https://github.com/sdellicour/chikungunya_reunion</a:t>
            </a:r>
            <a:endParaRPr/>
          </a:p>
          <a:p>
            <a:pPr indent="0" lvl="0" marL="0" rtl="0" algn="l">
              <a:spcBef>
                <a:spcPts val="0"/>
              </a:spcBef>
              <a:spcAft>
                <a:spcPts val="0"/>
              </a:spcAft>
              <a:buNone/>
            </a:pPr>
            <a:r>
              <a:rPr lang="en-US" u="sng">
                <a:solidFill>
                  <a:schemeClr val="hlink"/>
                </a:solidFill>
                <a:hlinkClick r:id="rId5"/>
              </a:rPr>
              <a:t>https://pubmed.ncbi.nlm.nih.gov/42748151/</a:t>
            </a:r>
            <a:r>
              <a:rPr lang="en-US"/>
              <a:t> </a:t>
            </a:r>
            <a:endParaRPr/>
          </a:p>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6" name="Shape 386"/>
        <p:cNvGrpSpPr/>
        <p:nvPr/>
      </p:nvGrpSpPr>
      <p:grpSpPr>
        <a:xfrm>
          <a:off x="0" y="0"/>
          <a:ext cx="0" cy="0"/>
          <a:chOff x="0" y="0"/>
          <a:chExt cx="0" cy="0"/>
        </a:xfrm>
      </p:grpSpPr>
      <p:pic>
        <p:nvPicPr>
          <p:cNvPr id="387" name="Google Shape;387;h11a342068904e6d2_0_367"/>
          <p:cNvPicPr preferRelativeResize="0"/>
          <p:nvPr/>
        </p:nvPicPr>
        <p:blipFill>
          <a:blip r:embed="rId3">
            <a:alphaModFix/>
          </a:blip>
          <a:stretch>
            <a:fillRect/>
          </a:stretch>
        </p:blipFill>
        <p:spPr>
          <a:xfrm>
            <a:off x="566200" y="574000"/>
            <a:ext cx="7920425" cy="4165176"/>
          </a:xfrm>
          <a:prstGeom prst="rect">
            <a:avLst/>
          </a:prstGeom>
          <a:noFill/>
          <a:ln>
            <a:noFill/>
          </a:ln>
        </p:spPr>
      </p:pic>
      <p:sp>
        <p:nvSpPr>
          <p:cNvPr id="388" name="Google Shape;388;h11a342068904e6d2_0_367"/>
          <p:cNvSpPr txBox="1"/>
          <p:nvPr/>
        </p:nvSpPr>
        <p:spPr>
          <a:xfrm>
            <a:off x="314000" y="95324"/>
            <a:ext cx="8055600" cy="446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200"/>
              <a:buFont typeface="Arial"/>
              <a:buNone/>
            </a:pPr>
            <a:r>
              <a:rPr b="1" i="1" lang="en-US" sz="2300">
                <a:solidFill>
                  <a:srgbClr val="0C2D9A"/>
                </a:solidFill>
                <a:latin typeface="Calibri"/>
                <a:ea typeface="Calibri"/>
                <a:cs typeface="Calibri"/>
                <a:sym typeface="Calibri"/>
              </a:rPr>
              <a:t>Precipitation, temperature and immunity</a:t>
            </a:r>
            <a:endParaRPr b="1" i="1" sz="1700" u="none" cap="none" strike="noStrike">
              <a:solidFill>
                <a:srgbClr val="0C2D9A"/>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8F8"/>
        </a:solidFill>
      </p:bgPr>
    </p:bg>
    <p:spTree>
      <p:nvGrpSpPr>
        <p:cNvPr id="392" name="Shape 392"/>
        <p:cNvGrpSpPr/>
        <p:nvPr/>
      </p:nvGrpSpPr>
      <p:grpSpPr>
        <a:xfrm>
          <a:off x="0" y="0"/>
          <a:ext cx="0" cy="0"/>
          <a:chOff x="0" y="0"/>
          <a:chExt cx="0" cy="0"/>
        </a:xfrm>
      </p:grpSpPr>
      <p:sp>
        <p:nvSpPr>
          <p:cNvPr id="393" name="Google Shape;393;h11a342068904e6d2_0_1017"/>
          <p:cNvSpPr/>
          <p:nvPr/>
        </p:nvSpPr>
        <p:spPr>
          <a:xfrm>
            <a:off x="-36625" y="1287825"/>
            <a:ext cx="9187800" cy="2293200"/>
          </a:xfrm>
          <a:prstGeom prst="rect">
            <a:avLst/>
          </a:prstGeom>
          <a:solidFill>
            <a:srgbClr val="062C7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4" name="Google Shape;394;h11a342068904e6d2_0_1017"/>
          <p:cNvSpPr txBox="1"/>
          <p:nvPr/>
        </p:nvSpPr>
        <p:spPr>
          <a:xfrm>
            <a:off x="341100" y="1455994"/>
            <a:ext cx="8461800" cy="738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i="1" lang="en-US" sz="2800">
                <a:solidFill>
                  <a:schemeClr val="lt1"/>
                </a:solidFill>
              </a:rPr>
              <a:t>Advancing research on severe dengue through large-scale </a:t>
            </a:r>
            <a:r>
              <a:rPr b="1" i="1" lang="en-US" sz="2800">
                <a:solidFill>
                  <a:srgbClr val="062C75"/>
                </a:solidFill>
                <a:highlight>
                  <a:schemeClr val="lt1"/>
                </a:highlight>
              </a:rPr>
              <a:t>ARBO</a:t>
            </a:r>
            <a:r>
              <a:rPr b="1" i="1" lang="en-US" sz="2800">
                <a:solidFill>
                  <a:schemeClr val="lt1"/>
                </a:solidFill>
              </a:rPr>
              <a:t>virus </a:t>
            </a:r>
            <a:r>
              <a:rPr b="1" i="1" lang="en-US" sz="2800">
                <a:solidFill>
                  <a:srgbClr val="062C75"/>
                </a:solidFill>
                <a:highlight>
                  <a:schemeClr val="lt1"/>
                </a:highlight>
              </a:rPr>
              <a:t>GEN</a:t>
            </a:r>
            <a:r>
              <a:rPr b="1" i="1" lang="en-US" sz="2800">
                <a:solidFill>
                  <a:schemeClr val="lt1"/>
                </a:solidFill>
              </a:rPr>
              <a:t>omic tracking</a:t>
            </a:r>
            <a:endParaRPr b="1" i="1" sz="2800">
              <a:solidFill>
                <a:schemeClr val="lt1"/>
              </a:solidFill>
            </a:endParaRPr>
          </a:p>
        </p:txBody>
      </p:sp>
      <p:pic>
        <p:nvPicPr>
          <p:cNvPr id="395" name="Google Shape;395;h11a342068904e6d2_0_1017"/>
          <p:cNvPicPr preferRelativeResize="0"/>
          <p:nvPr/>
        </p:nvPicPr>
        <p:blipFill>
          <a:blip r:embed="rId3">
            <a:alphaModFix/>
          </a:blip>
          <a:stretch>
            <a:fillRect/>
          </a:stretch>
        </p:blipFill>
        <p:spPr>
          <a:xfrm>
            <a:off x="3804129" y="256075"/>
            <a:ext cx="1364596" cy="522175"/>
          </a:xfrm>
          <a:prstGeom prst="rect">
            <a:avLst/>
          </a:prstGeom>
          <a:noFill/>
          <a:ln>
            <a:noFill/>
          </a:ln>
        </p:spPr>
      </p:pic>
      <p:sp>
        <p:nvSpPr>
          <p:cNvPr id="396" name="Google Shape;396;h11a342068904e6d2_0_1017"/>
          <p:cNvSpPr txBox="1"/>
          <p:nvPr/>
        </p:nvSpPr>
        <p:spPr>
          <a:xfrm>
            <a:off x="455375" y="2643738"/>
            <a:ext cx="8374200" cy="793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600"/>
              </a:spcBef>
              <a:spcAft>
                <a:spcPts val="0"/>
              </a:spcAft>
              <a:buNone/>
            </a:pPr>
            <a:r>
              <a:rPr b="1" lang="en-US" sz="1700">
                <a:solidFill>
                  <a:srgbClr val="B7B7B7"/>
                </a:solidFill>
              </a:rPr>
              <a:t>Principal Investigator : </a:t>
            </a:r>
            <a:r>
              <a:rPr lang="en-US" sz="1700">
                <a:solidFill>
                  <a:srgbClr val="B7B7B7"/>
                </a:solidFill>
              </a:rPr>
              <a:t>Raphaëlle Klitting</a:t>
            </a:r>
            <a:endParaRPr sz="1700">
              <a:solidFill>
                <a:srgbClr val="B7B7B7"/>
              </a:solidFill>
            </a:endParaRPr>
          </a:p>
          <a:p>
            <a:pPr indent="0" lvl="0" marL="0" rtl="0" algn="ctr">
              <a:lnSpc>
                <a:spcPct val="115000"/>
              </a:lnSpc>
              <a:spcBef>
                <a:spcPts val="600"/>
              </a:spcBef>
              <a:spcAft>
                <a:spcPts val="0"/>
              </a:spcAft>
              <a:buNone/>
            </a:pPr>
            <a:r>
              <a:rPr lang="en-US" sz="1500">
                <a:solidFill>
                  <a:srgbClr val="B7B7B7"/>
                </a:solidFill>
              </a:rPr>
              <a:t>Unité des Virus Émergents, AMU/UCPP - UMR IRD 190 - Inserm 1207 - IRBA </a:t>
            </a:r>
            <a:endParaRPr sz="1500">
              <a:solidFill>
                <a:srgbClr val="B7B7B7"/>
              </a:solidFill>
            </a:endParaRPr>
          </a:p>
        </p:txBody>
      </p:sp>
      <p:pic>
        <p:nvPicPr>
          <p:cNvPr id="397" name="Google Shape;397;h11a342068904e6d2_0_1017"/>
          <p:cNvPicPr preferRelativeResize="0"/>
          <p:nvPr/>
        </p:nvPicPr>
        <p:blipFill>
          <a:blip r:embed="rId4">
            <a:alphaModFix/>
          </a:blip>
          <a:stretch>
            <a:fillRect/>
          </a:stretch>
        </p:blipFill>
        <p:spPr>
          <a:xfrm>
            <a:off x="7356225" y="71575"/>
            <a:ext cx="1267575" cy="921875"/>
          </a:xfrm>
          <a:prstGeom prst="rect">
            <a:avLst/>
          </a:prstGeom>
          <a:noFill/>
          <a:ln cap="flat" cmpd="sng" w="9525">
            <a:solidFill>
              <a:srgbClr val="CCCCCC"/>
            </a:solidFill>
            <a:prstDash val="solid"/>
            <a:round/>
            <a:headEnd len="sm" w="sm" type="none"/>
            <a:tailEnd len="sm" w="sm" type="none"/>
          </a:ln>
        </p:spPr>
      </p:pic>
      <p:pic>
        <p:nvPicPr>
          <p:cNvPr id="398" name="Google Shape;398;h11a342068904e6d2_0_1017"/>
          <p:cNvPicPr preferRelativeResize="0"/>
          <p:nvPr/>
        </p:nvPicPr>
        <p:blipFill rotWithShape="1">
          <a:blip r:embed="rId5">
            <a:alphaModFix/>
          </a:blip>
          <a:srcRect b="52596" l="1250" r="-1250" t="1088"/>
          <a:stretch/>
        </p:blipFill>
        <p:spPr>
          <a:xfrm>
            <a:off x="411575" y="139900"/>
            <a:ext cx="2101550" cy="638350"/>
          </a:xfrm>
          <a:prstGeom prst="rect">
            <a:avLst/>
          </a:prstGeom>
          <a:noFill/>
          <a:ln cap="flat" cmpd="sng" w="9525">
            <a:solidFill>
              <a:srgbClr val="B7B7B7"/>
            </a:solidFill>
            <a:prstDash val="solid"/>
            <a:round/>
            <a:headEnd len="sm" w="sm" type="none"/>
            <a:tailEnd len="sm" w="sm" type="none"/>
          </a:ln>
        </p:spPr>
      </p:pic>
      <p:grpSp>
        <p:nvGrpSpPr>
          <p:cNvPr id="399" name="Google Shape;399;h11a342068904e6d2_0_1017"/>
          <p:cNvGrpSpPr/>
          <p:nvPr/>
        </p:nvGrpSpPr>
        <p:grpSpPr>
          <a:xfrm>
            <a:off x="1723200" y="3685568"/>
            <a:ext cx="6059417" cy="1381744"/>
            <a:chOff x="441820" y="3264375"/>
            <a:chExt cx="7352769" cy="1917225"/>
          </a:xfrm>
        </p:grpSpPr>
        <p:pic>
          <p:nvPicPr>
            <p:cNvPr id="400" name="Google Shape;400;h11a342068904e6d2_0_1017"/>
            <p:cNvPicPr preferRelativeResize="0"/>
            <p:nvPr/>
          </p:nvPicPr>
          <p:blipFill rotWithShape="1">
            <a:blip r:embed="rId6">
              <a:alphaModFix/>
            </a:blip>
            <a:srcRect b="0" l="26552" r="0" t="0"/>
            <a:stretch/>
          </p:blipFill>
          <p:spPr>
            <a:xfrm>
              <a:off x="2317815" y="3264375"/>
              <a:ext cx="5476774" cy="1917225"/>
            </a:xfrm>
            <a:prstGeom prst="rect">
              <a:avLst/>
            </a:prstGeom>
            <a:noFill/>
            <a:ln>
              <a:noFill/>
            </a:ln>
          </p:spPr>
        </p:pic>
        <p:pic>
          <p:nvPicPr>
            <p:cNvPr id="401" name="Google Shape;401;h11a342068904e6d2_0_1017"/>
            <p:cNvPicPr preferRelativeResize="0"/>
            <p:nvPr/>
          </p:nvPicPr>
          <p:blipFill rotWithShape="1">
            <a:blip r:embed="rId7">
              <a:alphaModFix/>
            </a:blip>
            <a:srcRect b="0" l="0" r="0" t="5927"/>
            <a:stretch/>
          </p:blipFill>
          <p:spPr>
            <a:xfrm>
              <a:off x="441820" y="3310116"/>
              <a:ext cx="1889100" cy="1414650"/>
            </a:xfrm>
            <a:prstGeom prst="rect">
              <a:avLst/>
            </a:prstGeom>
            <a:noFill/>
            <a:ln>
              <a:noFill/>
            </a:ln>
          </p:spPr>
        </p:pic>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h11a342068904e6d2_0_65"/>
          <p:cNvSpPr txBox="1"/>
          <p:nvPr>
            <p:ph idx="4294967295" type="title"/>
          </p:nvPr>
        </p:nvSpPr>
        <p:spPr>
          <a:xfrm>
            <a:off x="503363" y="93083"/>
            <a:ext cx="7823700" cy="654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595959"/>
              </a:buClr>
              <a:buSzPts val="2700"/>
              <a:buFont typeface="Poppins"/>
              <a:buNone/>
            </a:pPr>
            <a:r>
              <a:rPr b="1" lang="en-US" sz="2600">
                <a:solidFill>
                  <a:srgbClr val="073763"/>
                </a:solidFill>
                <a:latin typeface="Helvetica Neue"/>
                <a:ea typeface="Helvetica Neue"/>
                <a:cs typeface="Helvetica Neue"/>
                <a:sym typeface="Helvetica Neue"/>
              </a:rPr>
              <a:t>Arboviruses genomic sampling</a:t>
            </a:r>
            <a:endParaRPr b="1" sz="2600">
              <a:solidFill>
                <a:srgbClr val="073763"/>
              </a:solidFill>
              <a:latin typeface="Helvetica Neue"/>
              <a:ea typeface="Helvetica Neue"/>
              <a:cs typeface="Helvetica Neue"/>
              <a:sym typeface="Helvetica Neue"/>
            </a:endParaRPr>
          </a:p>
        </p:txBody>
      </p:sp>
      <p:sp>
        <p:nvSpPr>
          <p:cNvPr id="407" name="Google Shape;407;h11a342068904e6d2_0_65"/>
          <p:cNvSpPr txBox="1"/>
          <p:nvPr/>
        </p:nvSpPr>
        <p:spPr>
          <a:xfrm>
            <a:off x="544316" y="1054254"/>
            <a:ext cx="3846300" cy="1782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500">
                <a:solidFill>
                  <a:schemeClr val="dk2"/>
                </a:solidFill>
                <a:latin typeface="Helvetica Neue"/>
                <a:ea typeface="Helvetica Neue"/>
                <a:cs typeface="Helvetica Neue"/>
                <a:sym typeface="Helvetica Neue"/>
              </a:rPr>
              <a:t>Example: dengue virus</a:t>
            </a:r>
            <a:endParaRPr b="1" sz="1500">
              <a:solidFill>
                <a:schemeClr val="dk2"/>
              </a:solidFill>
              <a:latin typeface="Helvetica Neue"/>
              <a:ea typeface="Helvetica Neue"/>
              <a:cs typeface="Helvetica Neue"/>
              <a:sym typeface="Helvetica Neue"/>
            </a:endParaRPr>
          </a:p>
          <a:p>
            <a:pPr indent="0" lvl="0" marL="0" rtl="0" algn="l">
              <a:lnSpc>
                <a:spcPct val="115000"/>
              </a:lnSpc>
              <a:spcBef>
                <a:spcPts val="1000"/>
              </a:spcBef>
              <a:spcAft>
                <a:spcPts val="0"/>
              </a:spcAft>
              <a:buNone/>
            </a:pPr>
            <a:r>
              <a:rPr lang="en-US" sz="1500">
                <a:solidFill>
                  <a:schemeClr val="dk2"/>
                </a:solidFill>
                <a:latin typeface="Helvetica Neue Light"/>
                <a:ea typeface="Helvetica Neue Light"/>
                <a:cs typeface="Helvetica Neue Light"/>
                <a:sym typeface="Helvetica Neue Light"/>
              </a:rPr>
              <a:t>~75,000 genomes on GISAID</a:t>
            </a:r>
            <a:endParaRPr sz="1500">
              <a:solidFill>
                <a:schemeClr val="dk2"/>
              </a:solidFill>
              <a:latin typeface="Helvetica Neue Light"/>
              <a:ea typeface="Helvetica Neue Light"/>
              <a:cs typeface="Helvetica Neue Light"/>
              <a:sym typeface="Helvetica Neue Light"/>
            </a:endParaRPr>
          </a:p>
          <a:p>
            <a:pPr indent="0" lvl="0" marL="0" rtl="0" algn="l">
              <a:lnSpc>
                <a:spcPct val="115000"/>
              </a:lnSpc>
              <a:spcBef>
                <a:spcPts val="1000"/>
              </a:spcBef>
              <a:spcAft>
                <a:spcPts val="0"/>
              </a:spcAft>
              <a:buNone/>
            </a:pPr>
            <a:r>
              <a:rPr lang="en-US" sz="1500">
                <a:solidFill>
                  <a:schemeClr val="dk2"/>
                </a:solidFill>
                <a:latin typeface="Helvetica Neue Light"/>
                <a:ea typeface="Helvetica Neue Light"/>
                <a:cs typeface="Helvetica Neue Light"/>
                <a:sym typeface="Helvetica Neue Light"/>
              </a:rPr>
              <a:t>~14M cases in 2024</a:t>
            </a:r>
            <a:endParaRPr sz="1500">
              <a:solidFill>
                <a:schemeClr val="dk2"/>
              </a:solidFill>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rPr b="1" lang="en-US" sz="1500">
                <a:solidFill>
                  <a:schemeClr val="dk2"/>
                </a:solidFill>
                <a:latin typeface="Helvetica Neue"/>
                <a:ea typeface="Helvetica Neue"/>
                <a:cs typeface="Helvetica Neue"/>
                <a:sym typeface="Helvetica Neue"/>
              </a:rPr>
              <a:t>&lt;0,006%</a:t>
            </a:r>
            <a:r>
              <a:rPr lang="en-US" sz="1500">
                <a:solidFill>
                  <a:schemeClr val="dk2"/>
                </a:solidFill>
                <a:latin typeface="Helvetica Neue Light"/>
                <a:ea typeface="Helvetica Neue Light"/>
                <a:cs typeface="Helvetica Neue Light"/>
                <a:sym typeface="Helvetica Neue Light"/>
              </a:rPr>
              <a:t> of cases are sequenced</a:t>
            </a:r>
            <a:endParaRPr sz="1500">
              <a:solidFill>
                <a:schemeClr val="dk2"/>
              </a:solidFill>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rPr b="1" lang="en-US" sz="1500">
                <a:solidFill>
                  <a:schemeClr val="dk2"/>
                </a:solidFill>
                <a:latin typeface="Helvetica Neue"/>
                <a:ea typeface="Helvetica Neue"/>
                <a:cs typeface="Helvetica Neue"/>
                <a:sym typeface="Helvetica Neue"/>
              </a:rPr>
              <a:t>heterogeneous </a:t>
            </a:r>
            <a:r>
              <a:rPr lang="en-US" sz="1500">
                <a:solidFill>
                  <a:schemeClr val="dk2"/>
                </a:solidFill>
                <a:latin typeface="Helvetica Neue Light"/>
                <a:ea typeface="Helvetica Neue Light"/>
                <a:cs typeface="Helvetica Neue Light"/>
                <a:sym typeface="Helvetica Neue Light"/>
              </a:rPr>
              <a:t>distribution</a:t>
            </a:r>
            <a:endParaRPr sz="1500">
              <a:solidFill>
                <a:schemeClr val="dk2"/>
              </a:solidFill>
              <a:latin typeface="Helvetica Neue Light"/>
              <a:ea typeface="Helvetica Neue Light"/>
              <a:cs typeface="Helvetica Neue Light"/>
              <a:sym typeface="Helvetica Neue Light"/>
            </a:endParaRPr>
          </a:p>
        </p:txBody>
      </p:sp>
      <p:pic>
        <p:nvPicPr>
          <p:cNvPr id="408" name="Google Shape;408;h11a342068904e6d2_0_65" title="Screenshot from 2026-04-22 18-47-22.png"/>
          <p:cNvPicPr preferRelativeResize="0"/>
          <p:nvPr/>
        </p:nvPicPr>
        <p:blipFill>
          <a:blip r:embed="rId3">
            <a:alphaModFix/>
          </a:blip>
          <a:stretch>
            <a:fillRect/>
          </a:stretch>
        </p:blipFill>
        <p:spPr>
          <a:xfrm>
            <a:off x="594352" y="2765625"/>
            <a:ext cx="3298312" cy="1861266"/>
          </a:xfrm>
          <a:prstGeom prst="rect">
            <a:avLst/>
          </a:prstGeom>
          <a:noFill/>
          <a:ln>
            <a:noFill/>
          </a:ln>
        </p:spPr>
      </p:pic>
      <p:sp>
        <p:nvSpPr>
          <p:cNvPr id="409" name="Google Shape;409;h11a342068904e6d2_0_65"/>
          <p:cNvSpPr txBox="1"/>
          <p:nvPr/>
        </p:nvSpPr>
        <p:spPr>
          <a:xfrm>
            <a:off x="889161" y="4511938"/>
            <a:ext cx="2613000" cy="27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300">
                <a:solidFill>
                  <a:schemeClr val="dk2"/>
                </a:solidFill>
                <a:latin typeface="Helvetica Neue Light"/>
                <a:ea typeface="Helvetica Neue Light"/>
                <a:cs typeface="Helvetica Neue Light"/>
                <a:sym typeface="Helvetica Neue Light"/>
              </a:rPr>
              <a:t>Number of sequences available on GISAID per country </a:t>
            </a:r>
            <a:endParaRPr sz="1300">
              <a:solidFill>
                <a:schemeClr val="dk2"/>
              </a:solidFill>
              <a:latin typeface="Helvetica Neue Light"/>
              <a:ea typeface="Helvetica Neue Light"/>
              <a:cs typeface="Helvetica Neue Light"/>
              <a:sym typeface="Helvetica Neue Light"/>
            </a:endParaRPr>
          </a:p>
        </p:txBody>
      </p:sp>
      <p:cxnSp>
        <p:nvCxnSpPr>
          <p:cNvPr id="410" name="Google Shape;410;h11a342068904e6d2_0_65"/>
          <p:cNvCxnSpPr/>
          <p:nvPr/>
        </p:nvCxnSpPr>
        <p:spPr>
          <a:xfrm flipH="1" rot="10800000">
            <a:off x="544331" y="861465"/>
            <a:ext cx="7315200" cy="2700"/>
          </a:xfrm>
          <a:prstGeom prst="straightConnector1">
            <a:avLst/>
          </a:prstGeom>
          <a:noFill/>
          <a:ln cap="flat" cmpd="sng" w="28575">
            <a:solidFill>
              <a:srgbClr val="FF9900"/>
            </a:solidFill>
            <a:prstDash val="solid"/>
            <a:round/>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cxnSp>
        <p:nvCxnSpPr>
          <p:cNvPr id="415" name="Google Shape;415;h11a342068904e6d2_0_73"/>
          <p:cNvCxnSpPr/>
          <p:nvPr/>
        </p:nvCxnSpPr>
        <p:spPr>
          <a:xfrm flipH="1" rot="10800000">
            <a:off x="544331" y="861465"/>
            <a:ext cx="7315200" cy="2700"/>
          </a:xfrm>
          <a:prstGeom prst="straightConnector1">
            <a:avLst/>
          </a:prstGeom>
          <a:noFill/>
          <a:ln cap="flat" cmpd="sng" w="28575">
            <a:solidFill>
              <a:srgbClr val="FF9900"/>
            </a:solidFill>
            <a:prstDash val="solid"/>
            <a:round/>
            <a:headEnd len="sm" w="sm" type="none"/>
            <a:tailEnd len="sm" w="sm" type="none"/>
          </a:ln>
        </p:spPr>
      </p:cxnSp>
      <p:sp>
        <p:nvSpPr>
          <p:cNvPr id="416" name="Google Shape;416;h11a342068904e6d2_0_73"/>
          <p:cNvSpPr txBox="1"/>
          <p:nvPr/>
        </p:nvSpPr>
        <p:spPr>
          <a:xfrm>
            <a:off x="4881528" y="4135248"/>
            <a:ext cx="3303300" cy="66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300">
                <a:solidFill>
                  <a:schemeClr val="dk2"/>
                </a:solidFill>
                <a:latin typeface="Helvetica Neue Light"/>
                <a:ea typeface="Helvetica Neue Light"/>
                <a:cs typeface="Helvetica Neue Light"/>
                <a:sym typeface="Helvetica Neue Light"/>
              </a:rPr>
              <a:t>Number of sequences available on GISAID per sampling date</a:t>
            </a:r>
            <a:endParaRPr sz="1300">
              <a:solidFill>
                <a:schemeClr val="dk2"/>
              </a:solidFill>
              <a:latin typeface="Helvetica Neue Light"/>
              <a:ea typeface="Helvetica Neue Light"/>
              <a:cs typeface="Helvetica Neue Light"/>
              <a:sym typeface="Helvetica Neue Light"/>
            </a:endParaRPr>
          </a:p>
        </p:txBody>
      </p:sp>
      <p:pic>
        <p:nvPicPr>
          <p:cNvPr id="417" name="Google Shape;417;h11a342068904e6d2_0_73" title="Screenshot from 2026-04-22 18-44-26.png"/>
          <p:cNvPicPr preferRelativeResize="0"/>
          <p:nvPr/>
        </p:nvPicPr>
        <p:blipFill rotWithShape="1">
          <a:blip r:embed="rId3">
            <a:alphaModFix/>
          </a:blip>
          <a:srcRect b="0" l="0" r="0" t="10722"/>
          <a:stretch/>
        </p:blipFill>
        <p:spPr>
          <a:xfrm>
            <a:off x="4129406" y="2836848"/>
            <a:ext cx="4726221" cy="1271825"/>
          </a:xfrm>
          <a:prstGeom prst="rect">
            <a:avLst/>
          </a:prstGeom>
          <a:noFill/>
          <a:ln>
            <a:noFill/>
          </a:ln>
        </p:spPr>
      </p:pic>
      <p:sp>
        <p:nvSpPr>
          <p:cNvPr id="418" name="Google Shape;418;h11a342068904e6d2_0_73"/>
          <p:cNvSpPr txBox="1"/>
          <p:nvPr/>
        </p:nvSpPr>
        <p:spPr>
          <a:xfrm>
            <a:off x="544316" y="1054254"/>
            <a:ext cx="3846300" cy="1782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1500">
                <a:solidFill>
                  <a:schemeClr val="dk2"/>
                </a:solidFill>
                <a:latin typeface="Helvetica Neue"/>
                <a:ea typeface="Helvetica Neue"/>
                <a:cs typeface="Helvetica Neue"/>
                <a:sym typeface="Helvetica Neue"/>
              </a:rPr>
              <a:t>Example: dengue virus</a:t>
            </a:r>
            <a:endParaRPr b="1" sz="1500">
              <a:solidFill>
                <a:schemeClr val="dk2"/>
              </a:solidFill>
              <a:latin typeface="Helvetica Neue"/>
              <a:ea typeface="Helvetica Neue"/>
              <a:cs typeface="Helvetica Neue"/>
              <a:sym typeface="Helvetica Neue"/>
            </a:endParaRPr>
          </a:p>
          <a:p>
            <a:pPr indent="0" lvl="0" marL="0" rtl="0" algn="l">
              <a:lnSpc>
                <a:spcPct val="115000"/>
              </a:lnSpc>
              <a:spcBef>
                <a:spcPts val="1000"/>
              </a:spcBef>
              <a:spcAft>
                <a:spcPts val="0"/>
              </a:spcAft>
              <a:buNone/>
            </a:pPr>
            <a:r>
              <a:rPr lang="en-US" sz="1500">
                <a:solidFill>
                  <a:schemeClr val="dk2"/>
                </a:solidFill>
                <a:latin typeface="Helvetica Neue Light"/>
                <a:ea typeface="Helvetica Neue Light"/>
                <a:cs typeface="Helvetica Neue Light"/>
                <a:sym typeface="Helvetica Neue Light"/>
              </a:rPr>
              <a:t>~75,000 genomes on GISAID</a:t>
            </a:r>
            <a:endParaRPr sz="1500">
              <a:solidFill>
                <a:schemeClr val="dk2"/>
              </a:solidFill>
              <a:latin typeface="Helvetica Neue Light"/>
              <a:ea typeface="Helvetica Neue Light"/>
              <a:cs typeface="Helvetica Neue Light"/>
              <a:sym typeface="Helvetica Neue Light"/>
            </a:endParaRPr>
          </a:p>
          <a:p>
            <a:pPr indent="0" lvl="0" marL="0" rtl="0" algn="l">
              <a:lnSpc>
                <a:spcPct val="115000"/>
              </a:lnSpc>
              <a:spcBef>
                <a:spcPts val="1000"/>
              </a:spcBef>
              <a:spcAft>
                <a:spcPts val="0"/>
              </a:spcAft>
              <a:buNone/>
            </a:pPr>
            <a:r>
              <a:rPr lang="en-US" sz="1500">
                <a:solidFill>
                  <a:schemeClr val="dk2"/>
                </a:solidFill>
                <a:latin typeface="Helvetica Neue Light"/>
                <a:ea typeface="Helvetica Neue Light"/>
                <a:cs typeface="Helvetica Neue Light"/>
                <a:sym typeface="Helvetica Neue Light"/>
              </a:rPr>
              <a:t>~14M cases in 2024</a:t>
            </a:r>
            <a:endParaRPr sz="1500">
              <a:solidFill>
                <a:schemeClr val="dk2"/>
              </a:solidFill>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rPr b="1" lang="en-US" sz="1500">
                <a:solidFill>
                  <a:schemeClr val="dk2"/>
                </a:solidFill>
                <a:latin typeface="Helvetica Neue"/>
                <a:ea typeface="Helvetica Neue"/>
                <a:cs typeface="Helvetica Neue"/>
                <a:sym typeface="Helvetica Neue"/>
              </a:rPr>
              <a:t>&lt;0,006%</a:t>
            </a:r>
            <a:r>
              <a:rPr lang="en-US" sz="1500">
                <a:solidFill>
                  <a:schemeClr val="dk2"/>
                </a:solidFill>
                <a:latin typeface="Helvetica Neue Light"/>
                <a:ea typeface="Helvetica Neue Light"/>
                <a:cs typeface="Helvetica Neue Light"/>
                <a:sym typeface="Helvetica Neue Light"/>
              </a:rPr>
              <a:t> of cases are sequenced</a:t>
            </a:r>
            <a:endParaRPr sz="1500">
              <a:solidFill>
                <a:schemeClr val="dk2"/>
              </a:solidFill>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rPr b="1" lang="en-US" sz="1500">
                <a:solidFill>
                  <a:schemeClr val="dk2"/>
                </a:solidFill>
                <a:latin typeface="Helvetica Neue"/>
                <a:ea typeface="Helvetica Neue"/>
                <a:cs typeface="Helvetica Neue"/>
                <a:sym typeface="Helvetica Neue"/>
              </a:rPr>
              <a:t>heterogeneous </a:t>
            </a:r>
            <a:r>
              <a:rPr lang="en-US" sz="1500">
                <a:solidFill>
                  <a:schemeClr val="dk2"/>
                </a:solidFill>
                <a:latin typeface="Helvetica Neue Light"/>
                <a:ea typeface="Helvetica Neue Light"/>
                <a:cs typeface="Helvetica Neue Light"/>
                <a:sym typeface="Helvetica Neue Light"/>
              </a:rPr>
              <a:t>distribution</a:t>
            </a:r>
            <a:endParaRPr sz="1500">
              <a:solidFill>
                <a:schemeClr val="dk2"/>
              </a:solidFill>
              <a:latin typeface="Helvetica Neue Light"/>
              <a:ea typeface="Helvetica Neue Light"/>
              <a:cs typeface="Helvetica Neue Light"/>
              <a:sym typeface="Helvetica Neue Light"/>
            </a:endParaRPr>
          </a:p>
        </p:txBody>
      </p:sp>
      <p:pic>
        <p:nvPicPr>
          <p:cNvPr id="419" name="Google Shape;419;h11a342068904e6d2_0_73" title="Screenshot from 2026-04-22 18-47-22.png"/>
          <p:cNvPicPr preferRelativeResize="0"/>
          <p:nvPr/>
        </p:nvPicPr>
        <p:blipFill>
          <a:blip r:embed="rId4">
            <a:alphaModFix/>
          </a:blip>
          <a:stretch>
            <a:fillRect/>
          </a:stretch>
        </p:blipFill>
        <p:spPr>
          <a:xfrm>
            <a:off x="594352" y="2765625"/>
            <a:ext cx="3298312" cy="1861266"/>
          </a:xfrm>
          <a:prstGeom prst="rect">
            <a:avLst/>
          </a:prstGeom>
          <a:noFill/>
          <a:ln>
            <a:noFill/>
          </a:ln>
        </p:spPr>
      </p:pic>
      <p:sp>
        <p:nvSpPr>
          <p:cNvPr id="420" name="Google Shape;420;h11a342068904e6d2_0_73"/>
          <p:cNvSpPr txBox="1"/>
          <p:nvPr/>
        </p:nvSpPr>
        <p:spPr>
          <a:xfrm>
            <a:off x="889161" y="4511938"/>
            <a:ext cx="2613000" cy="27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300">
                <a:solidFill>
                  <a:schemeClr val="dk2"/>
                </a:solidFill>
                <a:latin typeface="Helvetica Neue Light"/>
                <a:ea typeface="Helvetica Neue Light"/>
                <a:cs typeface="Helvetica Neue Light"/>
                <a:sym typeface="Helvetica Neue Light"/>
              </a:rPr>
              <a:t>Number of sequences available on GISAID per country </a:t>
            </a:r>
            <a:endParaRPr sz="1300">
              <a:solidFill>
                <a:schemeClr val="dk2"/>
              </a:solidFill>
              <a:latin typeface="Helvetica Neue Light"/>
              <a:ea typeface="Helvetica Neue Light"/>
              <a:cs typeface="Helvetica Neue Light"/>
              <a:sym typeface="Helvetica Neue Light"/>
            </a:endParaRPr>
          </a:p>
        </p:txBody>
      </p:sp>
      <p:sp>
        <p:nvSpPr>
          <p:cNvPr id="421" name="Google Shape;421;h11a342068904e6d2_0_73"/>
          <p:cNvSpPr txBox="1"/>
          <p:nvPr>
            <p:ph idx="4294967295" type="title"/>
          </p:nvPr>
        </p:nvSpPr>
        <p:spPr>
          <a:xfrm>
            <a:off x="503363" y="93083"/>
            <a:ext cx="7823700" cy="654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595959"/>
              </a:buClr>
              <a:buSzPts val="2700"/>
              <a:buFont typeface="Poppins"/>
              <a:buNone/>
            </a:pPr>
            <a:r>
              <a:rPr b="1" lang="en-US" sz="2600">
                <a:solidFill>
                  <a:srgbClr val="073763"/>
                </a:solidFill>
                <a:latin typeface="Helvetica Neue"/>
                <a:ea typeface="Helvetica Neue"/>
                <a:cs typeface="Helvetica Neue"/>
                <a:sym typeface="Helvetica Neue"/>
              </a:rPr>
              <a:t>Arboviruses genomic sampling</a:t>
            </a:r>
            <a:endParaRPr b="1" sz="2600">
              <a:solidFill>
                <a:srgbClr val="073763"/>
              </a:solidFill>
              <a:latin typeface="Helvetica Neue"/>
              <a:ea typeface="Helvetica Neue"/>
              <a:cs typeface="Helvetica Neue"/>
              <a:sym typeface="Helvetica Neue"/>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cxnSp>
        <p:nvCxnSpPr>
          <p:cNvPr id="426" name="Google Shape;426;h11a342068904e6d2_0_246"/>
          <p:cNvCxnSpPr/>
          <p:nvPr/>
        </p:nvCxnSpPr>
        <p:spPr>
          <a:xfrm flipH="1" rot="10800000">
            <a:off x="544331" y="861465"/>
            <a:ext cx="7315200" cy="2700"/>
          </a:xfrm>
          <a:prstGeom prst="straightConnector1">
            <a:avLst/>
          </a:prstGeom>
          <a:noFill/>
          <a:ln cap="flat" cmpd="sng" w="28575">
            <a:solidFill>
              <a:srgbClr val="FF9900"/>
            </a:solidFill>
            <a:prstDash val="solid"/>
            <a:round/>
            <a:headEnd len="sm" w="sm" type="none"/>
            <a:tailEnd len="sm" w="sm" type="none"/>
          </a:ln>
        </p:spPr>
      </p:cxnSp>
      <p:sp>
        <p:nvSpPr>
          <p:cNvPr id="427" name="Google Shape;427;h11a342068904e6d2_0_246"/>
          <p:cNvSpPr txBox="1"/>
          <p:nvPr>
            <p:ph idx="4294967295" type="title"/>
          </p:nvPr>
        </p:nvSpPr>
        <p:spPr>
          <a:xfrm>
            <a:off x="503363" y="93083"/>
            <a:ext cx="7823700" cy="654900"/>
          </a:xfrm>
          <a:prstGeom prst="rect">
            <a:avLst/>
          </a:prstGeom>
          <a:noFill/>
          <a:ln>
            <a:noFill/>
          </a:ln>
        </p:spPr>
        <p:txBody>
          <a:bodyPr anchorCtr="0" anchor="b" bIns="34275" lIns="68575" spcFirstLastPara="1" rIns="68575" wrap="square" tIns="34275">
            <a:normAutofit/>
          </a:bodyPr>
          <a:lstStyle/>
          <a:p>
            <a:pPr indent="0" lvl="0" marL="0" rtl="0" algn="l">
              <a:lnSpc>
                <a:spcPct val="90000"/>
              </a:lnSpc>
              <a:spcBef>
                <a:spcPts val="0"/>
              </a:spcBef>
              <a:spcAft>
                <a:spcPts val="0"/>
              </a:spcAft>
              <a:buClr>
                <a:srgbClr val="595959"/>
              </a:buClr>
              <a:buSzPts val="2700"/>
              <a:buFont typeface="Poppins"/>
              <a:buNone/>
            </a:pPr>
            <a:r>
              <a:rPr b="1" lang="en-US" sz="2600">
                <a:solidFill>
                  <a:srgbClr val="073763"/>
                </a:solidFill>
                <a:latin typeface="Helvetica Neue"/>
                <a:ea typeface="Helvetica Neue"/>
                <a:cs typeface="Helvetica Neue"/>
                <a:sym typeface="Helvetica Neue"/>
              </a:rPr>
              <a:t>Arboviruses genomic sampling</a:t>
            </a:r>
            <a:endParaRPr b="1" sz="2600">
              <a:solidFill>
                <a:srgbClr val="073763"/>
              </a:solidFill>
              <a:latin typeface="Helvetica Neue"/>
              <a:ea typeface="Helvetica Neue"/>
              <a:cs typeface="Helvetica Neue"/>
              <a:sym typeface="Helvetica Neue"/>
            </a:endParaRPr>
          </a:p>
        </p:txBody>
      </p:sp>
      <p:sp>
        <p:nvSpPr>
          <p:cNvPr id="428" name="Google Shape;428;h11a342068904e6d2_0_246"/>
          <p:cNvSpPr/>
          <p:nvPr/>
        </p:nvSpPr>
        <p:spPr>
          <a:xfrm>
            <a:off x="339600" y="1852466"/>
            <a:ext cx="8532000" cy="2108100"/>
          </a:xfrm>
          <a:prstGeom prst="roundRect">
            <a:avLst>
              <a:gd fmla="val 9048" name="adj"/>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29" name="Google Shape;429;h11a342068904e6d2_0_246" title="Screenshot from 2025-03-20 07-33-48.png"/>
          <p:cNvPicPr preferRelativeResize="0"/>
          <p:nvPr/>
        </p:nvPicPr>
        <p:blipFill>
          <a:blip r:embed="rId3">
            <a:alphaModFix/>
          </a:blip>
          <a:stretch>
            <a:fillRect/>
          </a:stretch>
        </p:blipFill>
        <p:spPr>
          <a:xfrm>
            <a:off x="457200" y="1997541"/>
            <a:ext cx="1263000" cy="1706469"/>
          </a:xfrm>
          <a:prstGeom prst="rect">
            <a:avLst/>
          </a:prstGeom>
          <a:noFill/>
          <a:ln>
            <a:noFill/>
          </a:ln>
        </p:spPr>
      </p:pic>
      <p:sp>
        <p:nvSpPr>
          <p:cNvPr id="430" name="Google Shape;430;h11a342068904e6d2_0_246"/>
          <p:cNvSpPr/>
          <p:nvPr/>
        </p:nvSpPr>
        <p:spPr>
          <a:xfrm>
            <a:off x="956238" y="2006916"/>
            <a:ext cx="1263000" cy="4899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rgbClr val="073763"/>
              </a:solidFill>
              <a:latin typeface="Helvetica Neue Light"/>
              <a:ea typeface="Helvetica Neue Light"/>
              <a:cs typeface="Helvetica Neue Light"/>
              <a:sym typeface="Helvetica Neue Light"/>
            </a:endParaRPr>
          </a:p>
        </p:txBody>
      </p:sp>
      <p:pic>
        <p:nvPicPr>
          <p:cNvPr id="431" name="Google Shape;431;h11a342068904e6d2_0_246" title="Screenshot from 2025-03-20 09-44-35.png"/>
          <p:cNvPicPr preferRelativeResize="0"/>
          <p:nvPr/>
        </p:nvPicPr>
        <p:blipFill>
          <a:blip r:embed="rId4">
            <a:alphaModFix/>
          </a:blip>
          <a:stretch>
            <a:fillRect/>
          </a:stretch>
        </p:blipFill>
        <p:spPr>
          <a:xfrm>
            <a:off x="6937150" y="1937991"/>
            <a:ext cx="1710900" cy="1303559"/>
          </a:xfrm>
          <a:prstGeom prst="rect">
            <a:avLst/>
          </a:prstGeom>
          <a:noFill/>
          <a:ln>
            <a:noFill/>
          </a:ln>
        </p:spPr>
      </p:pic>
      <p:sp>
        <p:nvSpPr>
          <p:cNvPr id="432" name="Google Shape;432;h11a342068904e6d2_0_246"/>
          <p:cNvSpPr txBox="1"/>
          <p:nvPr/>
        </p:nvSpPr>
        <p:spPr>
          <a:xfrm>
            <a:off x="410274" y="1152533"/>
            <a:ext cx="8308200" cy="43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600">
                <a:solidFill>
                  <a:srgbClr val="073763"/>
                </a:solidFill>
                <a:latin typeface="Helvetica Neue"/>
                <a:ea typeface="Helvetica Neue"/>
                <a:cs typeface="Helvetica Neue"/>
                <a:sym typeface="Helvetica Neue"/>
              </a:rPr>
              <a:t>ARBOGEN : </a:t>
            </a:r>
            <a:r>
              <a:rPr b="1" lang="en-US" sz="1600">
                <a:solidFill>
                  <a:srgbClr val="073763"/>
                </a:solidFill>
                <a:latin typeface="Helvetica Neue"/>
                <a:ea typeface="Helvetica Neue"/>
                <a:cs typeface="Helvetica Neue"/>
                <a:sym typeface="Helvetica Neue"/>
              </a:rPr>
              <a:t>Identify the determinants of arbovirosis severity using large-scale genomic tracking</a:t>
            </a:r>
            <a:endParaRPr b="1" sz="1600">
              <a:solidFill>
                <a:srgbClr val="595959"/>
              </a:solidFill>
              <a:latin typeface="Helvetica Neue"/>
              <a:ea typeface="Helvetica Neue"/>
              <a:cs typeface="Helvetica Neue"/>
              <a:sym typeface="Helvetica Neue"/>
            </a:endParaRPr>
          </a:p>
        </p:txBody>
      </p:sp>
      <p:sp>
        <p:nvSpPr>
          <p:cNvPr id="433" name="Google Shape;433;h11a342068904e6d2_0_246"/>
          <p:cNvSpPr txBox="1"/>
          <p:nvPr/>
        </p:nvSpPr>
        <p:spPr>
          <a:xfrm>
            <a:off x="2813700" y="1988291"/>
            <a:ext cx="2051700" cy="10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solidFill>
                  <a:srgbClr val="595959"/>
                </a:solidFill>
                <a:latin typeface="Helvetica Neue"/>
                <a:ea typeface="Helvetica Neue"/>
                <a:cs typeface="Helvetica Neue"/>
                <a:sym typeface="Helvetica Neue"/>
              </a:rPr>
              <a:t>Genomic sampling</a:t>
            </a:r>
            <a:endParaRPr b="1" sz="1200">
              <a:solidFill>
                <a:srgbClr val="595959"/>
              </a:solidFill>
              <a:latin typeface="Helvetica Neue"/>
              <a:ea typeface="Helvetica Neue"/>
              <a:cs typeface="Helvetica Neue"/>
              <a:sym typeface="Helvetica Neue"/>
            </a:endParaRPr>
          </a:p>
          <a:p>
            <a:pPr indent="0" lvl="0" marL="0" rtl="0" algn="l">
              <a:spcBef>
                <a:spcPts val="600"/>
              </a:spcBef>
              <a:spcAft>
                <a:spcPts val="0"/>
              </a:spcAft>
              <a:buNone/>
            </a:pPr>
            <a:r>
              <a:rPr lang="en-US" sz="1200">
                <a:solidFill>
                  <a:srgbClr val="595959"/>
                </a:solidFill>
                <a:latin typeface="Helvetica Neue Light"/>
                <a:ea typeface="Helvetica Neue Light"/>
                <a:cs typeface="Helvetica Neue Light"/>
                <a:sym typeface="Helvetica Neue Light"/>
              </a:rPr>
              <a:t>EBOV (2013-2016) ~5%</a:t>
            </a:r>
            <a:endParaRPr sz="1200">
              <a:solidFill>
                <a:srgbClr val="595959"/>
              </a:solidFill>
              <a:latin typeface="Helvetica Neue Light"/>
              <a:ea typeface="Helvetica Neue Light"/>
              <a:cs typeface="Helvetica Neue Light"/>
              <a:sym typeface="Helvetica Neue Light"/>
            </a:endParaRPr>
          </a:p>
          <a:p>
            <a:pPr indent="0" lvl="0" marL="0" rtl="0" algn="l">
              <a:spcBef>
                <a:spcPts val="600"/>
              </a:spcBef>
              <a:spcAft>
                <a:spcPts val="0"/>
              </a:spcAft>
              <a:buNone/>
            </a:pPr>
            <a:r>
              <a:rPr lang="en-US" sz="1200">
                <a:solidFill>
                  <a:srgbClr val="595959"/>
                </a:solidFill>
                <a:latin typeface="Helvetica Neue Light"/>
                <a:ea typeface="Helvetica Neue Light"/>
                <a:cs typeface="Helvetica Neue Light"/>
                <a:sym typeface="Helvetica Neue Light"/>
              </a:rPr>
              <a:t>SARS-CoV-2 ~2%</a:t>
            </a:r>
            <a:endParaRPr sz="1200">
              <a:solidFill>
                <a:srgbClr val="595959"/>
              </a:solidFill>
              <a:latin typeface="Helvetica Neue Light"/>
              <a:ea typeface="Helvetica Neue Light"/>
              <a:cs typeface="Helvetica Neue Light"/>
              <a:sym typeface="Helvetica Neue Light"/>
            </a:endParaRPr>
          </a:p>
          <a:p>
            <a:pPr indent="0" lvl="0" marL="0" rtl="0" algn="l">
              <a:spcBef>
                <a:spcPts val="600"/>
              </a:spcBef>
              <a:spcAft>
                <a:spcPts val="0"/>
              </a:spcAft>
              <a:buNone/>
            </a:pPr>
            <a:r>
              <a:rPr lang="en-US" sz="1200">
                <a:solidFill>
                  <a:srgbClr val="FF0000"/>
                </a:solidFill>
                <a:latin typeface="Helvetica Neue Light"/>
                <a:ea typeface="Helvetica Neue Light"/>
                <a:cs typeface="Helvetica Neue Light"/>
                <a:sym typeface="Helvetica Neue Light"/>
              </a:rPr>
              <a:t>DENV (2023) &lt;0.1%</a:t>
            </a:r>
            <a:endParaRPr sz="1200">
              <a:solidFill>
                <a:srgbClr val="FF0000"/>
              </a:solidFill>
              <a:latin typeface="Helvetica Neue Light"/>
              <a:ea typeface="Helvetica Neue Light"/>
              <a:cs typeface="Helvetica Neue Light"/>
              <a:sym typeface="Helvetica Neue Light"/>
            </a:endParaRPr>
          </a:p>
          <a:p>
            <a:pPr indent="0" lvl="0" marL="0" rtl="0" algn="l">
              <a:spcBef>
                <a:spcPts val="600"/>
              </a:spcBef>
              <a:spcAft>
                <a:spcPts val="0"/>
              </a:spcAft>
              <a:buNone/>
            </a:pPr>
            <a:r>
              <a:rPr lang="en-US" sz="1200">
                <a:solidFill>
                  <a:srgbClr val="FF0000"/>
                </a:solidFill>
                <a:latin typeface="Helvetica Neue Light"/>
                <a:ea typeface="Helvetica Neue Light"/>
                <a:cs typeface="Helvetica Neue Light"/>
                <a:sym typeface="Helvetica Neue Light"/>
              </a:rPr>
              <a:t>CHIKV &lt;0.1%</a:t>
            </a:r>
            <a:endParaRPr sz="1200">
              <a:solidFill>
                <a:srgbClr val="FF0000"/>
              </a:solidFill>
              <a:latin typeface="Helvetica Neue Light"/>
              <a:ea typeface="Helvetica Neue Light"/>
              <a:cs typeface="Helvetica Neue Light"/>
              <a:sym typeface="Helvetica Neue Light"/>
            </a:endParaRPr>
          </a:p>
          <a:p>
            <a:pPr indent="0" lvl="0" marL="0" rtl="0" algn="l">
              <a:spcBef>
                <a:spcPts val="600"/>
              </a:spcBef>
              <a:spcAft>
                <a:spcPts val="600"/>
              </a:spcAft>
              <a:buNone/>
            </a:pPr>
            <a:r>
              <a:t/>
            </a:r>
            <a:endParaRPr sz="1200">
              <a:solidFill>
                <a:srgbClr val="595959"/>
              </a:solidFill>
              <a:latin typeface="Helvetica Neue Light"/>
              <a:ea typeface="Helvetica Neue Light"/>
              <a:cs typeface="Helvetica Neue Light"/>
              <a:sym typeface="Helvetica Neue Light"/>
            </a:endParaRPr>
          </a:p>
        </p:txBody>
      </p:sp>
      <p:grpSp>
        <p:nvGrpSpPr>
          <p:cNvPr id="434" name="Google Shape;434;h11a342068904e6d2_0_246"/>
          <p:cNvGrpSpPr/>
          <p:nvPr/>
        </p:nvGrpSpPr>
        <p:grpSpPr>
          <a:xfrm>
            <a:off x="1222621" y="2235488"/>
            <a:ext cx="1468570" cy="1076442"/>
            <a:chOff x="1070163" y="1300111"/>
            <a:chExt cx="1595231" cy="1163092"/>
          </a:xfrm>
        </p:grpSpPr>
        <p:grpSp>
          <p:nvGrpSpPr>
            <p:cNvPr id="435" name="Google Shape;435;h11a342068904e6d2_0_246"/>
            <p:cNvGrpSpPr/>
            <p:nvPr/>
          </p:nvGrpSpPr>
          <p:grpSpPr>
            <a:xfrm>
              <a:off x="1070163" y="1300111"/>
              <a:ext cx="1595231" cy="1163092"/>
              <a:chOff x="2009775" y="1061000"/>
              <a:chExt cx="2157175" cy="1668951"/>
            </a:xfrm>
          </p:grpSpPr>
          <p:pic>
            <p:nvPicPr>
              <p:cNvPr id="436" name="Google Shape;436;h11a342068904e6d2_0_246" title="Screenshot from 2025-03-20 09-19-50.png"/>
              <p:cNvPicPr preferRelativeResize="0"/>
              <p:nvPr/>
            </p:nvPicPr>
            <p:blipFill>
              <a:blip r:embed="rId5">
                <a:alphaModFix/>
              </a:blip>
              <a:stretch>
                <a:fillRect/>
              </a:stretch>
            </p:blipFill>
            <p:spPr>
              <a:xfrm>
                <a:off x="3282773" y="1960452"/>
                <a:ext cx="884177" cy="769500"/>
              </a:xfrm>
              <a:prstGeom prst="rect">
                <a:avLst/>
              </a:prstGeom>
              <a:noFill/>
              <a:ln>
                <a:noFill/>
              </a:ln>
            </p:spPr>
          </p:pic>
          <p:sp>
            <p:nvSpPr>
              <p:cNvPr id="437" name="Google Shape;437;h11a342068904e6d2_0_246"/>
              <p:cNvSpPr/>
              <p:nvPr/>
            </p:nvSpPr>
            <p:spPr>
              <a:xfrm>
                <a:off x="2009775" y="1061000"/>
                <a:ext cx="1269600" cy="1258500"/>
              </a:xfrm>
              <a:prstGeom prst="ellipse">
                <a:avLst/>
              </a:prstGeom>
              <a:solidFill>
                <a:srgbClr val="FFFFFF"/>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38" name="Google Shape;438;h11a342068904e6d2_0_246" title="Screenshot from 2025-03-19 15-12-23.png"/>
              <p:cNvPicPr preferRelativeResize="0"/>
              <p:nvPr/>
            </p:nvPicPr>
            <p:blipFill>
              <a:blip r:embed="rId6">
                <a:alphaModFix/>
              </a:blip>
              <a:stretch>
                <a:fillRect/>
              </a:stretch>
            </p:blipFill>
            <p:spPr>
              <a:xfrm>
                <a:off x="2478375" y="1658475"/>
                <a:ext cx="283875" cy="251325"/>
              </a:xfrm>
              <a:prstGeom prst="rect">
                <a:avLst/>
              </a:prstGeom>
              <a:noFill/>
              <a:ln>
                <a:noFill/>
              </a:ln>
            </p:spPr>
          </p:pic>
          <p:pic>
            <p:nvPicPr>
              <p:cNvPr id="439" name="Google Shape;439;h11a342068904e6d2_0_246" title="Screenshot from 2025-03-19 15-12-23.png"/>
              <p:cNvPicPr preferRelativeResize="0"/>
              <p:nvPr/>
            </p:nvPicPr>
            <p:blipFill>
              <a:blip r:embed="rId6">
                <a:alphaModFix/>
              </a:blip>
              <a:stretch>
                <a:fillRect/>
              </a:stretch>
            </p:blipFill>
            <p:spPr>
              <a:xfrm>
                <a:off x="2781300" y="1711650"/>
                <a:ext cx="283875" cy="251321"/>
              </a:xfrm>
              <a:prstGeom prst="rect">
                <a:avLst/>
              </a:prstGeom>
              <a:noFill/>
              <a:ln>
                <a:noFill/>
              </a:ln>
            </p:spPr>
          </p:pic>
          <p:pic>
            <p:nvPicPr>
              <p:cNvPr id="440" name="Google Shape;440;h11a342068904e6d2_0_246" title="Screenshot from 2025-03-19 15-12-23.png"/>
              <p:cNvPicPr preferRelativeResize="0"/>
              <p:nvPr/>
            </p:nvPicPr>
            <p:blipFill>
              <a:blip r:embed="rId7">
                <a:alphaModFix/>
              </a:blip>
              <a:stretch>
                <a:fillRect/>
              </a:stretch>
            </p:blipFill>
            <p:spPr>
              <a:xfrm>
                <a:off x="2541768" y="1389374"/>
                <a:ext cx="147808" cy="132035"/>
              </a:xfrm>
              <a:prstGeom prst="rect">
                <a:avLst/>
              </a:prstGeom>
              <a:noFill/>
              <a:ln>
                <a:noFill/>
              </a:ln>
            </p:spPr>
          </p:pic>
          <p:pic>
            <p:nvPicPr>
              <p:cNvPr id="441" name="Google Shape;441;h11a342068904e6d2_0_246" title="Screenshot from 2025-03-19 15-12-23.png"/>
              <p:cNvPicPr preferRelativeResize="0"/>
              <p:nvPr/>
            </p:nvPicPr>
            <p:blipFill>
              <a:blip r:embed="rId6">
                <a:alphaModFix/>
              </a:blip>
              <a:stretch>
                <a:fillRect/>
              </a:stretch>
            </p:blipFill>
            <p:spPr>
              <a:xfrm>
                <a:off x="2145000" y="1546348"/>
                <a:ext cx="350550" cy="310350"/>
              </a:xfrm>
              <a:prstGeom prst="rect">
                <a:avLst/>
              </a:prstGeom>
              <a:noFill/>
              <a:ln>
                <a:noFill/>
              </a:ln>
            </p:spPr>
          </p:pic>
          <p:pic>
            <p:nvPicPr>
              <p:cNvPr id="442" name="Google Shape;442;h11a342068904e6d2_0_246" title="Screenshot from 2025-03-19 15-12-23.png"/>
              <p:cNvPicPr preferRelativeResize="0"/>
              <p:nvPr/>
            </p:nvPicPr>
            <p:blipFill>
              <a:blip r:embed="rId6">
                <a:alphaModFix/>
              </a:blip>
              <a:stretch>
                <a:fillRect/>
              </a:stretch>
            </p:blipFill>
            <p:spPr>
              <a:xfrm>
                <a:off x="2721100" y="1284261"/>
                <a:ext cx="404275" cy="357914"/>
              </a:xfrm>
              <a:prstGeom prst="rect">
                <a:avLst/>
              </a:prstGeom>
              <a:noFill/>
              <a:ln>
                <a:noFill/>
              </a:ln>
            </p:spPr>
          </p:pic>
          <p:pic>
            <p:nvPicPr>
              <p:cNvPr id="443" name="Google Shape;443;h11a342068904e6d2_0_246" title="Screenshot from 2025-03-19 15-12-23.png"/>
              <p:cNvPicPr preferRelativeResize="0"/>
              <p:nvPr/>
            </p:nvPicPr>
            <p:blipFill>
              <a:blip r:embed="rId6">
                <a:alphaModFix/>
              </a:blip>
              <a:stretch>
                <a:fillRect/>
              </a:stretch>
            </p:blipFill>
            <p:spPr>
              <a:xfrm>
                <a:off x="2402175" y="1849900"/>
                <a:ext cx="121425" cy="107500"/>
              </a:xfrm>
              <a:prstGeom prst="rect">
                <a:avLst/>
              </a:prstGeom>
              <a:noFill/>
              <a:ln>
                <a:noFill/>
              </a:ln>
            </p:spPr>
          </p:pic>
          <p:pic>
            <p:nvPicPr>
              <p:cNvPr id="444" name="Google Shape;444;h11a342068904e6d2_0_246" title="Screenshot from 2025-03-19 15-12-23.png"/>
              <p:cNvPicPr preferRelativeResize="0"/>
              <p:nvPr/>
            </p:nvPicPr>
            <p:blipFill>
              <a:blip r:embed="rId6">
                <a:alphaModFix/>
              </a:blip>
              <a:stretch>
                <a:fillRect/>
              </a:stretch>
            </p:blipFill>
            <p:spPr>
              <a:xfrm>
                <a:off x="2254538" y="1217587"/>
                <a:ext cx="283875" cy="251321"/>
              </a:xfrm>
              <a:prstGeom prst="rect">
                <a:avLst/>
              </a:prstGeom>
              <a:noFill/>
              <a:ln>
                <a:noFill/>
              </a:ln>
            </p:spPr>
          </p:pic>
          <p:cxnSp>
            <p:nvCxnSpPr>
              <p:cNvPr id="445" name="Google Shape;445;h11a342068904e6d2_0_246"/>
              <p:cNvCxnSpPr/>
              <p:nvPr/>
            </p:nvCxnSpPr>
            <p:spPr>
              <a:xfrm>
                <a:off x="3095762" y="1243152"/>
                <a:ext cx="819000" cy="828600"/>
              </a:xfrm>
              <a:prstGeom prst="straightConnector1">
                <a:avLst/>
              </a:prstGeom>
              <a:noFill/>
              <a:ln cap="flat" cmpd="sng" w="9525">
                <a:solidFill>
                  <a:srgbClr val="595959"/>
                </a:solidFill>
                <a:prstDash val="solid"/>
                <a:round/>
                <a:headEnd len="med" w="med" type="none"/>
                <a:tailEnd len="med" w="med" type="none"/>
              </a:ln>
            </p:spPr>
          </p:cxnSp>
          <p:cxnSp>
            <p:nvCxnSpPr>
              <p:cNvPr id="446" name="Google Shape;446;h11a342068904e6d2_0_246"/>
              <p:cNvCxnSpPr>
                <a:stCxn id="437" idx="4"/>
              </p:cNvCxnSpPr>
              <p:nvPr/>
            </p:nvCxnSpPr>
            <p:spPr>
              <a:xfrm>
                <a:off x="2644575" y="2319500"/>
                <a:ext cx="889200" cy="304800"/>
              </a:xfrm>
              <a:prstGeom prst="straightConnector1">
                <a:avLst/>
              </a:prstGeom>
              <a:noFill/>
              <a:ln cap="flat" cmpd="sng" w="9525">
                <a:solidFill>
                  <a:srgbClr val="595959"/>
                </a:solidFill>
                <a:prstDash val="solid"/>
                <a:round/>
                <a:headEnd len="med" w="med" type="none"/>
                <a:tailEnd len="med" w="med" type="none"/>
              </a:ln>
            </p:spPr>
          </p:cxnSp>
        </p:grpSp>
        <p:pic>
          <p:nvPicPr>
            <p:cNvPr id="447" name="Google Shape;447;h11a342068904e6d2_0_246" title="Screenshot from 2025-03-19 15-12-23.png"/>
            <p:cNvPicPr preferRelativeResize="0"/>
            <p:nvPr/>
          </p:nvPicPr>
          <p:blipFill>
            <a:blip r:embed="rId6">
              <a:alphaModFix/>
            </a:blip>
            <a:stretch>
              <a:fillRect/>
            </a:stretch>
          </p:blipFill>
          <p:spPr>
            <a:xfrm>
              <a:off x="1488305" y="1982149"/>
              <a:ext cx="209926" cy="175146"/>
            </a:xfrm>
            <a:prstGeom prst="rect">
              <a:avLst/>
            </a:prstGeom>
            <a:noFill/>
            <a:ln>
              <a:noFill/>
            </a:ln>
          </p:spPr>
        </p:pic>
        <p:pic>
          <p:nvPicPr>
            <p:cNvPr id="448" name="Google Shape;448;h11a342068904e6d2_0_246" title="Screenshot from 2025-03-19 15-12-23.png"/>
            <p:cNvPicPr preferRelativeResize="0"/>
            <p:nvPr/>
          </p:nvPicPr>
          <p:blipFill>
            <a:blip r:embed="rId6">
              <a:alphaModFix/>
            </a:blip>
            <a:stretch>
              <a:fillRect/>
            </a:stretch>
          </p:blipFill>
          <p:spPr>
            <a:xfrm>
              <a:off x="1284142" y="2002295"/>
              <a:ext cx="89794" cy="74917"/>
            </a:xfrm>
            <a:prstGeom prst="rect">
              <a:avLst/>
            </a:prstGeom>
            <a:noFill/>
            <a:ln>
              <a:noFill/>
            </a:ln>
          </p:spPr>
        </p:pic>
      </p:grpSp>
      <p:sp>
        <p:nvSpPr>
          <p:cNvPr id="449" name="Google Shape;449;h11a342068904e6d2_0_246"/>
          <p:cNvSpPr txBox="1"/>
          <p:nvPr/>
        </p:nvSpPr>
        <p:spPr>
          <a:xfrm>
            <a:off x="5017500" y="3011053"/>
            <a:ext cx="2177700" cy="80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100">
                <a:solidFill>
                  <a:srgbClr val="595959"/>
                </a:solidFill>
                <a:latin typeface="Helvetica Neue Light"/>
                <a:ea typeface="Helvetica Neue Light"/>
                <a:cs typeface="Helvetica Neue Light"/>
                <a:sym typeface="Helvetica Neue Light"/>
              </a:rPr>
              <a:t>Impact on </a:t>
            </a:r>
            <a:endParaRPr sz="1100">
              <a:solidFill>
                <a:srgbClr val="595959"/>
              </a:solidFill>
              <a:latin typeface="Helvetica Neue Light"/>
              <a:ea typeface="Helvetica Neue Light"/>
              <a:cs typeface="Helvetica Neue Light"/>
              <a:sym typeface="Helvetica Neue Light"/>
            </a:endParaRPr>
          </a:p>
          <a:p>
            <a:pPr indent="0" lvl="0" marL="0" rtl="0" algn="l">
              <a:spcBef>
                <a:spcPts val="400"/>
              </a:spcBef>
              <a:spcAft>
                <a:spcPts val="0"/>
              </a:spcAft>
              <a:buNone/>
            </a:pPr>
            <a:r>
              <a:rPr b="1" lang="en-US" sz="1100">
                <a:solidFill>
                  <a:srgbClr val="595959"/>
                </a:solidFill>
                <a:latin typeface="Helvetica Neue"/>
                <a:ea typeface="Helvetica Neue"/>
                <a:cs typeface="Helvetica Neue"/>
                <a:sym typeface="Helvetica Neue"/>
              </a:rPr>
              <a:t>pathogenesis</a:t>
            </a:r>
            <a:endParaRPr b="1" sz="1100">
              <a:solidFill>
                <a:srgbClr val="595959"/>
              </a:solidFill>
              <a:latin typeface="Helvetica Neue"/>
              <a:ea typeface="Helvetica Neue"/>
              <a:cs typeface="Helvetica Neue"/>
              <a:sym typeface="Helvetica Neue"/>
            </a:endParaRPr>
          </a:p>
          <a:p>
            <a:pPr indent="0" lvl="0" marL="0" rtl="0" algn="l">
              <a:spcBef>
                <a:spcPts val="400"/>
              </a:spcBef>
              <a:spcAft>
                <a:spcPts val="400"/>
              </a:spcAft>
              <a:buClr>
                <a:srgbClr val="000000"/>
              </a:buClr>
              <a:buSzPts val="1100"/>
              <a:buFont typeface="Arial"/>
              <a:buNone/>
            </a:pPr>
            <a:r>
              <a:rPr b="1" lang="en-US" sz="1100">
                <a:solidFill>
                  <a:srgbClr val="595959"/>
                </a:solidFill>
                <a:latin typeface="Helvetica Neue"/>
                <a:ea typeface="Helvetica Neue"/>
                <a:cs typeface="Helvetica Neue"/>
                <a:sym typeface="Helvetica Neue"/>
              </a:rPr>
              <a:t>diagnostic, antiviral &amp; vaccinal </a:t>
            </a:r>
            <a:r>
              <a:rPr lang="en-US" sz="1100">
                <a:solidFill>
                  <a:srgbClr val="595959"/>
                </a:solidFill>
                <a:latin typeface="Helvetica Neue Light"/>
                <a:ea typeface="Helvetica Neue Light"/>
                <a:cs typeface="Helvetica Neue Light"/>
                <a:sym typeface="Helvetica Neue Light"/>
              </a:rPr>
              <a:t>strategies</a:t>
            </a:r>
            <a:endParaRPr sz="1100">
              <a:solidFill>
                <a:srgbClr val="595959"/>
              </a:solidFill>
              <a:latin typeface="Helvetica Neue Light"/>
              <a:ea typeface="Helvetica Neue Light"/>
              <a:cs typeface="Helvetica Neue Light"/>
              <a:sym typeface="Helvetica Neue Light"/>
            </a:endParaRPr>
          </a:p>
        </p:txBody>
      </p:sp>
      <p:grpSp>
        <p:nvGrpSpPr>
          <p:cNvPr id="450" name="Google Shape;450;h11a342068904e6d2_0_246"/>
          <p:cNvGrpSpPr/>
          <p:nvPr/>
        </p:nvGrpSpPr>
        <p:grpSpPr>
          <a:xfrm>
            <a:off x="4369825" y="1932616"/>
            <a:ext cx="2461775" cy="1104700"/>
            <a:chOff x="4369825" y="1225875"/>
            <a:chExt cx="2461775" cy="1104700"/>
          </a:xfrm>
        </p:grpSpPr>
        <p:pic>
          <p:nvPicPr>
            <p:cNvPr id="451" name="Google Shape;451;h11a342068904e6d2_0_246" title="Screenshot from 2025-03-20 07-38-53.png"/>
            <p:cNvPicPr preferRelativeResize="0"/>
            <p:nvPr/>
          </p:nvPicPr>
          <p:blipFill rotWithShape="1">
            <a:blip r:embed="rId8">
              <a:alphaModFix/>
            </a:blip>
            <a:srcRect b="42979" l="59671" r="0" t="4530"/>
            <a:stretch/>
          </p:blipFill>
          <p:spPr>
            <a:xfrm>
              <a:off x="4818200" y="1225875"/>
              <a:ext cx="1526549" cy="1077300"/>
            </a:xfrm>
            <a:prstGeom prst="rect">
              <a:avLst/>
            </a:prstGeom>
            <a:noFill/>
            <a:ln>
              <a:noFill/>
            </a:ln>
          </p:spPr>
        </p:pic>
        <p:cxnSp>
          <p:nvCxnSpPr>
            <p:cNvPr id="452" name="Google Shape;452;h11a342068904e6d2_0_246"/>
            <p:cNvCxnSpPr/>
            <p:nvPr/>
          </p:nvCxnSpPr>
          <p:spPr>
            <a:xfrm flipH="1">
              <a:off x="4369825" y="1560525"/>
              <a:ext cx="615300" cy="2100"/>
            </a:xfrm>
            <a:prstGeom prst="straightConnector1">
              <a:avLst/>
            </a:prstGeom>
            <a:noFill/>
            <a:ln cap="flat" cmpd="sng" w="38100">
              <a:solidFill>
                <a:srgbClr val="FFFFFF"/>
              </a:solidFill>
              <a:prstDash val="solid"/>
              <a:round/>
              <a:headEnd len="med" w="med" type="none"/>
              <a:tailEnd len="med" w="med" type="none"/>
            </a:ln>
          </p:spPr>
        </p:cxnSp>
        <p:cxnSp>
          <p:nvCxnSpPr>
            <p:cNvPr id="453" name="Google Shape;453;h11a342068904e6d2_0_246"/>
            <p:cNvCxnSpPr/>
            <p:nvPr/>
          </p:nvCxnSpPr>
          <p:spPr>
            <a:xfrm rot="10800000">
              <a:off x="5358300" y="2016475"/>
              <a:ext cx="3900" cy="314100"/>
            </a:xfrm>
            <a:prstGeom prst="straightConnector1">
              <a:avLst/>
            </a:prstGeom>
            <a:noFill/>
            <a:ln cap="flat" cmpd="sng" w="28575">
              <a:solidFill>
                <a:srgbClr val="B45F06"/>
              </a:solidFill>
              <a:prstDash val="solid"/>
              <a:round/>
              <a:headEnd len="med" w="med" type="stealth"/>
              <a:tailEnd len="med" w="med" type="none"/>
            </a:ln>
          </p:spPr>
        </p:cxnSp>
        <p:sp>
          <p:nvSpPr>
            <p:cNvPr id="454" name="Google Shape;454;h11a342068904e6d2_0_246"/>
            <p:cNvSpPr txBox="1"/>
            <p:nvPr/>
          </p:nvSpPr>
          <p:spPr>
            <a:xfrm>
              <a:off x="5786100" y="1286875"/>
              <a:ext cx="1045500" cy="5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400"/>
                </a:spcAft>
                <a:buNone/>
              </a:pPr>
              <a:r>
                <a:rPr lang="en-US" sz="1200">
                  <a:solidFill>
                    <a:srgbClr val="783F04"/>
                  </a:solidFill>
                  <a:latin typeface="Helvetica Neue Light"/>
                  <a:ea typeface="Helvetica Neue Light"/>
                  <a:cs typeface="Helvetica Neue Light"/>
                  <a:sym typeface="Helvetica Neue Light"/>
                </a:rPr>
                <a:t>Viral circulating diversity</a:t>
              </a:r>
              <a:endParaRPr b="1" sz="1200">
                <a:solidFill>
                  <a:srgbClr val="783F04"/>
                </a:solidFill>
                <a:latin typeface="Helvetica Neue"/>
                <a:ea typeface="Helvetica Neue"/>
                <a:cs typeface="Helvetica Neue"/>
                <a:sym typeface="Helvetica Neue"/>
              </a:endParaRPr>
            </a:p>
          </p:txBody>
        </p:sp>
      </p:grpSp>
      <p:pic>
        <p:nvPicPr>
          <p:cNvPr id="455" name="Google Shape;455;h11a342068904e6d2_0_246"/>
          <p:cNvPicPr preferRelativeResize="0"/>
          <p:nvPr/>
        </p:nvPicPr>
        <p:blipFill rotWithShape="1">
          <a:blip r:embed="rId9">
            <a:alphaModFix/>
          </a:blip>
          <a:srcRect b="64351" l="1250" r="-1250" t="1089"/>
          <a:stretch/>
        </p:blipFill>
        <p:spPr>
          <a:xfrm>
            <a:off x="7237324" y="3135390"/>
            <a:ext cx="1045499" cy="249651"/>
          </a:xfrm>
          <a:prstGeom prst="rect">
            <a:avLst/>
          </a:prstGeom>
          <a:noFill/>
          <a:ln>
            <a:noFill/>
          </a:ln>
        </p:spPr>
      </p:pic>
      <p:pic>
        <p:nvPicPr>
          <p:cNvPr id="456" name="Google Shape;456;h11a342068904e6d2_0_246" title="Screenshot from 2025-03-28 13-47-03.png"/>
          <p:cNvPicPr preferRelativeResize="0"/>
          <p:nvPr/>
        </p:nvPicPr>
        <p:blipFill>
          <a:blip r:embed="rId10">
            <a:alphaModFix/>
          </a:blip>
          <a:stretch>
            <a:fillRect/>
          </a:stretch>
        </p:blipFill>
        <p:spPr>
          <a:xfrm>
            <a:off x="7344525" y="3445241"/>
            <a:ext cx="896143" cy="374700"/>
          </a:xfrm>
          <a:prstGeom prst="rect">
            <a:avLst/>
          </a:prstGeom>
          <a:noFill/>
          <a:ln>
            <a:noFill/>
          </a:ln>
        </p:spPr>
      </p:pic>
      <p:cxnSp>
        <p:nvCxnSpPr>
          <p:cNvPr id="457" name="Google Shape;457;h11a342068904e6d2_0_246"/>
          <p:cNvCxnSpPr/>
          <p:nvPr/>
        </p:nvCxnSpPr>
        <p:spPr>
          <a:xfrm rot="-5400000">
            <a:off x="6898825" y="2327916"/>
            <a:ext cx="3900" cy="314100"/>
          </a:xfrm>
          <a:prstGeom prst="straightConnector1">
            <a:avLst/>
          </a:prstGeom>
          <a:noFill/>
          <a:ln cap="flat" cmpd="sng" w="28575">
            <a:solidFill>
              <a:srgbClr val="B45F06"/>
            </a:solidFill>
            <a:prstDash val="solid"/>
            <a:round/>
            <a:headEnd len="med" w="med" type="stealth"/>
            <a:tailEnd len="med" w="med" type="none"/>
          </a:ln>
        </p:spPr>
      </p:cxnSp>
      <p:sp>
        <p:nvSpPr>
          <p:cNvPr id="458" name="Google Shape;458;h11a342068904e6d2_0_246"/>
          <p:cNvSpPr txBox="1"/>
          <p:nvPr/>
        </p:nvSpPr>
        <p:spPr>
          <a:xfrm>
            <a:off x="6904625" y="2743500"/>
            <a:ext cx="1710900" cy="4347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900">
                <a:solidFill>
                  <a:srgbClr val="0C2D9A"/>
                </a:solidFill>
                <a:latin typeface="Helvetica Neue"/>
                <a:ea typeface="Helvetica Neue"/>
                <a:cs typeface="Helvetica Neue"/>
                <a:sym typeface="Helvetica Neue"/>
              </a:rPr>
              <a:t>Network of private and public partners </a:t>
            </a:r>
            <a:endParaRPr b="1" sz="900">
              <a:solidFill>
                <a:srgbClr val="0C2D9A"/>
              </a:solidFill>
              <a:latin typeface="Helvetica Neue"/>
              <a:ea typeface="Helvetica Neue"/>
              <a:cs typeface="Helvetica Neue"/>
              <a:sym typeface="Helvetica Neue"/>
            </a:endParaRPr>
          </a:p>
        </p:txBody>
      </p:sp>
      <p:pic>
        <p:nvPicPr>
          <p:cNvPr id="459" name="Google Shape;459;h11a342068904e6d2_0_246" title="Screenshot from 2026-10-21 12-48-08.png"/>
          <p:cNvPicPr preferRelativeResize="0"/>
          <p:nvPr/>
        </p:nvPicPr>
        <p:blipFill>
          <a:blip r:embed="rId11">
            <a:alphaModFix/>
          </a:blip>
          <a:stretch>
            <a:fillRect/>
          </a:stretch>
        </p:blipFill>
        <p:spPr>
          <a:xfrm>
            <a:off x="441827" y="4096024"/>
            <a:ext cx="1263000" cy="424354"/>
          </a:xfrm>
          <a:prstGeom prst="rect">
            <a:avLst/>
          </a:prstGeom>
          <a:noFill/>
          <a:ln>
            <a:noFill/>
          </a:ln>
        </p:spPr>
      </p:pic>
      <p:sp>
        <p:nvSpPr>
          <p:cNvPr id="460" name="Google Shape;460;h11a342068904e6d2_0_246"/>
          <p:cNvSpPr txBox="1"/>
          <p:nvPr/>
        </p:nvSpPr>
        <p:spPr>
          <a:xfrm>
            <a:off x="3917543" y="4088075"/>
            <a:ext cx="5009700" cy="8313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0"/>
              </a:spcBef>
              <a:spcAft>
                <a:spcPts val="0"/>
              </a:spcAft>
              <a:buClr>
                <a:schemeClr val="dk1"/>
              </a:buClr>
              <a:buSzPts val="1400"/>
              <a:buFont typeface="Arial"/>
              <a:buChar char="➢"/>
            </a:pPr>
            <a:r>
              <a:rPr lang="en-US">
                <a:solidFill>
                  <a:schemeClr val="dk1"/>
                </a:solidFill>
                <a:latin typeface="Helvetica Neue Light"/>
                <a:ea typeface="Helvetica Neue Light"/>
                <a:cs typeface="Helvetica Neue Light"/>
                <a:sym typeface="Helvetica Neue Light"/>
              </a:rPr>
              <a:t>Ad hoc tools implementation</a:t>
            </a:r>
            <a:r>
              <a:rPr b="0" i="1" lang="en-US" u="none" cap="none" strike="noStrike">
                <a:solidFill>
                  <a:schemeClr val="dk1"/>
                </a:solidFill>
                <a:latin typeface="Helvetica Neue Light"/>
                <a:ea typeface="Helvetica Neue Light"/>
                <a:cs typeface="Helvetica Neue Light"/>
                <a:sym typeface="Helvetica Neue Light"/>
              </a:rPr>
              <a:t> </a:t>
            </a:r>
            <a:r>
              <a:rPr b="0" i="0" lang="en-US" u="none" cap="none" strike="noStrike">
                <a:solidFill>
                  <a:schemeClr val="dk1"/>
                </a:solidFill>
                <a:latin typeface="Helvetica Neue Light"/>
                <a:ea typeface="Helvetica Neue Light"/>
                <a:cs typeface="Helvetica Neue Light"/>
                <a:sym typeface="Helvetica Neue Light"/>
              </a:rPr>
              <a:t>(platform, quality controls)</a:t>
            </a:r>
            <a:endParaRPr b="0" i="0" u="none" cap="none" strike="noStrike">
              <a:solidFill>
                <a:schemeClr val="dk1"/>
              </a:solidFill>
              <a:latin typeface="Helvetica Neue Light"/>
              <a:ea typeface="Helvetica Neue Light"/>
              <a:cs typeface="Helvetica Neue Light"/>
              <a:sym typeface="Helvetica Neue Light"/>
            </a:endParaRPr>
          </a:p>
          <a:p>
            <a:pPr indent="-317500" lvl="0" marL="457200" marR="0" rtl="0" algn="l">
              <a:lnSpc>
                <a:spcPct val="100000"/>
              </a:lnSpc>
              <a:spcBef>
                <a:spcPts val="0"/>
              </a:spcBef>
              <a:spcAft>
                <a:spcPts val="0"/>
              </a:spcAft>
              <a:buClr>
                <a:schemeClr val="dk1"/>
              </a:buClr>
              <a:buSzPts val="1400"/>
              <a:buFont typeface="Helvetica Neue Light"/>
              <a:buChar char="➢"/>
            </a:pPr>
            <a:r>
              <a:rPr lang="en-US">
                <a:solidFill>
                  <a:schemeClr val="dk1"/>
                </a:solidFill>
                <a:latin typeface="Helvetica Neue Light"/>
                <a:ea typeface="Helvetica Neue Light"/>
                <a:cs typeface="Helvetica Neue Light"/>
                <a:sym typeface="Helvetica Neue Light"/>
              </a:rPr>
              <a:t>Increasing capacity</a:t>
            </a:r>
            <a:endParaRPr b="0" i="0" u="none" cap="none" strike="noStrike">
              <a:solidFill>
                <a:schemeClr val="dk1"/>
              </a:solidFill>
              <a:latin typeface="Helvetica Neue Light"/>
              <a:ea typeface="Helvetica Neue Light"/>
              <a:cs typeface="Helvetica Neue Light"/>
              <a:sym typeface="Helvetica Neue Light"/>
            </a:endParaRPr>
          </a:p>
          <a:p>
            <a:pPr indent="-317500" lvl="0" marL="457200" marR="0" rtl="0" algn="l">
              <a:lnSpc>
                <a:spcPct val="100000"/>
              </a:lnSpc>
              <a:spcBef>
                <a:spcPts val="0"/>
              </a:spcBef>
              <a:spcAft>
                <a:spcPts val="0"/>
              </a:spcAft>
              <a:buClr>
                <a:schemeClr val="dk1"/>
              </a:buClr>
              <a:buSzPts val="1400"/>
              <a:buFont typeface="Helvetica Neue Light"/>
              <a:buChar char="➢"/>
            </a:pPr>
            <a:r>
              <a:rPr b="0" i="0" lang="en-US" u="none" cap="none" strike="noStrike">
                <a:solidFill>
                  <a:schemeClr val="dk1"/>
                </a:solidFill>
                <a:latin typeface="Helvetica Neue Light"/>
                <a:ea typeface="Helvetica Neue Light"/>
                <a:cs typeface="Helvetica Neue Light"/>
                <a:sym typeface="Helvetica Neue Light"/>
              </a:rPr>
              <a:t>Standardisation </a:t>
            </a:r>
            <a:r>
              <a:rPr lang="en-US">
                <a:solidFill>
                  <a:schemeClr val="dk1"/>
                </a:solidFill>
                <a:latin typeface="Helvetica Neue Light"/>
                <a:ea typeface="Helvetica Neue Light"/>
                <a:cs typeface="Helvetica Neue Light"/>
                <a:sym typeface="Helvetica Neue Light"/>
              </a:rPr>
              <a:t>of sequencing protocols</a:t>
            </a:r>
            <a:endParaRPr b="0" i="0" u="none" cap="none" strike="noStrike">
              <a:solidFill>
                <a:schemeClr val="dk1"/>
              </a:solidFill>
              <a:latin typeface="Helvetica Neue Light"/>
              <a:ea typeface="Helvetica Neue Light"/>
              <a:cs typeface="Helvetica Neue Light"/>
              <a:sym typeface="Helvetica Neue Light"/>
            </a:endParaRPr>
          </a:p>
        </p:txBody>
      </p:sp>
      <p:pic>
        <p:nvPicPr>
          <p:cNvPr id="461" name="Google Shape;461;h11a342068904e6d2_0_246"/>
          <p:cNvPicPr preferRelativeResize="0"/>
          <p:nvPr/>
        </p:nvPicPr>
        <p:blipFill rotWithShape="1">
          <a:blip r:embed="rId12">
            <a:alphaModFix/>
          </a:blip>
          <a:srcRect b="0" l="0" r="45154" t="0"/>
          <a:stretch/>
        </p:blipFill>
        <p:spPr>
          <a:xfrm>
            <a:off x="1814129" y="4096025"/>
            <a:ext cx="1365521" cy="424350"/>
          </a:xfrm>
          <a:prstGeom prst="rect">
            <a:avLst/>
          </a:prstGeom>
          <a:noFill/>
          <a:ln>
            <a:noFill/>
          </a:ln>
        </p:spPr>
      </p:pic>
      <p:pic>
        <p:nvPicPr>
          <p:cNvPr descr="ANRS | Maladies infectieuses émergentes — Wikipédia" id="462" name="Google Shape;462;h11a342068904e6d2_0_246"/>
          <p:cNvPicPr preferRelativeResize="0"/>
          <p:nvPr/>
        </p:nvPicPr>
        <p:blipFill rotWithShape="1">
          <a:blip r:embed="rId13">
            <a:alphaModFix/>
          </a:blip>
          <a:srcRect b="16986" l="11317" r="8702" t="23519"/>
          <a:stretch/>
        </p:blipFill>
        <p:spPr>
          <a:xfrm>
            <a:off x="2171958" y="4580113"/>
            <a:ext cx="588375" cy="291450"/>
          </a:xfrm>
          <a:prstGeom prst="rect">
            <a:avLst/>
          </a:prstGeom>
          <a:noFill/>
          <a:ln>
            <a:noFill/>
          </a:ln>
        </p:spPr>
      </p:pic>
      <p:pic>
        <p:nvPicPr>
          <p:cNvPr id="463" name="Google Shape;463;h11a342068904e6d2_0_246"/>
          <p:cNvPicPr preferRelativeResize="0"/>
          <p:nvPr/>
        </p:nvPicPr>
        <p:blipFill>
          <a:blip r:embed="rId14">
            <a:alphaModFix/>
          </a:blip>
          <a:stretch>
            <a:fillRect/>
          </a:stretch>
        </p:blipFill>
        <p:spPr>
          <a:xfrm>
            <a:off x="698935" y="4549375"/>
            <a:ext cx="652425" cy="2496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h11a342068904e6d2_0_771"/>
          <p:cNvSpPr txBox="1"/>
          <p:nvPr/>
        </p:nvSpPr>
        <p:spPr>
          <a:xfrm>
            <a:off x="4544150" y="1258519"/>
            <a:ext cx="4277400" cy="1015800"/>
          </a:xfrm>
          <a:prstGeom prst="rect">
            <a:avLst/>
          </a:prstGeom>
          <a:solidFill>
            <a:schemeClr val="lt1"/>
          </a:solid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Char char="➔"/>
            </a:pPr>
            <a:r>
              <a:rPr lang="en-US" sz="1700">
                <a:solidFill>
                  <a:schemeClr val="dk1"/>
                </a:solidFill>
              </a:rPr>
              <a:t>based on the</a:t>
            </a:r>
            <a:r>
              <a:rPr b="1" lang="en-US" sz="1700">
                <a:solidFill>
                  <a:schemeClr val="dk1"/>
                </a:solidFill>
              </a:rPr>
              <a:t> CARBO</a:t>
            </a:r>
            <a:r>
              <a:rPr lang="en-US" sz="1700">
                <a:solidFill>
                  <a:schemeClr val="dk1"/>
                </a:solidFill>
              </a:rPr>
              <a:t> cohort</a:t>
            </a:r>
            <a:endParaRPr sz="1700">
              <a:solidFill>
                <a:schemeClr val="dk1"/>
              </a:solidFill>
            </a:endParaRPr>
          </a:p>
          <a:p>
            <a:pPr indent="-336550" lvl="0" marL="457200" rtl="0" algn="l">
              <a:spcBef>
                <a:spcPts val="0"/>
              </a:spcBef>
              <a:spcAft>
                <a:spcPts val="0"/>
              </a:spcAft>
              <a:buClr>
                <a:schemeClr val="dk1"/>
              </a:buClr>
              <a:buSzPts val="1700"/>
              <a:buChar char="➔"/>
            </a:pPr>
            <a:r>
              <a:rPr b="1" lang="en-US" sz="1700">
                <a:solidFill>
                  <a:schemeClr val="dk1"/>
                </a:solidFill>
              </a:rPr>
              <a:t>paired</a:t>
            </a:r>
            <a:r>
              <a:rPr b="1" lang="en-US" sz="1700">
                <a:solidFill>
                  <a:schemeClr val="dk1"/>
                </a:solidFill>
              </a:rPr>
              <a:t> </a:t>
            </a:r>
            <a:r>
              <a:rPr lang="en-US" sz="1700">
                <a:solidFill>
                  <a:schemeClr val="dk1"/>
                </a:solidFill>
              </a:rPr>
              <a:t>virus-patient data</a:t>
            </a:r>
            <a:endParaRPr sz="1700">
              <a:solidFill>
                <a:schemeClr val="dk1"/>
              </a:solidFill>
            </a:endParaRPr>
          </a:p>
          <a:p>
            <a:pPr indent="-336550" lvl="0" marL="457200" rtl="0" algn="l">
              <a:spcBef>
                <a:spcPts val="0"/>
              </a:spcBef>
              <a:spcAft>
                <a:spcPts val="0"/>
              </a:spcAft>
              <a:buClr>
                <a:schemeClr val="dk1"/>
              </a:buClr>
              <a:buSzPts val="1700"/>
              <a:buChar char="➔"/>
            </a:pPr>
            <a:r>
              <a:rPr b="1" lang="en-US" sz="1700">
                <a:solidFill>
                  <a:schemeClr val="dk1"/>
                </a:solidFill>
              </a:rPr>
              <a:t>homogeneous</a:t>
            </a:r>
            <a:r>
              <a:rPr lang="en-US" sz="1700">
                <a:solidFill>
                  <a:schemeClr val="dk1"/>
                </a:solidFill>
              </a:rPr>
              <a:t> &amp; </a:t>
            </a:r>
            <a:r>
              <a:rPr b="1" lang="en-US" sz="1700">
                <a:solidFill>
                  <a:schemeClr val="dk1"/>
                </a:solidFill>
              </a:rPr>
              <a:t>standardised</a:t>
            </a:r>
            <a:endParaRPr b="1" sz="1700">
              <a:solidFill>
                <a:schemeClr val="dk1"/>
              </a:solidFill>
            </a:endParaRPr>
          </a:p>
          <a:p>
            <a:pPr indent="0" lvl="0" marL="0" rtl="0" algn="l">
              <a:spcBef>
                <a:spcPts val="0"/>
              </a:spcBef>
              <a:spcAft>
                <a:spcPts val="0"/>
              </a:spcAft>
              <a:buNone/>
            </a:pPr>
            <a:r>
              <a:t/>
            </a:r>
            <a:endParaRPr b="1" sz="300">
              <a:solidFill>
                <a:schemeClr val="dk1"/>
              </a:solidFill>
            </a:endParaRPr>
          </a:p>
        </p:txBody>
      </p:sp>
      <p:sp>
        <p:nvSpPr>
          <p:cNvPr id="469" name="Google Shape;469;h11a342068904e6d2_0_771"/>
          <p:cNvSpPr txBox="1"/>
          <p:nvPr/>
        </p:nvSpPr>
        <p:spPr>
          <a:xfrm>
            <a:off x="259200" y="41569"/>
            <a:ext cx="8597400" cy="762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US" sz="2020">
                <a:solidFill>
                  <a:srgbClr val="062C75"/>
                </a:solidFill>
              </a:rPr>
              <a:t>A cohort network for studying the genetic and viral determinants of disease severity</a:t>
            </a:r>
            <a:endParaRPr i="1" sz="2020">
              <a:solidFill>
                <a:srgbClr val="666666"/>
              </a:solidFill>
            </a:endParaRPr>
          </a:p>
        </p:txBody>
      </p:sp>
      <p:grpSp>
        <p:nvGrpSpPr>
          <p:cNvPr id="470" name="Google Shape;470;h11a342068904e6d2_0_771"/>
          <p:cNvGrpSpPr/>
          <p:nvPr/>
        </p:nvGrpSpPr>
        <p:grpSpPr>
          <a:xfrm>
            <a:off x="941050" y="1006950"/>
            <a:ext cx="3191373" cy="1285650"/>
            <a:chOff x="255250" y="1672800"/>
            <a:chExt cx="3191373" cy="1714200"/>
          </a:xfrm>
        </p:grpSpPr>
        <p:pic>
          <p:nvPicPr>
            <p:cNvPr id="471" name="Google Shape;471;h11a342068904e6d2_0_771"/>
            <p:cNvPicPr preferRelativeResize="0"/>
            <p:nvPr/>
          </p:nvPicPr>
          <p:blipFill>
            <a:blip r:embed="rId3">
              <a:alphaModFix/>
            </a:blip>
            <a:stretch>
              <a:fillRect/>
            </a:stretch>
          </p:blipFill>
          <p:spPr>
            <a:xfrm>
              <a:off x="255250" y="1672800"/>
              <a:ext cx="3191373" cy="1714200"/>
            </a:xfrm>
            <a:prstGeom prst="rect">
              <a:avLst/>
            </a:prstGeom>
            <a:noFill/>
            <a:ln>
              <a:noFill/>
            </a:ln>
          </p:spPr>
        </p:pic>
        <p:pic>
          <p:nvPicPr>
            <p:cNvPr id="472" name="Google Shape;472;h11a342068904e6d2_0_771"/>
            <p:cNvPicPr preferRelativeResize="0"/>
            <p:nvPr/>
          </p:nvPicPr>
          <p:blipFill rotWithShape="1">
            <a:blip r:embed="rId4">
              <a:alphaModFix/>
            </a:blip>
            <a:srcRect b="7467" l="-1486" r="5627" t="0"/>
            <a:stretch/>
          </p:blipFill>
          <p:spPr>
            <a:xfrm>
              <a:off x="682775" y="2580759"/>
              <a:ext cx="307324" cy="413440"/>
            </a:xfrm>
            <a:prstGeom prst="rect">
              <a:avLst/>
            </a:prstGeom>
            <a:noFill/>
            <a:ln>
              <a:noFill/>
            </a:ln>
          </p:spPr>
        </p:pic>
        <p:pic>
          <p:nvPicPr>
            <p:cNvPr id="473" name="Google Shape;473;h11a342068904e6d2_0_771"/>
            <p:cNvPicPr preferRelativeResize="0"/>
            <p:nvPr/>
          </p:nvPicPr>
          <p:blipFill rotWithShape="1">
            <a:blip r:embed="rId4">
              <a:alphaModFix/>
            </a:blip>
            <a:srcRect b="7467" l="-1486" r="5627" t="0"/>
            <a:stretch/>
          </p:blipFill>
          <p:spPr>
            <a:xfrm>
              <a:off x="2371250" y="2831975"/>
              <a:ext cx="307324" cy="413440"/>
            </a:xfrm>
            <a:prstGeom prst="rect">
              <a:avLst/>
            </a:prstGeom>
            <a:noFill/>
            <a:ln>
              <a:noFill/>
            </a:ln>
          </p:spPr>
        </p:pic>
        <p:pic>
          <p:nvPicPr>
            <p:cNvPr id="474" name="Google Shape;474;h11a342068904e6d2_0_771"/>
            <p:cNvPicPr preferRelativeResize="0"/>
            <p:nvPr/>
          </p:nvPicPr>
          <p:blipFill rotWithShape="1">
            <a:blip r:embed="rId4">
              <a:alphaModFix/>
            </a:blip>
            <a:srcRect b="7467" l="-1486" r="5627" t="0"/>
            <a:stretch/>
          </p:blipFill>
          <p:spPr>
            <a:xfrm>
              <a:off x="3035950" y="2327925"/>
              <a:ext cx="365200" cy="491300"/>
            </a:xfrm>
            <a:prstGeom prst="rect">
              <a:avLst/>
            </a:prstGeom>
            <a:noFill/>
            <a:ln>
              <a:noFill/>
            </a:ln>
          </p:spPr>
        </p:pic>
        <p:pic>
          <p:nvPicPr>
            <p:cNvPr id="475" name="Google Shape;475;h11a342068904e6d2_0_771"/>
            <p:cNvPicPr preferRelativeResize="0"/>
            <p:nvPr/>
          </p:nvPicPr>
          <p:blipFill rotWithShape="1">
            <a:blip r:embed="rId4">
              <a:alphaModFix/>
            </a:blip>
            <a:srcRect b="7467" l="-1486" r="5627" t="0"/>
            <a:stretch/>
          </p:blipFill>
          <p:spPr>
            <a:xfrm>
              <a:off x="1375875" y="2007550"/>
              <a:ext cx="307325" cy="413424"/>
            </a:xfrm>
            <a:prstGeom prst="rect">
              <a:avLst/>
            </a:prstGeom>
            <a:noFill/>
            <a:ln>
              <a:noFill/>
            </a:ln>
          </p:spPr>
        </p:pic>
      </p:grpSp>
      <p:grpSp>
        <p:nvGrpSpPr>
          <p:cNvPr id="476" name="Google Shape;476;h11a342068904e6d2_0_771"/>
          <p:cNvGrpSpPr/>
          <p:nvPr/>
        </p:nvGrpSpPr>
        <p:grpSpPr>
          <a:xfrm>
            <a:off x="545925" y="2375487"/>
            <a:ext cx="8129944" cy="2731114"/>
            <a:chOff x="4837822" y="1747444"/>
            <a:chExt cx="3306603" cy="3066600"/>
          </a:xfrm>
        </p:grpSpPr>
        <p:sp>
          <p:nvSpPr>
            <p:cNvPr id="477" name="Google Shape;477;h11a342068904e6d2_0_771"/>
            <p:cNvSpPr/>
            <p:nvPr/>
          </p:nvSpPr>
          <p:spPr>
            <a:xfrm>
              <a:off x="4837822" y="1753886"/>
              <a:ext cx="3306600" cy="1663500"/>
            </a:xfrm>
            <a:prstGeom prst="roundRect">
              <a:avLst>
                <a:gd fmla="val 7381" name="adj"/>
              </a:avLst>
            </a:prstGeom>
            <a:solidFill>
              <a:schemeClr val="lt2"/>
            </a:solidFill>
            <a:ln cap="flat" cmpd="sng" w="19050">
              <a:solidFill>
                <a:srgbClr val="062C7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h11a342068904e6d2_0_771"/>
            <p:cNvSpPr txBox="1"/>
            <p:nvPr/>
          </p:nvSpPr>
          <p:spPr>
            <a:xfrm>
              <a:off x="4893025" y="1747444"/>
              <a:ext cx="3251400" cy="306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1600">
                  <a:solidFill>
                    <a:srgbClr val="062C75"/>
                  </a:solidFill>
                </a:rPr>
                <a:t>Cohorte CARBO</a:t>
              </a:r>
              <a:endParaRPr b="1" sz="1600">
                <a:solidFill>
                  <a:srgbClr val="062C75"/>
                </a:solidFill>
              </a:endParaRPr>
            </a:p>
            <a:p>
              <a:pPr indent="0" lvl="0" marL="0" rtl="0" algn="l">
                <a:lnSpc>
                  <a:spcPct val="115000"/>
                </a:lnSpc>
                <a:spcBef>
                  <a:spcPts val="1000"/>
                </a:spcBef>
                <a:spcAft>
                  <a:spcPts val="0"/>
                </a:spcAft>
                <a:buClr>
                  <a:schemeClr val="dk1"/>
                </a:buClr>
                <a:buSzPts val="1100"/>
                <a:buFont typeface="Arial"/>
                <a:buNone/>
              </a:pPr>
              <a:r>
                <a:rPr lang="en-US" sz="1300"/>
                <a:t>Children and Adults</a:t>
              </a:r>
              <a:endParaRPr sz="1300"/>
            </a:p>
            <a:p>
              <a:pPr indent="0" lvl="0" marL="0" rtl="0" algn="l">
                <a:lnSpc>
                  <a:spcPct val="115000"/>
                </a:lnSpc>
                <a:spcBef>
                  <a:spcPts val="0"/>
                </a:spcBef>
                <a:spcAft>
                  <a:spcPts val="0"/>
                </a:spcAft>
                <a:buClr>
                  <a:schemeClr val="dk1"/>
                </a:buClr>
                <a:buSzPts val="1100"/>
                <a:buFont typeface="Arial"/>
                <a:buNone/>
              </a:pPr>
              <a:r>
                <a:rPr lang="en-US" sz="1300"/>
                <a:t>Confirmed Arbovirus Infection</a:t>
              </a:r>
              <a:endParaRPr sz="1300"/>
            </a:p>
            <a:p>
              <a:pPr indent="0" lvl="0" marL="0" rtl="0" algn="l">
                <a:lnSpc>
                  <a:spcPct val="115000"/>
                </a:lnSpc>
                <a:spcBef>
                  <a:spcPts val="0"/>
                </a:spcBef>
                <a:spcAft>
                  <a:spcPts val="0"/>
                </a:spcAft>
                <a:buClr>
                  <a:schemeClr val="dk1"/>
                </a:buClr>
                <a:buSzPts val="1100"/>
                <a:buFont typeface="Arial"/>
                <a:buNone/>
              </a:pPr>
              <a:r>
                <a:rPr lang="en-US" sz="1300"/>
                <a:t>In a Hospital Setting</a:t>
              </a:r>
              <a:endParaRPr sz="1300"/>
            </a:p>
            <a:p>
              <a:pPr indent="0" lvl="0" marL="0" rtl="0" algn="l">
                <a:lnSpc>
                  <a:spcPct val="115000"/>
                </a:lnSpc>
                <a:spcBef>
                  <a:spcPts val="0"/>
                </a:spcBef>
                <a:spcAft>
                  <a:spcPts val="0"/>
                </a:spcAft>
                <a:buNone/>
              </a:pPr>
              <a:r>
                <a:rPr lang="en-US" sz="1300"/>
                <a:t>Overseas Territories and Mainland France</a:t>
              </a:r>
              <a:endParaRPr sz="1300"/>
            </a:p>
            <a:p>
              <a:pPr indent="0" lvl="0" marL="0" rtl="0" algn="l">
                <a:lnSpc>
                  <a:spcPct val="115000"/>
                </a:lnSpc>
                <a:spcBef>
                  <a:spcPts val="1500"/>
                </a:spcBef>
                <a:spcAft>
                  <a:spcPts val="0"/>
                </a:spcAft>
                <a:buNone/>
              </a:pPr>
              <a:r>
                <a:rPr b="1" lang="en-US" sz="1600"/>
                <a:t>Une base solide</a:t>
              </a:r>
              <a:endParaRPr sz="1900">
                <a:solidFill>
                  <a:schemeClr val="dk1"/>
                </a:solidFill>
              </a:endParaRPr>
            </a:p>
            <a:p>
              <a:pPr indent="-330200" lvl="0" marL="457200" rtl="0" algn="l">
                <a:spcBef>
                  <a:spcPts val="0"/>
                </a:spcBef>
                <a:spcAft>
                  <a:spcPts val="0"/>
                </a:spcAft>
                <a:buClr>
                  <a:schemeClr val="dk1"/>
                </a:buClr>
                <a:buSzPts val="1600"/>
                <a:buChar char="➔"/>
              </a:pPr>
              <a:r>
                <a:rPr lang="en-US" sz="1300"/>
                <a:t>In place in the Caribbean for over 10 years</a:t>
              </a:r>
              <a:endParaRPr sz="1300"/>
            </a:p>
            <a:p>
              <a:pPr indent="-330200" lvl="0" marL="457200" rtl="0" algn="l">
                <a:spcBef>
                  <a:spcPts val="0"/>
                </a:spcBef>
                <a:spcAft>
                  <a:spcPts val="0"/>
                </a:spcAft>
                <a:buClr>
                  <a:schemeClr val="dk1"/>
                </a:buClr>
                <a:buSzPts val="1600"/>
                <a:buChar char="➔"/>
              </a:pPr>
              <a:r>
                <a:rPr lang="en-US" sz="1300"/>
                <a:t>Expanded to Réunion in 2018</a:t>
              </a:r>
              <a:endParaRPr sz="1300"/>
            </a:p>
            <a:p>
              <a:pPr indent="-330200" lvl="0" marL="457200" rtl="0" algn="l">
                <a:spcBef>
                  <a:spcPts val="0"/>
                </a:spcBef>
                <a:spcAft>
                  <a:spcPts val="0"/>
                </a:spcAft>
                <a:buClr>
                  <a:schemeClr val="dk1"/>
                </a:buClr>
                <a:buSzPts val="1600"/>
                <a:buChar char="➔"/>
              </a:pPr>
              <a:r>
                <a:rPr lang="en-US" sz="1300"/>
                <a:t>Viruses: Zika, Chikungunya, Dengue, and SARS-CoV-2</a:t>
              </a:r>
              <a:endParaRPr sz="1300"/>
            </a:p>
          </p:txBody>
        </p:sp>
      </p:grpSp>
      <p:sp>
        <p:nvSpPr>
          <p:cNvPr id="479" name="Google Shape;479;h11a342068904e6d2_0_771"/>
          <p:cNvSpPr txBox="1"/>
          <p:nvPr/>
        </p:nvSpPr>
        <p:spPr>
          <a:xfrm>
            <a:off x="4898675" y="2638050"/>
            <a:ext cx="3366600" cy="969600"/>
          </a:xfrm>
          <a:prstGeom prst="rect">
            <a:avLst/>
          </a:prstGeom>
          <a:solidFill>
            <a:srgbClr val="FFFFFF"/>
          </a:solidFill>
          <a:ln>
            <a:noFill/>
          </a:ln>
        </p:spPr>
        <p:txBody>
          <a:bodyPr anchorCtr="0" anchor="t" bIns="91425" lIns="91425" spcFirstLastPara="1" rIns="91425" wrap="square" tIns="91425">
            <a:spAutoFit/>
          </a:bodyPr>
          <a:lstStyle/>
          <a:p>
            <a:pPr indent="-336550" lvl="0" marL="457200" rtl="0" algn="l">
              <a:spcBef>
                <a:spcPts val="0"/>
              </a:spcBef>
              <a:spcAft>
                <a:spcPts val="0"/>
              </a:spcAft>
              <a:buClr>
                <a:srgbClr val="062C75"/>
              </a:buClr>
              <a:buSzPts val="1700"/>
              <a:buChar char="➔"/>
            </a:pPr>
            <a:r>
              <a:rPr lang="en-US" sz="1700">
                <a:solidFill>
                  <a:schemeClr val="dk1"/>
                </a:solidFill>
              </a:rPr>
              <a:t>clinical data</a:t>
            </a:r>
            <a:endParaRPr sz="1700">
              <a:solidFill>
                <a:schemeClr val="dk1"/>
              </a:solidFill>
            </a:endParaRPr>
          </a:p>
          <a:p>
            <a:pPr indent="-336550" lvl="0" marL="457200" rtl="0" algn="l">
              <a:spcBef>
                <a:spcPts val="0"/>
              </a:spcBef>
              <a:spcAft>
                <a:spcPts val="0"/>
              </a:spcAft>
              <a:buClr>
                <a:srgbClr val="062C75"/>
              </a:buClr>
              <a:buSzPts val="1700"/>
              <a:buChar char="➔"/>
            </a:pPr>
            <a:r>
              <a:rPr lang="en-US" sz="1700">
                <a:solidFill>
                  <a:schemeClr val="dk1"/>
                </a:solidFill>
              </a:rPr>
              <a:t>demographic data</a:t>
            </a:r>
            <a:endParaRPr sz="1700">
              <a:solidFill>
                <a:schemeClr val="dk1"/>
              </a:solidFill>
            </a:endParaRPr>
          </a:p>
          <a:p>
            <a:pPr indent="-336550" lvl="0" marL="457200" rtl="0" algn="l">
              <a:spcBef>
                <a:spcPts val="0"/>
              </a:spcBef>
              <a:spcAft>
                <a:spcPts val="0"/>
              </a:spcAft>
              <a:buClr>
                <a:srgbClr val="062C75"/>
              </a:buClr>
              <a:buSzPts val="1700"/>
              <a:buChar char="➔"/>
            </a:pPr>
            <a:r>
              <a:rPr lang="en-US" sz="1700">
                <a:solidFill>
                  <a:schemeClr val="dk1"/>
                </a:solidFill>
              </a:rPr>
              <a:t>samples</a:t>
            </a:r>
            <a:endParaRPr sz="1700">
              <a:solidFill>
                <a:schemeClr val="dk1"/>
              </a:solidFill>
            </a:endParaRPr>
          </a:p>
        </p:txBody>
      </p:sp>
      <p:sp>
        <p:nvSpPr>
          <p:cNvPr id="480" name="Google Shape;480;h11a342068904e6d2_0_771"/>
          <p:cNvSpPr/>
          <p:nvPr/>
        </p:nvSpPr>
        <p:spPr>
          <a:xfrm>
            <a:off x="3934925" y="2452350"/>
            <a:ext cx="1060500" cy="12858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1" name="Google Shape;481;h11a342068904e6d2_0_771"/>
          <p:cNvPicPr preferRelativeResize="0"/>
          <p:nvPr/>
        </p:nvPicPr>
        <p:blipFill rotWithShape="1">
          <a:blip r:embed="rId4">
            <a:alphaModFix/>
          </a:blip>
          <a:srcRect b="7467" l="-1486" r="5627" t="0"/>
          <a:stretch/>
        </p:blipFill>
        <p:spPr>
          <a:xfrm>
            <a:off x="4005190" y="2536375"/>
            <a:ext cx="914575" cy="11394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g3d65d74c44f_0_296"/>
          <p:cNvSpPr txBox="1"/>
          <p:nvPr/>
        </p:nvSpPr>
        <p:spPr>
          <a:xfrm>
            <a:off x="4363094" y="3060158"/>
            <a:ext cx="1326600" cy="747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700"/>
              <a:buFont typeface="Arial"/>
              <a:buNone/>
            </a:pPr>
            <a:r>
              <a:rPr b="1" i="0" lang="en-US" sz="1700" u="none" cap="none" strike="noStrike">
                <a:solidFill>
                  <a:schemeClr val="lt1"/>
                </a:solidFill>
                <a:latin typeface="Helvetica Neue"/>
                <a:ea typeface="Helvetica Neue"/>
                <a:cs typeface="Helvetica Neue"/>
                <a:sym typeface="Helvetica Neue"/>
              </a:rPr>
              <a:t>Outils d’analyse</a:t>
            </a:r>
            <a:endParaRPr b="1" i="0" sz="1700" u="none" cap="none" strike="noStrike">
              <a:solidFill>
                <a:schemeClr val="lt1"/>
              </a:solidFill>
              <a:latin typeface="Helvetica Neue"/>
              <a:ea typeface="Helvetica Neue"/>
              <a:cs typeface="Helvetica Neue"/>
              <a:sym typeface="Helvetica Neue"/>
            </a:endParaRPr>
          </a:p>
        </p:txBody>
      </p:sp>
      <p:sp>
        <p:nvSpPr>
          <p:cNvPr id="487" name="Google Shape;487;g3d65d74c44f_0_296"/>
          <p:cNvSpPr txBox="1"/>
          <p:nvPr/>
        </p:nvSpPr>
        <p:spPr>
          <a:xfrm>
            <a:off x="1154850" y="242859"/>
            <a:ext cx="6299700" cy="523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2200"/>
              <a:buFont typeface="Arial"/>
              <a:buNone/>
            </a:pPr>
            <a:r>
              <a:rPr b="1" i="0" lang="en-US" sz="2200" u="none" cap="none" strike="noStrike">
                <a:solidFill>
                  <a:srgbClr val="062C75"/>
                </a:solidFill>
                <a:latin typeface="Arial"/>
                <a:ea typeface="Arial"/>
                <a:cs typeface="Arial"/>
                <a:sym typeface="Arial"/>
              </a:rPr>
              <a:t>ARBOGEN platform</a:t>
            </a:r>
            <a:endParaRPr b="0" i="1" sz="2200" u="none" cap="none" strike="noStrike">
              <a:solidFill>
                <a:srgbClr val="595959"/>
              </a:solidFill>
              <a:latin typeface="Arial"/>
              <a:ea typeface="Arial"/>
              <a:cs typeface="Arial"/>
              <a:sym typeface="Arial"/>
            </a:endParaRPr>
          </a:p>
        </p:txBody>
      </p:sp>
      <p:cxnSp>
        <p:nvCxnSpPr>
          <p:cNvPr id="488" name="Google Shape;488;g3d65d74c44f_0_296"/>
          <p:cNvCxnSpPr>
            <a:stCxn id="489" idx="3"/>
          </p:cNvCxnSpPr>
          <p:nvPr/>
        </p:nvCxnSpPr>
        <p:spPr>
          <a:xfrm flipH="1" rot="10800000">
            <a:off x="3311775" y="3519496"/>
            <a:ext cx="399300" cy="608100"/>
          </a:xfrm>
          <a:prstGeom prst="bentConnector2">
            <a:avLst/>
          </a:prstGeom>
          <a:noFill/>
          <a:ln cap="flat" cmpd="sng" w="28575">
            <a:solidFill>
              <a:srgbClr val="999999"/>
            </a:solidFill>
            <a:prstDash val="solid"/>
            <a:round/>
            <a:headEnd len="med" w="med" type="oval"/>
            <a:tailEnd len="sm" w="sm" type="none"/>
          </a:ln>
        </p:spPr>
      </p:cxnSp>
      <p:cxnSp>
        <p:nvCxnSpPr>
          <p:cNvPr id="490" name="Google Shape;490;g3d65d74c44f_0_296"/>
          <p:cNvCxnSpPr>
            <a:stCxn id="486" idx="2"/>
            <a:endCxn id="491" idx="1"/>
          </p:cNvCxnSpPr>
          <p:nvPr/>
        </p:nvCxnSpPr>
        <p:spPr>
          <a:xfrm flipH="1" rot="-5400000">
            <a:off x="4771394" y="4062458"/>
            <a:ext cx="1082700" cy="572700"/>
          </a:xfrm>
          <a:prstGeom prst="bentConnector2">
            <a:avLst/>
          </a:prstGeom>
          <a:noFill/>
          <a:ln cap="flat" cmpd="sng" w="28575">
            <a:solidFill>
              <a:srgbClr val="999999"/>
            </a:solidFill>
            <a:prstDash val="solid"/>
            <a:round/>
            <a:headEnd len="sm" w="sm" type="none"/>
            <a:tailEnd len="med" w="med" type="oval"/>
          </a:ln>
        </p:spPr>
      </p:cxnSp>
      <p:cxnSp>
        <p:nvCxnSpPr>
          <p:cNvPr id="492" name="Google Shape;492;g3d65d74c44f_0_296"/>
          <p:cNvCxnSpPr>
            <a:stCxn id="493" idx="1"/>
            <a:endCxn id="486" idx="2"/>
          </p:cNvCxnSpPr>
          <p:nvPr/>
        </p:nvCxnSpPr>
        <p:spPr>
          <a:xfrm rot="10800000">
            <a:off x="5026525" y="3807425"/>
            <a:ext cx="572700" cy="272700"/>
          </a:xfrm>
          <a:prstGeom prst="bentConnector2">
            <a:avLst/>
          </a:prstGeom>
          <a:noFill/>
          <a:ln cap="flat" cmpd="sng" w="28575">
            <a:solidFill>
              <a:srgbClr val="999999"/>
            </a:solidFill>
            <a:prstDash val="solid"/>
            <a:round/>
            <a:headEnd len="med" w="med" type="oval"/>
            <a:tailEnd len="sm" w="sm" type="none"/>
          </a:ln>
        </p:spPr>
      </p:cxnSp>
      <p:sp>
        <p:nvSpPr>
          <p:cNvPr id="489" name="Google Shape;489;g3d65d74c44f_0_296"/>
          <p:cNvSpPr txBox="1"/>
          <p:nvPr/>
        </p:nvSpPr>
        <p:spPr>
          <a:xfrm>
            <a:off x="1273875" y="3935146"/>
            <a:ext cx="2037900" cy="384900"/>
          </a:xfrm>
          <a:prstGeom prst="rect">
            <a:avLst/>
          </a:prstGeom>
          <a:noFill/>
          <a:ln>
            <a:noFill/>
          </a:ln>
        </p:spPr>
        <p:txBody>
          <a:bodyPr anchorCtr="0" anchor="t" bIns="91425" lIns="91425" spcFirstLastPara="1" rIns="91425" wrap="square" tIns="91425">
            <a:spAutoFit/>
          </a:bodyPr>
          <a:lstStyle/>
          <a:p>
            <a:pPr indent="0" lvl="0" marL="0" marR="0" rtl="0" algn="r">
              <a:lnSpc>
                <a:spcPct val="115000"/>
              </a:lnSpc>
              <a:spcBef>
                <a:spcPts val="0"/>
              </a:spcBef>
              <a:spcAft>
                <a:spcPts val="0"/>
              </a:spcAft>
              <a:buClr>
                <a:srgbClr val="000000"/>
              </a:buClr>
              <a:buSzPts val="1400"/>
              <a:buFont typeface="Arial"/>
              <a:buNone/>
            </a:pPr>
            <a:r>
              <a:rPr lang="en-US" sz="1300">
                <a:solidFill>
                  <a:schemeClr val="dk1"/>
                </a:solidFill>
                <a:latin typeface="Helvetica Neue"/>
                <a:ea typeface="Helvetica Neue"/>
                <a:cs typeface="Helvetica Neue"/>
                <a:sym typeface="Helvetica Neue"/>
              </a:rPr>
              <a:t>Data sharing</a:t>
            </a:r>
            <a:endParaRPr b="0" i="0" sz="1300" u="none" cap="none" strike="noStrike">
              <a:solidFill>
                <a:schemeClr val="dk1"/>
              </a:solidFill>
              <a:latin typeface="Helvetica Neue"/>
              <a:ea typeface="Helvetica Neue"/>
              <a:cs typeface="Helvetica Neue"/>
              <a:sym typeface="Helvetica Neue"/>
            </a:endParaRPr>
          </a:p>
        </p:txBody>
      </p:sp>
      <p:cxnSp>
        <p:nvCxnSpPr>
          <p:cNvPr id="494" name="Google Shape;494;g3d65d74c44f_0_296"/>
          <p:cNvCxnSpPr>
            <a:stCxn id="495" idx="3"/>
          </p:cNvCxnSpPr>
          <p:nvPr/>
        </p:nvCxnSpPr>
        <p:spPr>
          <a:xfrm flipH="1" rot="10800000">
            <a:off x="3268425" y="3320423"/>
            <a:ext cx="442800" cy="1138800"/>
          </a:xfrm>
          <a:prstGeom prst="bentConnector2">
            <a:avLst/>
          </a:prstGeom>
          <a:noFill/>
          <a:ln cap="flat" cmpd="sng" w="28575">
            <a:solidFill>
              <a:srgbClr val="999999"/>
            </a:solidFill>
            <a:prstDash val="solid"/>
            <a:round/>
            <a:headEnd len="med" w="med" type="oval"/>
            <a:tailEnd len="sm" w="sm" type="none"/>
          </a:ln>
        </p:spPr>
      </p:cxnSp>
      <p:sp>
        <p:nvSpPr>
          <p:cNvPr id="495" name="Google Shape;495;g3d65d74c44f_0_296"/>
          <p:cNvSpPr txBox="1"/>
          <p:nvPr/>
        </p:nvSpPr>
        <p:spPr>
          <a:xfrm>
            <a:off x="658125" y="4266773"/>
            <a:ext cx="2610300" cy="384900"/>
          </a:xfrm>
          <a:prstGeom prst="rect">
            <a:avLst/>
          </a:prstGeom>
          <a:noFill/>
          <a:ln>
            <a:noFill/>
          </a:ln>
        </p:spPr>
        <p:txBody>
          <a:bodyPr anchorCtr="0" anchor="t" bIns="91425" lIns="91425" spcFirstLastPara="1" rIns="91425" wrap="square" tIns="91425">
            <a:spAutoFit/>
          </a:bodyPr>
          <a:lstStyle/>
          <a:p>
            <a:pPr indent="0" lvl="0" marL="0" marR="0" rtl="0" algn="r">
              <a:lnSpc>
                <a:spcPct val="115000"/>
              </a:lnSpc>
              <a:spcBef>
                <a:spcPts val="0"/>
              </a:spcBef>
              <a:spcAft>
                <a:spcPts val="0"/>
              </a:spcAft>
              <a:buClr>
                <a:srgbClr val="000000"/>
              </a:buClr>
              <a:buSzPts val="1400"/>
              <a:buFont typeface="Arial"/>
              <a:buNone/>
            </a:pPr>
            <a:r>
              <a:rPr lang="en-US" sz="1300">
                <a:solidFill>
                  <a:schemeClr val="dk1"/>
                </a:solidFill>
                <a:latin typeface="Helvetica Neue"/>
                <a:ea typeface="Helvetica Neue"/>
                <a:cs typeface="Helvetica Neue"/>
                <a:sym typeface="Helvetica Neue"/>
              </a:rPr>
              <a:t>Data harmonization</a:t>
            </a:r>
            <a:endParaRPr b="0" i="0" sz="1300" u="none" cap="none" strike="noStrike">
              <a:solidFill>
                <a:schemeClr val="dk1"/>
              </a:solidFill>
              <a:latin typeface="Helvetica Neue"/>
              <a:ea typeface="Helvetica Neue"/>
              <a:cs typeface="Helvetica Neue"/>
              <a:sym typeface="Helvetica Neue"/>
            </a:endParaRPr>
          </a:p>
        </p:txBody>
      </p:sp>
      <p:sp>
        <p:nvSpPr>
          <p:cNvPr id="491" name="Google Shape;491;g3d65d74c44f_0_296"/>
          <p:cNvSpPr txBox="1"/>
          <p:nvPr/>
        </p:nvSpPr>
        <p:spPr>
          <a:xfrm>
            <a:off x="5599100" y="4697718"/>
            <a:ext cx="37215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en-US" sz="1300" u="none" cap="none" strike="noStrike">
                <a:solidFill>
                  <a:schemeClr val="dk1"/>
                </a:solidFill>
                <a:latin typeface="Helvetica Neue"/>
                <a:ea typeface="Helvetica Neue"/>
                <a:cs typeface="Helvetica Neue"/>
                <a:sym typeface="Helvetica Neue"/>
              </a:rPr>
              <a:t>Exploration (ex. mutations </a:t>
            </a:r>
            <a:r>
              <a:rPr lang="en-US" sz="1300">
                <a:solidFill>
                  <a:schemeClr val="dk1"/>
                </a:solidFill>
                <a:latin typeface="Helvetica Neue"/>
                <a:ea typeface="Helvetica Neue"/>
                <a:cs typeface="Helvetica Neue"/>
                <a:sym typeface="Helvetica Neue"/>
              </a:rPr>
              <a:t>of interest</a:t>
            </a:r>
            <a:r>
              <a:rPr b="0" i="0" lang="en-US" sz="1300" u="none" cap="none" strike="noStrike">
                <a:solidFill>
                  <a:schemeClr val="dk1"/>
                </a:solidFill>
                <a:latin typeface="Helvetica Neue"/>
                <a:ea typeface="Helvetica Neue"/>
                <a:cs typeface="Helvetica Neue"/>
                <a:sym typeface="Helvetica Neue"/>
              </a:rPr>
              <a:t>)</a:t>
            </a:r>
            <a:endParaRPr b="0" i="0" sz="1300" u="none" cap="none" strike="noStrike">
              <a:solidFill>
                <a:schemeClr val="dk1"/>
              </a:solidFill>
              <a:latin typeface="Helvetica Neue"/>
              <a:ea typeface="Helvetica Neue"/>
              <a:cs typeface="Helvetica Neue"/>
              <a:sym typeface="Helvetica Neue"/>
            </a:endParaRPr>
          </a:p>
        </p:txBody>
      </p:sp>
      <p:sp>
        <p:nvSpPr>
          <p:cNvPr id="493" name="Google Shape;493;g3d65d74c44f_0_296"/>
          <p:cNvSpPr txBox="1"/>
          <p:nvPr/>
        </p:nvSpPr>
        <p:spPr>
          <a:xfrm>
            <a:off x="5599225" y="3887675"/>
            <a:ext cx="30591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400"/>
              <a:buFont typeface="Arial"/>
              <a:buNone/>
            </a:pPr>
            <a:r>
              <a:rPr b="0" i="0" lang="en-US" sz="1300" u="none" cap="none" strike="noStrike">
                <a:solidFill>
                  <a:schemeClr val="dk1"/>
                </a:solidFill>
                <a:latin typeface="Helvetica Neue"/>
                <a:ea typeface="Helvetica Neue"/>
                <a:cs typeface="Helvetica Neue"/>
                <a:sym typeface="Helvetica Neue"/>
              </a:rPr>
              <a:t>Identification (ex. </a:t>
            </a:r>
            <a:r>
              <a:rPr lang="en-US" sz="1300">
                <a:solidFill>
                  <a:schemeClr val="dk1"/>
                </a:solidFill>
                <a:latin typeface="Helvetica Neue"/>
                <a:ea typeface="Helvetica Neue"/>
                <a:cs typeface="Helvetica Neue"/>
                <a:sym typeface="Helvetica Neue"/>
              </a:rPr>
              <a:t>clade assignment</a:t>
            </a:r>
            <a:r>
              <a:rPr b="0" i="0" lang="en-US" sz="1300" u="none" cap="none" strike="noStrike">
                <a:solidFill>
                  <a:schemeClr val="dk1"/>
                </a:solidFill>
                <a:latin typeface="Helvetica Neue"/>
                <a:ea typeface="Helvetica Neue"/>
                <a:cs typeface="Helvetica Neue"/>
                <a:sym typeface="Helvetica Neue"/>
              </a:rPr>
              <a:t>) </a:t>
            </a:r>
            <a:endParaRPr b="0" i="0" sz="1300" u="none" cap="none" strike="noStrike">
              <a:solidFill>
                <a:schemeClr val="dk1"/>
              </a:solidFill>
              <a:latin typeface="Helvetica Neue"/>
              <a:ea typeface="Helvetica Neue"/>
              <a:cs typeface="Helvetica Neue"/>
              <a:sym typeface="Helvetica Neue"/>
            </a:endParaRPr>
          </a:p>
        </p:txBody>
      </p:sp>
      <p:sp>
        <p:nvSpPr>
          <p:cNvPr id="496" name="Google Shape;496;g3d65d74c44f_0_296"/>
          <p:cNvSpPr txBox="1"/>
          <p:nvPr/>
        </p:nvSpPr>
        <p:spPr>
          <a:xfrm>
            <a:off x="5599225" y="4289300"/>
            <a:ext cx="3426300" cy="387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lang="en-US" sz="1300">
                <a:solidFill>
                  <a:schemeClr val="dk1"/>
                </a:solidFill>
                <a:latin typeface="Helvetica Neue"/>
                <a:ea typeface="Helvetica Neue"/>
                <a:cs typeface="Helvetica Neue"/>
                <a:sym typeface="Helvetica Neue"/>
              </a:rPr>
              <a:t>Context </a:t>
            </a:r>
            <a:r>
              <a:rPr b="0" i="0" lang="en-US" sz="1300" u="none" cap="none" strike="noStrike">
                <a:solidFill>
                  <a:schemeClr val="dk1"/>
                </a:solidFill>
                <a:latin typeface="Helvetica Neue"/>
                <a:ea typeface="Helvetica Neue"/>
                <a:cs typeface="Helvetica Neue"/>
                <a:sym typeface="Helvetica Neue"/>
              </a:rPr>
              <a:t>(ex. phylog</a:t>
            </a:r>
            <a:r>
              <a:rPr lang="en-US" sz="1300">
                <a:solidFill>
                  <a:schemeClr val="dk1"/>
                </a:solidFill>
                <a:latin typeface="Helvetica Neue"/>
                <a:ea typeface="Helvetica Neue"/>
                <a:cs typeface="Helvetica Neue"/>
                <a:sym typeface="Helvetica Neue"/>
              </a:rPr>
              <a:t>e</a:t>
            </a:r>
            <a:r>
              <a:rPr b="0" i="0" lang="en-US" sz="1300" u="none" cap="none" strike="noStrike">
                <a:solidFill>
                  <a:schemeClr val="dk1"/>
                </a:solidFill>
                <a:latin typeface="Helvetica Neue"/>
                <a:ea typeface="Helvetica Neue"/>
                <a:cs typeface="Helvetica Neue"/>
                <a:sym typeface="Helvetica Neue"/>
              </a:rPr>
              <a:t>nies)</a:t>
            </a:r>
            <a:endParaRPr b="0" i="0" sz="1300" u="none" cap="none" strike="noStrike">
              <a:solidFill>
                <a:schemeClr val="dk1"/>
              </a:solidFill>
              <a:latin typeface="Helvetica Neue"/>
              <a:ea typeface="Helvetica Neue"/>
              <a:cs typeface="Helvetica Neue"/>
              <a:sym typeface="Helvetica Neue"/>
            </a:endParaRPr>
          </a:p>
        </p:txBody>
      </p:sp>
      <p:grpSp>
        <p:nvGrpSpPr>
          <p:cNvPr id="497" name="Google Shape;497;g3d65d74c44f_0_296"/>
          <p:cNvGrpSpPr/>
          <p:nvPr/>
        </p:nvGrpSpPr>
        <p:grpSpPr>
          <a:xfrm>
            <a:off x="1562053" y="929056"/>
            <a:ext cx="5730182" cy="613080"/>
            <a:chOff x="1562025" y="1091850"/>
            <a:chExt cx="5972050" cy="817439"/>
          </a:xfrm>
        </p:grpSpPr>
        <p:sp>
          <p:nvSpPr>
            <p:cNvPr id="498" name="Google Shape;498;g3d65d74c44f_0_296"/>
            <p:cNvSpPr/>
            <p:nvPr/>
          </p:nvSpPr>
          <p:spPr>
            <a:xfrm>
              <a:off x="5692375" y="1133475"/>
              <a:ext cx="1841700" cy="714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Light"/>
                <a:ea typeface="Helvetica Neue Light"/>
                <a:cs typeface="Helvetica Neue Light"/>
                <a:sym typeface="Helvetica Neue Light"/>
              </a:endParaRPr>
            </a:p>
          </p:txBody>
        </p:sp>
        <p:sp>
          <p:nvSpPr>
            <p:cNvPr id="499" name="Google Shape;499;g3d65d74c44f_0_296"/>
            <p:cNvSpPr/>
            <p:nvPr/>
          </p:nvSpPr>
          <p:spPr>
            <a:xfrm>
              <a:off x="3927112" y="1133490"/>
              <a:ext cx="1241400" cy="714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Light"/>
                <a:ea typeface="Helvetica Neue Light"/>
                <a:cs typeface="Helvetica Neue Light"/>
                <a:sym typeface="Helvetica Neue Light"/>
              </a:endParaRPr>
            </a:p>
          </p:txBody>
        </p:sp>
        <p:sp>
          <p:nvSpPr>
            <p:cNvPr id="500" name="Google Shape;500;g3d65d74c44f_0_296"/>
            <p:cNvSpPr/>
            <p:nvPr/>
          </p:nvSpPr>
          <p:spPr>
            <a:xfrm>
              <a:off x="1562025" y="1133475"/>
              <a:ext cx="1635900" cy="714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Helvetica Neue Light"/>
                <a:ea typeface="Helvetica Neue Light"/>
                <a:cs typeface="Helvetica Neue Light"/>
                <a:sym typeface="Helvetica Neue Light"/>
              </a:endParaRPr>
            </a:p>
          </p:txBody>
        </p:sp>
        <p:sp>
          <p:nvSpPr>
            <p:cNvPr id="501" name="Google Shape;501;g3d65d74c44f_0_296"/>
            <p:cNvSpPr txBox="1"/>
            <p:nvPr/>
          </p:nvSpPr>
          <p:spPr>
            <a:xfrm>
              <a:off x="3986228" y="1091850"/>
              <a:ext cx="1143300" cy="7758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rPr b="0" i="0" lang="en-US" sz="1200" u="none" cap="none" strike="noStrike">
                  <a:solidFill>
                    <a:schemeClr val="dk1"/>
                  </a:solidFill>
                  <a:latin typeface="Helvetica Neue Light"/>
                  <a:ea typeface="Helvetica Neue Light"/>
                  <a:cs typeface="Helvetica Neue Light"/>
                  <a:sym typeface="Helvetica Neue Light"/>
                </a:rPr>
                <a:t>Support </a:t>
              </a:r>
              <a:r>
                <a:rPr lang="en-US" sz="1200">
                  <a:solidFill>
                    <a:schemeClr val="dk1"/>
                  </a:solidFill>
                  <a:latin typeface="Helvetica Neue Light"/>
                  <a:ea typeface="Helvetica Neue Light"/>
                  <a:cs typeface="Helvetica Neue Light"/>
                  <a:sym typeface="Helvetica Neue Light"/>
                </a:rPr>
                <a:t>to </a:t>
              </a:r>
              <a:r>
                <a:rPr b="0" i="0" lang="en-US" sz="1200" u="none" cap="none" strike="noStrike">
                  <a:solidFill>
                    <a:srgbClr val="426DB1"/>
                  </a:solidFill>
                  <a:latin typeface="Helvetica Neue Light"/>
                  <a:ea typeface="Helvetica Neue Light"/>
                  <a:cs typeface="Helvetica Neue Light"/>
                  <a:sym typeface="Helvetica Neue Light"/>
                </a:rPr>
                <a:t>Public Health</a:t>
              </a:r>
              <a:endParaRPr b="0" i="1" sz="900" u="none" cap="none" strike="noStrike">
                <a:solidFill>
                  <a:srgbClr val="426DB1"/>
                </a:solidFill>
                <a:latin typeface="Helvetica Neue Light"/>
                <a:ea typeface="Helvetica Neue Light"/>
                <a:cs typeface="Helvetica Neue Light"/>
                <a:sym typeface="Helvetica Neue Light"/>
              </a:endParaRPr>
            </a:p>
          </p:txBody>
        </p:sp>
        <p:sp>
          <p:nvSpPr>
            <p:cNvPr id="502" name="Google Shape;502;g3d65d74c44f_0_296"/>
            <p:cNvSpPr txBox="1"/>
            <p:nvPr/>
          </p:nvSpPr>
          <p:spPr>
            <a:xfrm>
              <a:off x="1609913" y="1133475"/>
              <a:ext cx="1587900" cy="7758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rPr lang="en-US" sz="1200">
                  <a:solidFill>
                    <a:schemeClr val="dk1"/>
                  </a:solidFill>
                  <a:latin typeface="Helvetica Neue Light"/>
                  <a:ea typeface="Helvetica Neue Light"/>
                  <a:cs typeface="Helvetica Neue Light"/>
                  <a:sym typeface="Helvetica Neue Light"/>
                </a:rPr>
                <a:t>Tools for </a:t>
              </a:r>
              <a:r>
                <a:rPr lang="en-US" sz="1200">
                  <a:solidFill>
                    <a:srgbClr val="B45F06"/>
                  </a:solidFill>
                  <a:latin typeface="Helvetica Neue Light"/>
                  <a:ea typeface="Helvetica Neue Light"/>
                  <a:cs typeface="Helvetica Neue Light"/>
                  <a:sym typeface="Helvetica Neue Light"/>
                </a:rPr>
                <a:t>Scientific</a:t>
              </a:r>
              <a:r>
                <a:rPr lang="en-US" sz="1200">
                  <a:solidFill>
                    <a:schemeClr val="dk1"/>
                  </a:solidFill>
                  <a:latin typeface="Helvetica Neue Light"/>
                  <a:ea typeface="Helvetica Neue Light"/>
                  <a:cs typeface="Helvetica Neue Light"/>
                  <a:sym typeface="Helvetica Neue Light"/>
                </a:rPr>
                <a:t> </a:t>
              </a:r>
              <a:r>
                <a:rPr b="0" i="0" lang="en-US" sz="1200" u="none" cap="none" strike="noStrike">
                  <a:solidFill>
                    <a:srgbClr val="B45F06"/>
                  </a:solidFill>
                  <a:latin typeface="Helvetica Neue Light"/>
                  <a:ea typeface="Helvetica Neue Light"/>
                  <a:cs typeface="Helvetica Neue Light"/>
                  <a:sym typeface="Helvetica Neue Light"/>
                </a:rPr>
                <a:t>Re</a:t>
              </a:r>
              <a:r>
                <a:rPr lang="en-US" sz="1200">
                  <a:solidFill>
                    <a:srgbClr val="B45F06"/>
                  </a:solidFill>
                  <a:latin typeface="Helvetica Neue Light"/>
                  <a:ea typeface="Helvetica Neue Light"/>
                  <a:cs typeface="Helvetica Neue Light"/>
                  <a:sym typeface="Helvetica Neue Light"/>
                </a:rPr>
                <a:t>search</a:t>
              </a:r>
              <a:endParaRPr b="0" i="0" sz="1000" u="none" cap="none" strike="noStrike">
                <a:solidFill>
                  <a:srgbClr val="B45F06"/>
                </a:solidFill>
                <a:latin typeface="Helvetica Neue Light"/>
                <a:ea typeface="Helvetica Neue Light"/>
                <a:cs typeface="Helvetica Neue Light"/>
                <a:sym typeface="Helvetica Neue Light"/>
              </a:endParaRPr>
            </a:p>
          </p:txBody>
        </p:sp>
        <p:sp>
          <p:nvSpPr>
            <p:cNvPr id="503" name="Google Shape;503;g3d65d74c44f_0_296"/>
            <p:cNvSpPr txBox="1"/>
            <p:nvPr/>
          </p:nvSpPr>
          <p:spPr>
            <a:xfrm>
              <a:off x="5769464" y="1133490"/>
              <a:ext cx="1668300" cy="7758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200"/>
                <a:buFont typeface="Arial"/>
                <a:buNone/>
              </a:pPr>
              <a:r>
                <a:rPr b="0" i="0" lang="en-US" sz="1200" u="none" cap="none" strike="noStrike">
                  <a:solidFill>
                    <a:schemeClr val="dk1"/>
                  </a:solidFill>
                  <a:latin typeface="Helvetica Neue Light"/>
                  <a:ea typeface="Helvetica Neue Light"/>
                  <a:cs typeface="Helvetica Neue Light"/>
                  <a:sym typeface="Helvetica Neue Light"/>
                </a:rPr>
                <a:t>Contribution </a:t>
              </a:r>
              <a:r>
                <a:rPr lang="en-US" sz="1200">
                  <a:solidFill>
                    <a:schemeClr val="dk1"/>
                  </a:solidFill>
                  <a:latin typeface="Helvetica Neue Light"/>
                  <a:ea typeface="Helvetica Neue Light"/>
                  <a:cs typeface="Helvetica Neue Light"/>
                  <a:sym typeface="Helvetica Neue Light"/>
                </a:rPr>
                <a:t>to</a:t>
              </a:r>
              <a:r>
                <a:rPr b="0" i="0" lang="en-US" sz="1200" u="none" cap="none" strike="noStrike">
                  <a:solidFill>
                    <a:srgbClr val="0B5394"/>
                  </a:solidFill>
                  <a:latin typeface="Helvetica Neue Light"/>
                  <a:ea typeface="Helvetica Neue Light"/>
                  <a:cs typeface="Helvetica Neue Light"/>
                  <a:sym typeface="Helvetica Neue Light"/>
                </a:rPr>
                <a:t> </a:t>
              </a:r>
              <a:r>
                <a:rPr b="0" i="0" lang="en-US" sz="1200" u="none" cap="none" strike="noStrike">
                  <a:solidFill>
                    <a:srgbClr val="38761D"/>
                  </a:solidFill>
                  <a:latin typeface="Helvetica Neue Light"/>
                  <a:ea typeface="Helvetica Neue Light"/>
                  <a:cs typeface="Helvetica Neue Light"/>
                  <a:sym typeface="Helvetica Neue Light"/>
                </a:rPr>
                <a:t>Open</a:t>
              </a:r>
              <a:r>
                <a:rPr b="0" i="0" lang="en-US" sz="1200" u="none" cap="none" strike="noStrike">
                  <a:solidFill>
                    <a:srgbClr val="0B5394"/>
                  </a:solidFill>
                  <a:latin typeface="Helvetica Neue Light"/>
                  <a:ea typeface="Helvetica Neue Light"/>
                  <a:cs typeface="Helvetica Neue Light"/>
                  <a:sym typeface="Helvetica Neue Light"/>
                </a:rPr>
                <a:t> </a:t>
              </a:r>
              <a:r>
                <a:rPr b="0" i="0" lang="en-US" sz="1200" u="none" cap="none" strike="noStrike">
                  <a:solidFill>
                    <a:srgbClr val="38761D"/>
                  </a:solidFill>
                  <a:latin typeface="Helvetica Neue Light"/>
                  <a:ea typeface="Helvetica Neue Light"/>
                  <a:cs typeface="Helvetica Neue Light"/>
                  <a:sym typeface="Helvetica Neue Light"/>
                </a:rPr>
                <a:t>Science</a:t>
              </a:r>
              <a:endParaRPr b="0" i="0" sz="1000" u="none" cap="none" strike="noStrike">
                <a:solidFill>
                  <a:srgbClr val="38761D"/>
                </a:solidFill>
                <a:latin typeface="Helvetica Neue Light"/>
                <a:ea typeface="Helvetica Neue Light"/>
                <a:cs typeface="Helvetica Neue Light"/>
                <a:sym typeface="Helvetica Neue Light"/>
              </a:endParaRPr>
            </a:p>
          </p:txBody>
        </p:sp>
      </p:grpSp>
      <p:cxnSp>
        <p:nvCxnSpPr>
          <p:cNvPr id="504" name="Google Shape;504;g3d65d74c44f_0_296"/>
          <p:cNvCxnSpPr/>
          <p:nvPr/>
        </p:nvCxnSpPr>
        <p:spPr>
          <a:xfrm flipH="1" rot="10800000">
            <a:off x="1543114" y="2629146"/>
            <a:ext cx="521100" cy="1500"/>
          </a:xfrm>
          <a:prstGeom prst="straightConnector1">
            <a:avLst/>
          </a:prstGeom>
          <a:noFill/>
          <a:ln cap="flat" cmpd="sng" w="19050">
            <a:solidFill>
              <a:srgbClr val="062C75"/>
            </a:solidFill>
            <a:prstDash val="solid"/>
            <a:round/>
            <a:headEnd len="med" w="med" type="triangle"/>
            <a:tailEnd len="sm" w="sm" type="none"/>
          </a:ln>
        </p:spPr>
      </p:cxnSp>
      <p:pic>
        <p:nvPicPr>
          <p:cNvPr id="505" name="Google Shape;505;g3d65d74c44f_0_296"/>
          <p:cNvPicPr preferRelativeResize="0"/>
          <p:nvPr/>
        </p:nvPicPr>
        <p:blipFill rotWithShape="1">
          <a:blip r:embed="rId3">
            <a:alphaModFix/>
          </a:blip>
          <a:srcRect b="0" l="0" r="0" t="0"/>
          <a:stretch/>
        </p:blipFill>
        <p:spPr>
          <a:xfrm>
            <a:off x="458493" y="1890330"/>
            <a:ext cx="605439" cy="430359"/>
          </a:xfrm>
          <a:prstGeom prst="rect">
            <a:avLst/>
          </a:prstGeom>
          <a:noFill/>
          <a:ln>
            <a:noFill/>
          </a:ln>
        </p:spPr>
      </p:pic>
      <p:sp>
        <p:nvSpPr>
          <p:cNvPr id="506" name="Google Shape;506;g3d65d74c44f_0_296"/>
          <p:cNvSpPr txBox="1"/>
          <p:nvPr/>
        </p:nvSpPr>
        <p:spPr>
          <a:xfrm>
            <a:off x="79423" y="2333775"/>
            <a:ext cx="1565400" cy="714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600"/>
              <a:buFont typeface="Arial"/>
              <a:buNone/>
            </a:pPr>
            <a:r>
              <a:rPr b="0" i="0" lang="en-US" sz="1600" u="none" cap="none" strike="noStrike">
                <a:solidFill>
                  <a:schemeClr val="dk1"/>
                </a:solidFill>
                <a:latin typeface="Helvetica Neue"/>
                <a:ea typeface="Helvetica Neue"/>
                <a:cs typeface="Helvetica Neue"/>
                <a:sym typeface="Helvetica Neue"/>
              </a:rPr>
              <a:t>Consortium</a:t>
            </a:r>
            <a:endParaRPr b="0" i="0" sz="1600" u="none" cap="none" strike="noStrike">
              <a:solidFill>
                <a:schemeClr val="dk1"/>
              </a:solidFill>
              <a:latin typeface="Helvetica Neue"/>
              <a:ea typeface="Helvetica Neue"/>
              <a:cs typeface="Helvetica Neue"/>
              <a:sym typeface="Helvetica Neue"/>
            </a:endParaRPr>
          </a:p>
          <a:p>
            <a:pPr indent="0" lvl="0" marL="0" marR="0" rtl="0" algn="ctr">
              <a:lnSpc>
                <a:spcPct val="115000"/>
              </a:lnSpc>
              <a:spcBef>
                <a:spcPts val="0"/>
              </a:spcBef>
              <a:spcAft>
                <a:spcPts val="0"/>
              </a:spcAft>
              <a:buClr>
                <a:srgbClr val="000000"/>
              </a:buClr>
              <a:buSzPts val="1600"/>
              <a:buFont typeface="Arial"/>
              <a:buNone/>
            </a:pPr>
            <a:r>
              <a:rPr b="0" i="0" lang="en-US" sz="1600" u="none" cap="none" strike="noStrike">
                <a:solidFill>
                  <a:schemeClr val="dk1"/>
                </a:solidFill>
                <a:latin typeface="Helvetica Neue"/>
                <a:ea typeface="Helvetica Neue"/>
                <a:cs typeface="Helvetica Neue"/>
                <a:sym typeface="Helvetica Neue"/>
              </a:rPr>
              <a:t>EMERGEN</a:t>
            </a:r>
            <a:endParaRPr b="0" i="0" sz="1600" u="none" cap="none" strike="noStrike">
              <a:solidFill>
                <a:schemeClr val="dk1"/>
              </a:solidFill>
              <a:latin typeface="Helvetica Neue"/>
              <a:ea typeface="Helvetica Neue"/>
              <a:cs typeface="Helvetica Neue"/>
              <a:sym typeface="Helvetica Neue"/>
            </a:endParaRPr>
          </a:p>
        </p:txBody>
      </p:sp>
      <p:cxnSp>
        <p:nvCxnSpPr>
          <p:cNvPr id="507" name="Google Shape;507;g3d65d74c44f_0_296"/>
          <p:cNvCxnSpPr/>
          <p:nvPr/>
        </p:nvCxnSpPr>
        <p:spPr>
          <a:xfrm flipH="1">
            <a:off x="1543222" y="2743371"/>
            <a:ext cx="521100" cy="1500"/>
          </a:xfrm>
          <a:prstGeom prst="straightConnector1">
            <a:avLst/>
          </a:prstGeom>
          <a:noFill/>
          <a:ln cap="flat" cmpd="sng" w="19050">
            <a:solidFill>
              <a:srgbClr val="062C75"/>
            </a:solidFill>
            <a:prstDash val="solid"/>
            <a:round/>
            <a:headEnd len="med" w="med" type="triangle"/>
            <a:tailEnd len="sm" w="sm" type="none"/>
          </a:ln>
        </p:spPr>
      </p:cxnSp>
      <p:cxnSp>
        <p:nvCxnSpPr>
          <p:cNvPr id="508" name="Google Shape;508;g3d65d74c44f_0_296"/>
          <p:cNvCxnSpPr>
            <a:stCxn id="496" idx="1"/>
            <a:endCxn id="486" idx="2"/>
          </p:cNvCxnSpPr>
          <p:nvPr/>
        </p:nvCxnSpPr>
        <p:spPr>
          <a:xfrm rot="10800000">
            <a:off x="5026525" y="3807500"/>
            <a:ext cx="572700" cy="675300"/>
          </a:xfrm>
          <a:prstGeom prst="bentConnector2">
            <a:avLst/>
          </a:prstGeom>
          <a:noFill/>
          <a:ln cap="flat" cmpd="sng" w="28575">
            <a:solidFill>
              <a:srgbClr val="999999"/>
            </a:solidFill>
            <a:prstDash val="solid"/>
            <a:round/>
            <a:headEnd len="med" w="med" type="oval"/>
            <a:tailEnd len="sm" w="sm" type="none"/>
          </a:ln>
        </p:spPr>
      </p:cxnSp>
      <p:sp>
        <p:nvSpPr>
          <p:cNvPr id="509" name="Google Shape;509;g3d65d74c44f_0_296"/>
          <p:cNvSpPr/>
          <p:nvPr/>
        </p:nvSpPr>
        <p:spPr>
          <a:xfrm>
            <a:off x="3596087" y="3105510"/>
            <a:ext cx="252900" cy="163500"/>
          </a:xfrm>
          <a:prstGeom prst="ellipse">
            <a:avLst/>
          </a:prstGeom>
          <a:solidFill>
            <a:srgbClr val="C9DAF8"/>
          </a:solidFill>
          <a:ln cap="flat" cmpd="sng" w="19050">
            <a:solidFill>
              <a:srgbClr val="062C7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0" name="Google Shape;510;g3d65d74c44f_0_296"/>
          <p:cNvSpPr/>
          <p:nvPr/>
        </p:nvSpPr>
        <p:spPr>
          <a:xfrm>
            <a:off x="4911254" y="3105510"/>
            <a:ext cx="252900" cy="163500"/>
          </a:xfrm>
          <a:prstGeom prst="ellipse">
            <a:avLst/>
          </a:prstGeom>
          <a:solidFill>
            <a:srgbClr val="C9DAF8"/>
          </a:solidFill>
          <a:ln cap="flat" cmpd="sng" w="19050">
            <a:solidFill>
              <a:srgbClr val="062C7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11" name="Google Shape;511;g3d65d74c44f_0_296"/>
          <p:cNvPicPr preferRelativeResize="0"/>
          <p:nvPr/>
        </p:nvPicPr>
        <p:blipFill rotWithShape="1">
          <a:blip r:embed="rId4">
            <a:alphaModFix/>
          </a:blip>
          <a:srcRect b="0" l="0" r="0" t="0"/>
          <a:stretch/>
        </p:blipFill>
        <p:spPr>
          <a:xfrm>
            <a:off x="7428098" y="2039031"/>
            <a:ext cx="417524" cy="461399"/>
          </a:xfrm>
          <a:prstGeom prst="rect">
            <a:avLst/>
          </a:prstGeom>
          <a:noFill/>
          <a:ln>
            <a:noFill/>
          </a:ln>
        </p:spPr>
      </p:pic>
      <p:pic>
        <p:nvPicPr>
          <p:cNvPr id="512" name="Google Shape;512;g3d65d74c44f_0_296"/>
          <p:cNvPicPr preferRelativeResize="0"/>
          <p:nvPr/>
        </p:nvPicPr>
        <p:blipFill rotWithShape="1">
          <a:blip r:embed="rId5">
            <a:alphaModFix/>
          </a:blip>
          <a:srcRect b="0" l="0" r="0" t="0"/>
          <a:stretch/>
        </p:blipFill>
        <p:spPr>
          <a:xfrm>
            <a:off x="7941203" y="2183053"/>
            <a:ext cx="817726" cy="193000"/>
          </a:xfrm>
          <a:prstGeom prst="rect">
            <a:avLst/>
          </a:prstGeom>
          <a:noFill/>
          <a:ln>
            <a:noFill/>
          </a:ln>
        </p:spPr>
      </p:pic>
      <p:sp>
        <p:nvSpPr>
          <p:cNvPr id="513" name="Google Shape;513;g3d65d74c44f_0_296"/>
          <p:cNvSpPr txBox="1"/>
          <p:nvPr/>
        </p:nvSpPr>
        <p:spPr>
          <a:xfrm>
            <a:off x="7089373" y="2473387"/>
            <a:ext cx="1947300" cy="4464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700"/>
              <a:buFont typeface="Arial"/>
              <a:buNone/>
            </a:pPr>
            <a:r>
              <a:rPr lang="en-US" sz="1700">
                <a:solidFill>
                  <a:schemeClr val="dk1"/>
                </a:solidFill>
                <a:latin typeface="Helvetica Neue"/>
                <a:ea typeface="Helvetica Neue"/>
                <a:cs typeface="Helvetica Neue"/>
                <a:sym typeface="Helvetica Neue"/>
              </a:rPr>
              <a:t>Public databases</a:t>
            </a:r>
            <a:endParaRPr b="0" i="0" sz="1700" u="none" cap="none" strike="noStrike">
              <a:solidFill>
                <a:schemeClr val="dk1"/>
              </a:solidFill>
              <a:latin typeface="Helvetica Neue"/>
              <a:ea typeface="Helvetica Neue"/>
              <a:cs typeface="Helvetica Neue"/>
              <a:sym typeface="Helvetica Neue"/>
            </a:endParaRPr>
          </a:p>
        </p:txBody>
      </p:sp>
      <p:sp>
        <p:nvSpPr>
          <p:cNvPr id="514" name="Google Shape;514;g3d65d74c44f_0_296"/>
          <p:cNvSpPr txBox="1"/>
          <p:nvPr/>
        </p:nvSpPr>
        <p:spPr>
          <a:xfrm>
            <a:off x="3072157" y="3060059"/>
            <a:ext cx="1326600" cy="747300"/>
          </a:xfrm>
          <a:prstGeom prst="rect">
            <a:avLst/>
          </a:prstGeom>
          <a:solidFill>
            <a:schemeClr val="lt1"/>
          </a:solid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1700"/>
              <a:buFont typeface="Arial"/>
              <a:buNone/>
            </a:pPr>
            <a:r>
              <a:rPr b="1" i="0" lang="en-US" sz="1700" u="none" cap="none" strike="noStrike">
                <a:solidFill>
                  <a:schemeClr val="lt1"/>
                </a:solidFill>
                <a:latin typeface="Helvetica Neue"/>
                <a:ea typeface="Helvetica Neue"/>
                <a:cs typeface="Helvetica Neue"/>
                <a:sym typeface="Helvetica Neue"/>
              </a:rPr>
              <a:t>Outils d’analyse</a:t>
            </a:r>
            <a:endParaRPr b="1" i="0" sz="1700" u="none" cap="none" strike="noStrike">
              <a:solidFill>
                <a:schemeClr val="lt1"/>
              </a:solidFill>
              <a:latin typeface="Helvetica Neue"/>
              <a:ea typeface="Helvetica Neue"/>
              <a:cs typeface="Helvetica Neue"/>
              <a:sym typeface="Helvetica Neue"/>
            </a:endParaRPr>
          </a:p>
        </p:txBody>
      </p:sp>
      <p:pic>
        <p:nvPicPr>
          <p:cNvPr id="515" name="Google Shape;515;g3d65d74c44f_0_296" title="Screenshot from 2026-04-15 17-04-57.png"/>
          <p:cNvPicPr preferRelativeResize="0"/>
          <p:nvPr/>
        </p:nvPicPr>
        <p:blipFill rotWithShape="1">
          <a:blip r:embed="rId6">
            <a:alphaModFix/>
          </a:blip>
          <a:srcRect b="0" l="0" r="0" t="0"/>
          <a:stretch/>
        </p:blipFill>
        <p:spPr>
          <a:xfrm>
            <a:off x="2272523" y="1784956"/>
            <a:ext cx="4064348" cy="1850925"/>
          </a:xfrm>
          <a:prstGeom prst="rect">
            <a:avLst/>
          </a:prstGeom>
          <a:noFill/>
          <a:ln>
            <a:noFill/>
          </a:ln>
        </p:spPr>
      </p:pic>
      <p:cxnSp>
        <p:nvCxnSpPr>
          <p:cNvPr id="516" name="Google Shape;516;g3d65d74c44f_0_296"/>
          <p:cNvCxnSpPr/>
          <p:nvPr/>
        </p:nvCxnSpPr>
        <p:spPr>
          <a:xfrm flipH="1" rot="10800000">
            <a:off x="6514214" y="2632521"/>
            <a:ext cx="521100" cy="1500"/>
          </a:xfrm>
          <a:prstGeom prst="straightConnector1">
            <a:avLst/>
          </a:prstGeom>
          <a:noFill/>
          <a:ln cap="flat" cmpd="sng" w="19050">
            <a:solidFill>
              <a:srgbClr val="062C75"/>
            </a:solidFill>
            <a:prstDash val="solid"/>
            <a:round/>
            <a:headEnd len="med" w="med" type="triangle"/>
            <a:tailEnd len="sm" w="sm" type="none"/>
          </a:ln>
        </p:spPr>
      </p:cxnSp>
      <p:cxnSp>
        <p:nvCxnSpPr>
          <p:cNvPr id="517" name="Google Shape;517;g3d65d74c44f_0_296"/>
          <p:cNvCxnSpPr/>
          <p:nvPr/>
        </p:nvCxnSpPr>
        <p:spPr>
          <a:xfrm flipH="1">
            <a:off x="6514322" y="2746746"/>
            <a:ext cx="521100" cy="1500"/>
          </a:xfrm>
          <a:prstGeom prst="straightConnector1">
            <a:avLst/>
          </a:prstGeom>
          <a:noFill/>
          <a:ln cap="flat" cmpd="sng" w="19050">
            <a:solidFill>
              <a:srgbClr val="062C75"/>
            </a:solidFill>
            <a:prstDash val="solid"/>
            <a:round/>
            <a:headEnd len="med" w="med" type="triangle"/>
            <a:tailEnd len="sm" w="sm" type="none"/>
          </a:ln>
        </p:spPr>
      </p:cxnSp>
      <p:sp>
        <p:nvSpPr>
          <p:cNvPr id="518" name="Google Shape;518;g3d65d74c44f_0_296"/>
          <p:cNvSpPr txBox="1"/>
          <p:nvPr/>
        </p:nvSpPr>
        <p:spPr>
          <a:xfrm>
            <a:off x="66794" y="4634634"/>
            <a:ext cx="3642900" cy="309300"/>
          </a:xfrm>
          <a:prstGeom prst="rect">
            <a:avLst/>
          </a:prstGeom>
          <a:noFill/>
          <a:ln>
            <a:noFill/>
          </a:ln>
        </p:spPr>
        <p:txBody>
          <a:bodyPr anchorCtr="0" anchor="t" bIns="54000" lIns="54000" spcFirstLastPara="1" rIns="54000" wrap="square" tIns="54000">
            <a:spAutoFit/>
          </a:bodyPr>
          <a:lstStyle/>
          <a:p>
            <a:pPr indent="0" lvl="0" marL="0" rtl="0" algn="ctr">
              <a:lnSpc>
                <a:spcPct val="115000"/>
              </a:lnSpc>
              <a:spcBef>
                <a:spcPts val="0"/>
              </a:spcBef>
              <a:spcAft>
                <a:spcPts val="0"/>
              </a:spcAft>
              <a:buNone/>
            </a:pPr>
            <a:r>
              <a:rPr lang="en-US" sz="1300">
                <a:solidFill>
                  <a:schemeClr val="dk1"/>
                </a:solidFill>
              </a:rPr>
              <a:t>Tracking</a:t>
            </a:r>
            <a:r>
              <a:rPr lang="en-US" sz="1300">
                <a:solidFill>
                  <a:srgbClr val="000000"/>
                </a:solidFill>
              </a:rPr>
              <a:t> DENV circulating diversity </a:t>
            </a:r>
            <a:endParaRPr sz="1300">
              <a:solidFill>
                <a:srgbClr val="000000"/>
              </a:solidFill>
            </a:endParaRPr>
          </a:p>
        </p:txBody>
      </p:sp>
      <p:pic>
        <p:nvPicPr>
          <p:cNvPr id="519" name="Google Shape;519;g3d65d74c44f_0_296"/>
          <p:cNvPicPr preferRelativeResize="0"/>
          <p:nvPr/>
        </p:nvPicPr>
        <p:blipFill>
          <a:blip r:embed="rId7">
            <a:alphaModFix/>
          </a:blip>
          <a:stretch>
            <a:fillRect/>
          </a:stretch>
        </p:blipFill>
        <p:spPr>
          <a:xfrm>
            <a:off x="157048" y="3926711"/>
            <a:ext cx="1378934" cy="675300"/>
          </a:xfrm>
          <a:prstGeom prst="rect">
            <a:avLst/>
          </a:prstGeom>
          <a:noFill/>
          <a:ln>
            <a:noFill/>
          </a:ln>
        </p:spPr>
      </p:pic>
      <p:pic>
        <p:nvPicPr>
          <p:cNvPr id="520" name="Google Shape;520;g3d65d74c44f_0_296"/>
          <p:cNvPicPr preferRelativeResize="0"/>
          <p:nvPr/>
        </p:nvPicPr>
        <p:blipFill rotWithShape="1">
          <a:blip r:embed="rId8">
            <a:alphaModFix/>
          </a:blip>
          <a:srcRect b="11432" l="11105" r="79039" t="-2815"/>
          <a:stretch/>
        </p:blipFill>
        <p:spPr>
          <a:xfrm rot="5400000">
            <a:off x="774825" y="3120449"/>
            <a:ext cx="214799" cy="1108651"/>
          </a:xfrm>
          <a:prstGeom prst="rect">
            <a:avLst/>
          </a:prstGeom>
          <a:noFill/>
          <a:ln>
            <a:noFill/>
          </a:ln>
        </p:spPr>
      </p:pic>
      <p:pic>
        <p:nvPicPr>
          <p:cNvPr id="521" name="Google Shape;521;g3d65d74c44f_0_296"/>
          <p:cNvPicPr preferRelativeResize="0"/>
          <p:nvPr/>
        </p:nvPicPr>
        <p:blipFill>
          <a:blip r:embed="rId9">
            <a:alphaModFix/>
          </a:blip>
          <a:stretch>
            <a:fillRect/>
          </a:stretch>
        </p:blipFill>
        <p:spPr>
          <a:xfrm>
            <a:off x="352722" y="822229"/>
            <a:ext cx="823225" cy="823225"/>
          </a:xfrm>
          <a:prstGeom prst="rect">
            <a:avLst/>
          </a:prstGeom>
          <a:noFill/>
          <a:ln>
            <a:noFill/>
          </a:ln>
        </p:spPr>
      </p:pic>
      <p:sp>
        <p:nvSpPr>
          <p:cNvPr id="522" name="Google Shape;522;g3d65d74c44f_0_296"/>
          <p:cNvSpPr txBox="1"/>
          <p:nvPr/>
        </p:nvSpPr>
        <p:spPr>
          <a:xfrm>
            <a:off x="261972" y="1609787"/>
            <a:ext cx="971100" cy="25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500">
                <a:solidFill>
                  <a:schemeClr val="dk1"/>
                </a:solidFill>
                <a:latin typeface="Helvetica Neue"/>
                <a:ea typeface="Helvetica Neue"/>
                <a:cs typeface="Helvetica Neue"/>
                <a:sym typeface="Helvetica Neue"/>
              </a:rPr>
              <a:t>Abdelkader Amzert</a:t>
            </a:r>
            <a:endParaRPr b="1" sz="500">
              <a:solidFill>
                <a:schemeClr val="dk1"/>
              </a:solidFill>
              <a:latin typeface="Helvetica Neue"/>
              <a:ea typeface="Helvetica Neue"/>
              <a:cs typeface="Helvetica Neue"/>
              <a:sym typeface="Helvetica Neue"/>
            </a:endParaRPr>
          </a:p>
          <a:p>
            <a:pPr indent="0" lvl="0" marL="0" rtl="0" algn="ctr">
              <a:spcBef>
                <a:spcPts val="0"/>
              </a:spcBef>
              <a:spcAft>
                <a:spcPts val="0"/>
              </a:spcAft>
              <a:buNone/>
            </a:pPr>
            <a:r>
              <a:rPr b="1" lang="en-US" sz="500">
                <a:solidFill>
                  <a:schemeClr val="dk1"/>
                </a:solidFill>
                <a:latin typeface="Helvetica Neue"/>
                <a:ea typeface="Helvetica Neue"/>
                <a:cs typeface="Helvetica Neue"/>
                <a:sym typeface="Helvetica Neue"/>
              </a:rPr>
              <a:t>UMS Emergen</a:t>
            </a:r>
            <a:endParaRPr b="1" sz="500">
              <a:solidFill>
                <a:schemeClr val="dk1"/>
              </a:solidFill>
              <a:latin typeface="Helvetica Neue"/>
              <a:ea typeface="Helvetica Neue"/>
              <a:cs typeface="Helvetica Neue"/>
              <a:sym typeface="Helvetica Neue"/>
            </a:endParaRPr>
          </a:p>
        </p:txBody>
      </p:sp>
      <p:cxnSp>
        <p:nvCxnSpPr>
          <p:cNvPr id="523" name="Google Shape;523;g3d65d74c44f_0_296"/>
          <p:cNvCxnSpPr/>
          <p:nvPr/>
        </p:nvCxnSpPr>
        <p:spPr>
          <a:xfrm rot="-5400000">
            <a:off x="2974567" y="4071659"/>
            <a:ext cx="999300" cy="470700"/>
          </a:xfrm>
          <a:prstGeom prst="bentConnector3">
            <a:avLst>
              <a:gd fmla="val -9" name="adj1"/>
            </a:avLst>
          </a:prstGeom>
          <a:noFill/>
          <a:ln cap="flat" cmpd="sng" w="28575">
            <a:solidFill>
              <a:srgbClr val="999999"/>
            </a:solidFill>
            <a:prstDash val="solid"/>
            <a:round/>
            <a:headEnd len="med" w="med" type="oval"/>
            <a:tailEnd len="sm" w="sm" type="non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pic>
        <p:nvPicPr>
          <p:cNvPr id="528" name="Google Shape;528;g3d5b1289de4_0_1009"/>
          <p:cNvPicPr preferRelativeResize="0"/>
          <p:nvPr/>
        </p:nvPicPr>
        <p:blipFill rotWithShape="1">
          <a:blip r:embed="rId3">
            <a:alphaModFix/>
          </a:blip>
          <a:srcRect b="0" l="0" r="0" t="0"/>
          <a:stretch/>
        </p:blipFill>
        <p:spPr>
          <a:xfrm>
            <a:off x="3310319" y="935166"/>
            <a:ext cx="5571402" cy="3346900"/>
          </a:xfrm>
          <a:prstGeom prst="rect">
            <a:avLst/>
          </a:prstGeom>
          <a:noFill/>
          <a:ln>
            <a:noFill/>
          </a:ln>
        </p:spPr>
      </p:pic>
      <p:sp>
        <p:nvSpPr>
          <p:cNvPr id="529" name="Google Shape;529;g3d5b1289de4_0_1009"/>
          <p:cNvSpPr txBox="1"/>
          <p:nvPr/>
        </p:nvSpPr>
        <p:spPr>
          <a:xfrm>
            <a:off x="331937" y="1114735"/>
            <a:ext cx="3290700" cy="1862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1700"/>
              <a:buFont typeface="Arial"/>
              <a:buNone/>
            </a:pPr>
            <a:r>
              <a:rPr lang="en-US">
                <a:solidFill>
                  <a:schemeClr val="dk1"/>
                </a:solidFill>
                <a:latin typeface="Helvetica Neue Light"/>
                <a:ea typeface="Helvetica Neue Light"/>
                <a:cs typeface="Helvetica Neue Light"/>
                <a:sym typeface="Helvetica Neue Light"/>
              </a:rPr>
              <a:t>&gt;30000 cases</a:t>
            </a:r>
            <a:endParaRPr>
              <a:solidFill>
                <a:schemeClr val="dk1"/>
              </a:solidFill>
              <a:latin typeface="Helvetica Neue Light"/>
              <a:ea typeface="Helvetica Neue Light"/>
              <a:cs typeface="Helvetica Neue Light"/>
              <a:sym typeface="Helvetica Neue Light"/>
            </a:endParaRPr>
          </a:p>
          <a:p>
            <a:pPr indent="0" lvl="0" marL="0" marR="0" rtl="0" algn="l">
              <a:lnSpc>
                <a:spcPct val="100000"/>
              </a:lnSpc>
              <a:spcBef>
                <a:spcPts val="1000"/>
              </a:spcBef>
              <a:spcAft>
                <a:spcPts val="0"/>
              </a:spcAft>
              <a:buClr>
                <a:srgbClr val="000000"/>
              </a:buClr>
              <a:buSzPts val="1700"/>
              <a:buFont typeface="Arial"/>
              <a:buNone/>
            </a:pPr>
            <a:r>
              <a:rPr lang="en-US">
                <a:solidFill>
                  <a:schemeClr val="dk1"/>
                </a:solidFill>
                <a:latin typeface="Helvetica Neue Light"/>
                <a:ea typeface="Helvetica Neue Light"/>
                <a:cs typeface="Helvetica Neue Light"/>
                <a:sym typeface="Helvetica Neue Light"/>
              </a:rPr>
              <a:t>~300 genomes obtained</a:t>
            </a:r>
            <a:endParaRPr>
              <a:solidFill>
                <a:schemeClr val="dk1"/>
              </a:solidFill>
              <a:latin typeface="Helvetica Neue Light"/>
              <a:ea typeface="Helvetica Neue Light"/>
              <a:cs typeface="Helvetica Neue Light"/>
              <a:sym typeface="Helvetica Neue Light"/>
            </a:endParaRPr>
          </a:p>
          <a:p>
            <a:pPr indent="0" lvl="0" marL="0" marR="0" rtl="0" algn="l">
              <a:lnSpc>
                <a:spcPct val="100000"/>
              </a:lnSpc>
              <a:spcBef>
                <a:spcPts val="1000"/>
              </a:spcBef>
              <a:spcAft>
                <a:spcPts val="0"/>
              </a:spcAft>
              <a:buClr>
                <a:srgbClr val="000000"/>
              </a:buClr>
              <a:buSzPts val="1700"/>
              <a:buFont typeface="Arial"/>
              <a:buNone/>
            </a:pPr>
            <a:r>
              <a:rPr lang="en-US">
                <a:solidFill>
                  <a:schemeClr val="dk1"/>
                </a:solidFill>
                <a:latin typeface="Helvetica Neue Light"/>
                <a:ea typeface="Helvetica Neue Light"/>
                <a:cs typeface="Helvetica Neue Light"/>
                <a:sym typeface="Helvetica Neue Light"/>
              </a:rPr>
              <a:t>Multiple exchanges between islands</a:t>
            </a:r>
            <a:endParaRPr>
              <a:solidFill>
                <a:schemeClr val="dk1"/>
              </a:solidFill>
              <a:latin typeface="Helvetica Neue Light"/>
              <a:ea typeface="Helvetica Neue Light"/>
              <a:cs typeface="Helvetica Neue Light"/>
              <a:sym typeface="Helvetica Neue Light"/>
            </a:endParaRPr>
          </a:p>
          <a:p>
            <a:pPr indent="0" lvl="0" marL="0" marR="0" rtl="0" algn="l">
              <a:lnSpc>
                <a:spcPct val="100000"/>
              </a:lnSpc>
              <a:spcBef>
                <a:spcPts val="1000"/>
              </a:spcBef>
              <a:spcAft>
                <a:spcPts val="0"/>
              </a:spcAft>
              <a:buClr>
                <a:srgbClr val="000000"/>
              </a:buClr>
              <a:buSzPts val="1700"/>
              <a:buFont typeface="Arial"/>
              <a:buNone/>
            </a:pPr>
            <a:r>
              <a:rPr lang="en-US">
                <a:solidFill>
                  <a:schemeClr val="dk1"/>
                </a:solidFill>
                <a:latin typeface="Helvetica Neue Light"/>
                <a:ea typeface="Helvetica Neue Light"/>
                <a:cs typeface="Helvetica Neue Light"/>
                <a:sym typeface="Helvetica Neue Light"/>
              </a:rPr>
              <a:t>A single epidemic lineage with o</a:t>
            </a:r>
            <a:r>
              <a:rPr lang="en-US">
                <a:solidFill>
                  <a:schemeClr val="dk1"/>
                </a:solidFill>
                <a:latin typeface="Helvetica Neue Light"/>
                <a:ea typeface="Helvetica Neue Light"/>
                <a:cs typeface="Helvetica Neue Light"/>
                <a:sym typeface="Helvetica Neue Light"/>
              </a:rPr>
              <a:t>ne mutation conferring a drastic decrease in sensitivity to </a:t>
            </a:r>
            <a:r>
              <a:rPr b="0" i="0" lang="en-US" u="none" cap="none" strike="noStrike">
                <a:solidFill>
                  <a:schemeClr val="dk1"/>
                </a:solidFill>
                <a:latin typeface="Helvetica Neue Light"/>
                <a:ea typeface="Helvetica Neue Light"/>
                <a:cs typeface="Helvetica Neue Light"/>
                <a:sym typeface="Helvetica Neue Light"/>
              </a:rPr>
              <a:t>JNJ-A07</a:t>
            </a:r>
            <a:endParaRPr b="0" i="0" sz="900" u="none" cap="none" strike="noStrike">
              <a:solidFill>
                <a:schemeClr val="dk1"/>
              </a:solidFill>
              <a:latin typeface="Helvetica Neue Light"/>
              <a:ea typeface="Helvetica Neue Light"/>
              <a:cs typeface="Helvetica Neue Light"/>
              <a:sym typeface="Helvetica Neue Light"/>
            </a:endParaRPr>
          </a:p>
        </p:txBody>
      </p:sp>
      <p:cxnSp>
        <p:nvCxnSpPr>
          <p:cNvPr id="530" name="Google Shape;530;g3d5b1289de4_0_1009"/>
          <p:cNvCxnSpPr/>
          <p:nvPr/>
        </p:nvCxnSpPr>
        <p:spPr>
          <a:xfrm flipH="1" rot="10800000">
            <a:off x="401542" y="746591"/>
            <a:ext cx="7955400" cy="2700"/>
          </a:xfrm>
          <a:prstGeom prst="straightConnector1">
            <a:avLst/>
          </a:prstGeom>
          <a:noFill/>
          <a:ln cap="flat" cmpd="sng" w="28575">
            <a:solidFill>
              <a:srgbClr val="FF9900"/>
            </a:solidFill>
            <a:prstDash val="solid"/>
            <a:round/>
            <a:headEnd len="sm" w="sm" type="none"/>
            <a:tailEnd len="sm" w="sm" type="none"/>
          </a:ln>
        </p:spPr>
      </p:cxnSp>
      <p:sp>
        <p:nvSpPr>
          <p:cNvPr id="531" name="Google Shape;531;g3d5b1289de4_0_1009"/>
          <p:cNvSpPr txBox="1"/>
          <p:nvPr>
            <p:ph idx="4294967295" type="title"/>
          </p:nvPr>
        </p:nvSpPr>
        <p:spPr>
          <a:xfrm>
            <a:off x="304943" y="-28134"/>
            <a:ext cx="8065200" cy="6549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rgbClr val="595959"/>
              </a:buClr>
              <a:buSzPts val="2430"/>
              <a:buFont typeface="Poppins"/>
              <a:buNone/>
            </a:pPr>
            <a:r>
              <a:rPr b="1" lang="en-US" sz="2420">
                <a:solidFill>
                  <a:srgbClr val="073763"/>
                </a:solidFill>
                <a:latin typeface="Helvetica Neue"/>
                <a:ea typeface="Helvetica Neue"/>
                <a:cs typeface="Helvetica Neue"/>
                <a:sym typeface="Helvetica Neue"/>
              </a:rPr>
              <a:t>DENV2 2023-2024 French Caribbean islands epidemic</a:t>
            </a:r>
            <a:endParaRPr b="1" sz="2420">
              <a:solidFill>
                <a:srgbClr val="073763"/>
              </a:solidFill>
              <a:latin typeface="Helvetica Neue"/>
              <a:ea typeface="Helvetica Neue"/>
              <a:cs typeface="Helvetica Neue"/>
              <a:sym typeface="Helvetica Neue"/>
            </a:endParaRPr>
          </a:p>
        </p:txBody>
      </p:sp>
      <p:pic>
        <p:nvPicPr>
          <p:cNvPr id="532" name="Google Shape;532;g3d5b1289de4_0_1009"/>
          <p:cNvPicPr preferRelativeResize="0"/>
          <p:nvPr/>
        </p:nvPicPr>
        <p:blipFill rotWithShape="1">
          <a:blip r:embed="rId4">
            <a:alphaModFix/>
          </a:blip>
          <a:srcRect b="0" l="0" r="0" t="0"/>
          <a:stretch/>
        </p:blipFill>
        <p:spPr>
          <a:xfrm>
            <a:off x="375409" y="3215314"/>
            <a:ext cx="988074" cy="1482123"/>
          </a:xfrm>
          <a:prstGeom prst="rect">
            <a:avLst/>
          </a:prstGeom>
          <a:noFill/>
          <a:ln>
            <a:noFill/>
          </a:ln>
        </p:spPr>
      </p:pic>
      <p:pic>
        <p:nvPicPr>
          <p:cNvPr id="533" name="Google Shape;533;g3d5b1289de4_0_1009"/>
          <p:cNvPicPr preferRelativeResize="0"/>
          <p:nvPr/>
        </p:nvPicPr>
        <p:blipFill rotWithShape="1">
          <a:blip r:embed="rId5">
            <a:alphaModFix/>
          </a:blip>
          <a:srcRect b="49618" l="3192" r="13021" t="2937"/>
          <a:stretch/>
        </p:blipFill>
        <p:spPr>
          <a:xfrm>
            <a:off x="1391372" y="3409720"/>
            <a:ext cx="2279996" cy="1237008"/>
          </a:xfrm>
          <a:prstGeom prst="rect">
            <a:avLst/>
          </a:prstGeom>
          <a:noFill/>
          <a:ln>
            <a:noFill/>
          </a:ln>
        </p:spPr>
      </p:pic>
      <p:cxnSp>
        <p:nvCxnSpPr>
          <p:cNvPr id="534" name="Google Shape;534;g3d5b1289de4_0_1009"/>
          <p:cNvCxnSpPr/>
          <p:nvPr/>
        </p:nvCxnSpPr>
        <p:spPr>
          <a:xfrm flipH="1" rot="-5400000">
            <a:off x="534395" y="3777880"/>
            <a:ext cx="731700" cy="308100"/>
          </a:xfrm>
          <a:prstGeom prst="curvedConnector3">
            <a:avLst>
              <a:gd fmla="val 50000" name="adj1"/>
            </a:avLst>
          </a:prstGeom>
          <a:noFill/>
          <a:ln cap="flat" cmpd="sng" w="17325">
            <a:solidFill>
              <a:srgbClr val="FF9900"/>
            </a:solidFill>
            <a:prstDash val="solid"/>
            <a:round/>
            <a:headEnd len="med" w="med" type="stealth"/>
            <a:tailEnd len="med" w="med" type="stealth"/>
          </a:ln>
        </p:spPr>
      </p:cxnSp>
      <p:cxnSp>
        <p:nvCxnSpPr>
          <p:cNvPr id="535" name="Google Shape;535;g3d5b1289de4_0_1009"/>
          <p:cNvCxnSpPr/>
          <p:nvPr/>
        </p:nvCxnSpPr>
        <p:spPr>
          <a:xfrm>
            <a:off x="794372" y="3476838"/>
            <a:ext cx="1887300" cy="818400"/>
          </a:xfrm>
          <a:prstGeom prst="curvedConnector3">
            <a:avLst>
              <a:gd fmla="val 37752" name="adj1"/>
            </a:avLst>
          </a:prstGeom>
          <a:noFill/>
          <a:ln cap="flat" cmpd="sng" w="17325">
            <a:solidFill>
              <a:srgbClr val="FF9900"/>
            </a:solidFill>
            <a:prstDash val="solid"/>
            <a:round/>
            <a:headEnd len="sm" w="sm" type="none"/>
            <a:tailEnd len="med" w="med" type="stealth"/>
          </a:ln>
        </p:spPr>
      </p:cxnSp>
      <p:cxnSp>
        <p:nvCxnSpPr>
          <p:cNvPr id="536" name="Google Shape;536;g3d5b1289de4_0_1009"/>
          <p:cNvCxnSpPr/>
          <p:nvPr/>
        </p:nvCxnSpPr>
        <p:spPr>
          <a:xfrm flipH="1" rot="10800000">
            <a:off x="1121734" y="4401195"/>
            <a:ext cx="1627200" cy="211800"/>
          </a:xfrm>
          <a:prstGeom prst="curvedConnector3">
            <a:avLst>
              <a:gd fmla="val 50000" name="adj1"/>
            </a:avLst>
          </a:prstGeom>
          <a:noFill/>
          <a:ln cap="flat" cmpd="sng" w="17325">
            <a:solidFill>
              <a:srgbClr val="FF9900"/>
            </a:solidFill>
            <a:prstDash val="solid"/>
            <a:round/>
            <a:headEnd len="sm" w="sm" type="none"/>
            <a:tailEnd len="med" w="med" type="stealth"/>
          </a:ln>
        </p:spPr>
      </p:cxnSp>
      <p:cxnSp>
        <p:nvCxnSpPr>
          <p:cNvPr id="537" name="Google Shape;537;g3d5b1289de4_0_1009"/>
          <p:cNvCxnSpPr/>
          <p:nvPr/>
        </p:nvCxnSpPr>
        <p:spPr>
          <a:xfrm>
            <a:off x="977306" y="4535959"/>
            <a:ext cx="2638200" cy="327900"/>
          </a:xfrm>
          <a:prstGeom prst="curvedConnector3">
            <a:avLst>
              <a:gd fmla="val 1825" name="adj1"/>
            </a:avLst>
          </a:prstGeom>
          <a:noFill/>
          <a:ln cap="flat" cmpd="sng" w="17325">
            <a:solidFill>
              <a:srgbClr val="FF9900"/>
            </a:solidFill>
            <a:prstDash val="solid"/>
            <a:round/>
            <a:headEnd len="sm" w="sm" type="none"/>
            <a:tailEnd len="med" w="med" type="stealth"/>
          </a:ln>
        </p:spPr>
      </p:cxnSp>
      <p:pic>
        <p:nvPicPr>
          <p:cNvPr id="538" name="Google Shape;538;g3d5b1289de4_0_1009"/>
          <p:cNvPicPr preferRelativeResize="0"/>
          <p:nvPr/>
        </p:nvPicPr>
        <p:blipFill rotWithShape="1">
          <a:blip r:embed="rId6">
            <a:alphaModFix/>
          </a:blip>
          <a:srcRect b="5078" l="26241" r="15174" t="3747"/>
          <a:stretch/>
        </p:blipFill>
        <p:spPr>
          <a:xfrm>
            <a:off x="3700266" y="4163017"/>
            <a:ext cx="711561" cy="736922"/>
          </a:xfrm>
          <a:prstGeom prst="rect">
            <a:avLst/>
          </a:prstGeom>
          <a:noFill/>
          <a:ln>
            <a:noFill/>
          </a:ln>
        </p:spPr>
      </p:pic>
      <p:sp>
        <p:nvSpPr>
          <p:cNvPr id="539" name="Google Shape;539;g3d5b1289de4_0_1009"/>
          <p:cNvSpPr txBox="1"/>
          <p:nvPr/>
        </p:nvSpPr>
        <p:spPr>
          <a:xfrm>
            <a:off x="5392575" y="4396900"/>
            <a:ext cx="3617100" cy="66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US" sz="1100">
                <a:solidFill>
                  <a:schemeClr val="dk2"/>
                </a:solidFill>
                <a:latin typeface="Helvetica Neue Light"/>
                <a:ea typeface="Helvetica Neue Light"/>
                <a:cs typeface="Helvetica Neue Light"/>
                <a:sym typeface="Helvetica Neue Light"/>
              </a:rPr>
              <a:t>Klitting et al. Eurosurveillance. 2024</a:t>
            </a:r>
            <a:endParaRPr sz="1100">
              <a:solidFill>
                <a:schemeClr val="dk2"/>
              </a:solidFill>
              <a:latin typeface="Helvetica Neue Light"/>
              <a:ea typeface="Helvetica Neue Light"/>
              <a:cs typeface="Helvetica Neue Light"/>
              <a:sym typeface="Helvetica Neue Light"/>
            </a:endParaRPr>
          </a:p>
          <a:p>
            <a:pPr indent="0" lvl="0" marL="0" rtl="0" algn="r">
              <a:spcBef>
                <a:spcPts val="0"/>
              </a:spcBef>
              <a:spcAft>
                <a:spcPts val="0"/>
              </a:spcAft>
              <a:buNone/>
            </a:pPr>
            <a:r>
              <a:rPr lang="en-US" sz="1100">
                <a:solidFill>
                  <a:schemeClr val="dk2"/>
                </a:solidFill>
                <a:latin typeface="Helvetica Neue Light"/>
                <a:ea typeface="Helvetica Neue Light"/>
                <a:cs typeface="Helvetica Neue Light"/>
                <a:sym typeface="Helvetica Neue Light"/>
              </a:rPr>
              <a:t>Bouzidi et al. Nature Communications. 2024</a:t>
            </a:r>
            <a:endParaRPr sz="1100">
              <a:solidFill>
                <a:schemeClr val="dk2"/>
              </a:solidFill>
              <a:latin typeface="Helvetica Neue Light"/>
              <a:ea typeface="Helvetica Neue Light"/>
              <a:cs typeface="Helvetica Neue Light"/>
              <a:sym typeface="Helvetica Neue 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grpSp>
        <p:nvGrpSpPr>
          <p:cNvPr id="544" name="Google Shape;544;g3d5b1289de4_0_1015"/>
          <p:cNvGrpSpPr/>
          <p:nvPr/>
        </p:nvGrpSpPr>
        <p:grpSpPr>
          <a:xfrm>
            <a:off x="332225" y="1394865"/>
            <a:ext cx="6686600" cy="3532811"/>
            <a:chOff x="120550" y="1479565"/>
            <a:chExt cx="6686600" cy="3532811"/>
          </a:xfrm>
        </p:grpSpPr>
        <p:pic>
          <p:nvPicPr>
            <p:cNvPr id="545" name="Google Shape;545;g3d5b1289de4_0_1015"/>
            <p:cNvPicPr preferRelativeResize="0"/>
            <p:nvPr/>
          </p:nvPicPr>
          <p:blipFill rotWithShape="1">
            <a:blip r:embed="rId3">
              <a:alphaModFix/>
            </a:blip>
            <a:srcRect b="0" l="0" r="0" t="0"/>
            <a:stretch/>
          </p:blipFill>
          <p:spPr>
            <a:xfrm>
              <a:off x="120550" y="1479565"/>
              <a:ext cx="2333800" cy="2072200"/>
            </a:xfrm>
            <a:prstGeom prst="rect">
              <a:avLst/>
            </a:prstGeom>
            <a:noFill/>
            <a:ln>
              <a:noFill/>
            </a:ln>
          </p:spPr>
        </p:pic>
        <p:pic>
          <p:nvPicPr>
            <p:cNvPr id="546" name="Google Shape;546;g3d5b1289de4_0_1015"/>
            <p:cNvPicPr preferRelativeResize="0"/>
            <p:nvPr/>
          </p:nvPicPr>
          <p:blipFill rotWithShape="1">
            <a:blip r:embed="rId4">
              <a:alphaModFix/>
            </a:blip>
            <a:srcRect b="0" l="0" r="0" t="0"/>
            <a:stretch/>
          </p:blipFill>
          <p:spPr>
            <a:xfrm>
              <a:off x="2368701" y="3308726"/>
              <a:ext cx="4438450" cy="1703650"/>
            </a:xfrm>
            <a:prstGeom prst="rect">
              <a:avLst/>
            </a:prstGeom>
            <a:noFill/>
            <a:ln>
              <a:noFill/>
            </a:ln>
          </p:spPr>
        </p:pic>
      </p:grpSp>
      <p:sp>
        <p:nvSpPr>
          <p:cNvPr id="547" name="Google Shape;547;g3d5b1289de4_0_1015"/>
          <p:cNvSpPr txBox="1"/>
          <p:nvPr/>
        </p:nvSpPr>
        <p:spPr>
          <a:xfrm>
            <a:off x="479125" y="3891975"/>
            <a:ext cx="1755000" cy="532500"/>
          </a:xfrm>
          <a:prstGeom prst="rect">
            <a:avLst/>
          </a:prstGeom>
          <a:solidFill>
            <a:srgbClr val="F3F3F3"/>
          </a:solidFill>
          <a:ln cap="flat" cmpd="sng" w="9525">
            <a:solidFill>
              <a:srgbClr val="88888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n-US" sz="1200" u="none" cap="none" strike="noStrike">
                <a:solidFill>
                  <a:srgbClr val="FF0000"/>
                </a:solidFill>
                <a:latin typeface="Helvetica Neue Light"/>
                <a:ea typeface="Helvetica Neue Light"/>
                <a:cs typeface="Helvetica Neue Light"/>
                <a:sym typeface="Helvetica Neue Light"/>
              </a:rPr>
              <a:t>D2 65877 (NS4B:91A)</a:t>
            </a:r>
            <a:endParaRPr b="0" i="0" sz="1200" u="none" cap="none" strike="noStrike">
              <a:solidFill>
                <a:srgbClr val="FF0000"/>
              </a:solidFill>
              <a:latin typeface="Helvetica Neue Light"/>
              <a:ea typeface="Helvetica Neue Light"/>
              <a:cs typeface="Helvetica Neue Light"/>
              <a:sym typeface="Helvetica Neue Light"/>
            </a:endParaRPr>
          </a:p>
          <a:p>
            <a:pPr indent="0" lvl="0" marL="0" marR="0" rtl="0" algn="l">
              <a:lnSpc>
                <a:spcPct val="115000"/>
              </a:lnSpc>
              <a:spcBef>
                <a:spcPts val="0"/>
              </a:spcBef>
              <a:spcAft>
                <a:spcPts val="0"/>
              </a:spcAft>
              <a:buClr>
                <a:srgbClr val="000000"/>
              </a:buClr>
              <a:buSzPts val="1200"/>
              <a:buFont typeface="Arial"/>
              <a:buNone/>
            </a:pPr>
            <a:r>
              <a:rPr b="0" i="0" lang="en-US" sz="1200" u="none" cap="none" strike="noStrike">
                <a:solidFill>
                  <a:srgbClr val="E06666"/>
                </a:solidFill>
                <a:latin typeface="Helvetica Neue Light"/>
                <a:ea typeface="Helvetica Neue Light"/>
                <a:cs typeface="Helvetica Neue Light"/>
                <a:sym typeface="Helvetica Neue Light"/>
              </a:rPr>
              <a:t>D2 25679 (NS4B:91V)</a:t>
            </a:r>
            <a:endParaRPr b="0" i="0" sz="1200" u="none" cap="none" strike="noStrike">
              <a:solidFill>
                <a:srgbClr val="E06666"/>
              </a:solidFill>
              <a:latin typeface="Helvetica Neue Light"/>
              <a:ea typeface="Helvetica Neue Light"/>
              <a:cs typeface="Helvetica Neue Light"/>
              <a:sym typeface="Helvetica Neue Light"/>
            </a:endParaRPr>
          </a:p>
        </p:txBody>
      </p:sp>
      <p:sp>
        <p:nvSpPr>
          <p:cNvPr id="548" name="Google Shape;548;g3d5b1289de4_0_1015"/>
          <p:cNvSpPr txBox="1"/>
          <p:nvPr/>
        </p:nvSpPr>
        <p:spPr>
          <a:xfrm>
            <a:off x="3238500" y="1416536"/>
            <a:ext cx="4826400" cy="1595700"/>
          </a:xfrm>
          <a:prstGeom prst="rect">
            <a:avLst/>
          </a:prstGeom>
          <a:noFill/>
          <a:ln>
            <a:noFill/>
          </a:ln>
        </p:spPr>
        <p:txBody>
          <a:bodyPr anchorCtr="0" anchor="t" bIns="91425" lIns="91425" spcFirstLastPara="1" rIns="91425" wrap="square" tIns="91425">
            <a:spAutoFit/>
          </a:bodyPr>
          <a:lstStyle/>
          <a:p>
            <a:pPr indent="-323850" lvl="0" marL="457200" marR="0" rtl="0" algn="l">
              <a:lnSpc>
                <a:spcPct val="100000"/>
              </a:lnSpc>
              <a:spcBef>
                <a:spcPts val="1000"/>
              </a:spcBef>
              <a:spcAft>
                <a:spcPts val="0"/>
              </a:spcAft>
              <a:buClr>
                <a:schemeClr val="dk1"/>
              </a:buClr>
              <a:buSzPts val="1500"/>
              <a:buFont typeface="Helvetica Neue Light"/>
              <a:buChar char="➢"/>
            </a:pPr>
            <a:r>
              <a:rPr lang="en-US" sz="1500">
                <a:solidFill>
                  <a:schemeClr val="dk1"/>
                </a:solidFill>
                <a:latin typeface="Helvetica Neue Light"/>
                <a:ea typeface="Helvetica Neue Light"/>
                <a:cs typeface="Helvetica Neue Light"/>
                <a:sym typeface="Helvetica Neue Light"/>
              </a:rPr>
              <a:t>A 1,000-fold decrease in sensitivity compared to a non-mutated strain</a:t>
            </a:r>
            <a:endParaRPr sz="1500">
              <a:solidFill>
                <a:schemeClr val="dk1"/>
              </a:solidFill>
              <a:latin typeface="Helvetica Neue Light"/>
              <a:ea typeface="Helvetica Neue Light"/>
              <a:cs typeface="Helvetica Neue Light"/>
              <a:sym typeface="Helvetica Neue Light"/>
            </a:endParaRPr>
          </a:p>
          <a:p>
            <a:pPr indent="-323850" lvl="0" marL="457200" marR="0" rtl="0" algn="l">
              <a:lnSpc>
                <a:spcPct val="100000"/>
              </a:lnSpc>
              <a:spcBef>
                <a:spcPts val="1000"/>
              </a:spcBef>
              <a:spcAft>
                <a:spcPts val="0"/>
              </a:spcAft>
              <a:buClr>
                <a:schemeClr val="dk1"/>
              </a:buClr>
              <a:buSzPts val="1500"/>
              <a:buFont typeface="Helvetica Neue Light"/>
              <a:buChar char="➢"/>
            </a:pPr>
            <a:r>
              <a:rPr lang="en-US" sz="1500">
                <a:solidFill>
                  <a:schemeClr val="dk1"/>
                </a:solidFill>
                <a:latin typeface="Helvetica Neue Light"/>
                <a:ea typeface="Helvetica Neue Light"/>
                <a:cs typeface="Helvetica Neue Light"/>
                <a:sym typeface="Helvetica Neue Light"/>
              </a:rPr>
              <a:t>In serotypes 2 and 3 but not 1 and 4</a:t>
            </a:r>
            <a:endParaRPr sz="1500">
              <a:solidFill>
                <a:schemeClr val="dk1"/>
              </a:solidFill>
              <a:latin typeface="Helvetica Neue Light"/>
              <a:ea typeface="Helvetica Neue Light"/>
              <a:cs typeface="Helvetica Neue Light"/>
              <a:sym typeface="Helvetica Neue Light"/>
            </a:endParaRPr>
          </a:p>
          <a:p>
            <a:pPr indent="-323850" lvl="0" marL="457200" marR="0" rtl="0" algn="l">
              <a:lnSpc>
                <a:spcPct val="100000"/>
              </a:lnSpc>
              <a:spcBef>
                <a:spcPts val="1000"/>
              </a:spcBef>
              <a:spcAft>
                <a:spcPts val="1000"/>
              </a:spcAft>
              <a:buClr>
                <a:schemeClr val="dk1"/>
              </a:buClr>
              <a:buSzPts val="1500"/>
              <a:buFont typeface="Helvetica Neue Light"/>
              <a:buChar char="➢"/>
            </a:pPr>
            <a:r>
              <a:rPr lang="en-US" sz="1500">
                <a:solidFill>
                  <a:schemeClr val="dk1"/>
                </a:solidFill>
                <a:latin typeface="Helvetica Neue Light"/>
                <a:ea typeface="Helvetica Neue Light"/>
                <a:cs typeface="Helvetica Neue Light"/>
                <a:sym typeface="Helvetica Neue Light"/>
              </a:rPr>
              <a:t>At least 12 and 7 emergence events identified in serotypes 2 and 3, respectively</a:t>
            </a:r>
            <a:endParaRPr sz="1500">
              <a:solidFill>
                <a:schemeClr val="dk1"/>
              </a:solidFill>
              <a:latin typeface="Helvetica Neue Light"/>
              <a:ea typeface="Helvetica Neue Light"/>
              <a:cs typeface="Helvetica Neue Light"/>
              <a:sym typeface="Helvetica Neue Light"/>
            </a:endParaRPr>
          </a:p>
        </p:txBody>
      </p:sp>
      <p:sp>
        <p:nvSpPr>
          <p:cNvPr id="549" name="Google Shape;549;g3d5b1289de4_0_1015"/>
          <p:cNvSpPr txBox="1"/>
          <p:nvPr>
            <p:ph idx="4294967295" type="title"/>
          </p:nvPr>
        </p:nvSpPr>
        <p:spPr>
          <a:xfrm>
            <a:off x="402900" y="345683"/>
            <a:ext cx="7418100" cy="654900"/>
          </a:xfrm>
          <a:prstGeom prst="rect">
            <a:avLst/>
          </a:prstGeom>
          <a:noFill/>
          <a:ln>
            <a:noFill/>
          </a:ln>
        </p:spPr>
        <p:txBody>
          <a:bodyPr anchorCtr="0" anchor="b" bIns="34275" lIns="68575" spcFirstLastPara="1" rIns="68575" wrap="square" tIns="34275">
            <a:noAutofit/>
          </a:bodyPr>
          <a:lstStyle/>
          <a:p>
            <a:pPr indent="0" lvl="0" marL="0" rtl="0" algn="l">
              <a:lnSpc>
                <a:spcPct val="90000"/>
              </a:lnSpc>
              <a:spcBef>
                <a:spcPts val="0"/>
              </a:spcBef>
              <a:spcAft>
                <a:spcPts val="0"/>
              </a:spcAft>
              <a:buClr>
                <a:srgbClr val="595959"/>
              </a:buClr>
              <a:buSzPts val="2430"/>
              <a:buFont typeface="Poppins"/>
              <a:buNone/>
            </a:pPr>
            <a:r>
              <a:rPr b="1" lang="en-US" sz="2120">
                <a:solidFill>
                  <a:srgbClr val="073763"/>
                </a:solidFill>
                <a:latin typeface="Helvetica Neue"/>
                <a:ea typeface="Helvetica Neue"/>
                <a:cs typeface="Helvetica Neue"/>
                <a:sym typeface="Helvetica Neue"/>
              </a:rPr>
              <a:t>Strains derived from clinical isolates exhibit significantly reduced susceptibility to JNJ-A07 and JNJ-1802</a:t>
            </a:r>
            <a:endParaRPr b="1" sz="2120">
              <a:solidFill>
                <a:srgbClr val="073763"/>
              </a:solidFill>
              <a:latin typeface="Helvetica Neue"/>
              <a:ea typeface="Helvetica Neue"/>
              <a:cs typeface="Helvetica Neue"/>
              <a:sym typeface="Helvetica Neue"/>
            </a:endParaRPr>
          </a:p>
        </p:txBody>
      </p:sp>
      <p:cxnSp>
        <p:nvCxnSpPr>
          <p:cNvPr id="550" name="Google Shape;550;g3d5b1289de4_0_1015"/>
          <p:cNvCxnSpPr/>
          <p:nvPr/>
        </p:nvCxnSpPr>
        <p:spPr>
          <a:xfrm flipH="1" rot="10800000">
            <a:off x="401542" y="1082308"/>
            <a:ext cx="7315200" cy="2700"/>
          </a:xfrm>
          <a:prstGeom prst="straightConnector1">
            <a:avLst/>
          </a:prstGeom>
          <a:noFill/>
          <a:ln cap="flat" cmpd="sng" w="28575">
            <a:solidFill>
              <a:srgbClr val="FF9900"/>
            </a:solidFill>
            <a:prstDash val="solid"/>
            <a:round/>
            <a:headEnd len="sm" w="sm" type="none"/>
            <a:tailEnd len="sm" w="sm" type="non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4587"/>
        </a:solidFill>
      </p:bgPr>
    </p:bg>
    <p:spTree>
      <p:nvGrpSpPr>
        <p:cNvPr id="554" name="Shape 554"/>
        <p:cNvGrpSpPr/>
        <p:nvPr/>
      </p:nvGrpSpPr>
      <p:grpSpPr>
        <a:xfrm>
          <a:off x="0" y="0"/>
          <a:ext cx="0" cy="0"/>
          <a:chOff x="0" y="0"/>
          <a:chExt cx="0" cy="0"/>
        </a:xfrm>
      </p:grpSpPr>
      <p:sp>
        <p:nvSpPr>
          <p:cNvPr id="555" name="Google Shape;555;h11a342068904e6d2_0_432"/>
          <p:cNvSpPr txBox="1"/>
          <p:nvPr>
            <p:ph type="title"/>
          </p:nvPr>
        </p:nvSpPr>
        <p:spPr>
          <a:xfrm>
            <a:off x="311708" y="826010"/>
            <a:ext cx="8520600" cy="2052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100000"/>
              <a:buFont typeface="Arial"/>
              <a:buNone/>
            </a:pPr>
            <a:r>
              <a:rPr lang="en-US" sz="1100">
                <a:solidFill>
                  <a:schemeClr val="lt1"/>
                </a:solidFill>
                <a:latin typeface="Helvetica Neue Light"/>
                <a:ea typeface="Helvetica Neue Light"/>
                <a:cs typeface="Helvetica Neue Light"/>
                <a:sym typeface="Helvetica Neue Light"/>
              </a:rPr>
              <a:t>	 	 	 	</a:t>
            </a:r>
            <a:endParaRPr sz="1100">
              <a:solidFill>
                <a:schemeClr val="lt1"/>
              </a:solidFill>
              <a:latin typeface="Helvetica Neue Light"/>
              <a:ea typeface="Helvetica Neue Light"/>
              <a:cs typeface="Helvetica Neue Light"/>
              <a:sym typeface="Helvetica Neue Light"/>
            </a:endParaRPr>
          </a:p>
          <a:p>
            <a:pPr indent="0" lvl="0" marL="0" rtl="0" algn="ctr">
              <a:spcBef>
                <a:spcPts val="1100"/>
              </a:spcBef>
              <a:spcAft>
                <a:spcPts val="0"/>
              </a:spcAft>
              <a:buNone/>
            </a:pPr>
            <a:r>
              <a:rPr b="1" lang="en-US" sz="3356">
                <a:solidFill>
                  <a:schemeClr val="lt1"/>
                </a:solidFill>
                <a:latin typeface="Helvetica Neue"/>
                <a:ea typeface="Helvetica Neue"/>
                <a:cs typeface="Helvetica Neue"/>
                <a:sym typeface="Helvetica Neue"/>
              </a:rPr>
              <a:t>GENERATION</a:t>
            </a:r>
            <a:endParaRPr b="1" sz="3356">
              <a:solidFill>
                <a:schemeClr val="lt1"/>
              </a:solidFill>
              <a:latin typeface="Helvetica Neue"/>
              <a:ea typeface="Helvetica Neue"/>
              <a:cs typeface="Helvetica Neue"/>
              <a:sym typeface="Helvetica Neue"/>
            </a:endParaRPr>
          </a:p>
          <a:p>
            <a:pPr indent="0" lvl="0" marL="0" rtl="0" algn="ctr">
              <a:spcBef>
                <a:spcPts val="1100"/>
              </a:spcBef>
              <a:spcAft>
                <a:spcPts val="0"/>
              </a:spcAft>
              <a:buClr>
                <a:schemeClr val="dk1"/>
              </a:buClr>
              <a:buSzPct val="32781"/>
              <a:buFont typeface="Arial"/>
              <a:buNone/>
            </a:pPr>
            <a:r>
              <a:t/>
            </a:r>
            <a:endParaRPr sz="3356">
              <a:solidFill>
                <a:schemeClr val="lt1"/>
              </a:solidFill>
              <a:latin typeface="Helvetica Neue Light"/>
              <a:ea typeface="Helvetica Neue Light"/>
              <a:cs typeface="Helvetica Neue Light"/>
              <a:sym typeface="Helvetica Neue Light"/>
            </a:endParaRPr>
          </a:p>
          <a:p>
            <a:pPr indent="0" lvl="0" marL="0" rtl="0" algn="ctr">
              <a:spcBef>
                <a:spcPts val="1100"/>
              </a:spcBef>
              <a:spcAft>
                <a:spcPts val="0"/>
              </a:spcAft>
              <a:buClr>
                <a:schemeClr val="dk1"/>
              </a:buClr>
              <a:buSzPct val="32781"/>
              <a:buFont typeface="Arial"/>
              <a:buNone/>
            </a:pPr>
            <a:r>
              <a:rPr b="1" lang="en-US" sz="3356">
                <a:solidFill>
                  <a:srgbClr val="FF9900"/>
                </a:solidFill>
                <a:latin typeface="Helvetica Neue"/>
                <a:ea typeface="Helvetica Neue"/>
                <a:cs typeface="Helvetica Neue"/>
                <a:sym typeface="Helvetica Neue"/>
              </a:rPr>
              <a:t>GENE</a:t>
            </a:r>
            <a:r>
              <a:rPr lang="en-US" sz="3356">
                <a:solidFill>
                  <a:schemeClr val="lt1"/>
                </a:solidFill>
                <a:latin typeface="Helvetica Neue Light"/>
                <a:ea typeface="Helvetica Neue Light"/>
                <a:cs typeface="Helvetica Neue Light"/>
                <a:sym typeface="Helvetica Neue Light"/>
              </a:rPr>
              <a:t>tic dete</a:t>
            </a:r>
            <a:r>
              <a:rPr b="1" lang="en-US" sz="3356">
                <a:solidFill>
                  <a:srgbClr val="FF9900"/>
                </a:solidFill>
                <a:latin typeface="Helvetica Neue"/>
                <a:ea typeface="Helvetica Neue"/>
                <a:cs typeface="Helvetica Neue"/>
                <a:sym typeface="Helvetica Neue"/>
              </a:rPr>
              <a:t>R</a:t>
            </a:r>
            <a:r>
              <a:rPr lang="en-US" sz="3356">
                <a:solidFill>
                  <a:schemeClr val="lt1"/>
                </a:solidFill>
                <a:latin typeface="Helvetica Neue Light"/>
                <a:ea typeface="Helvetica Neue Light"/>
                <a:cs typeface="Helvetica Neue Light"/>
                <a:sym typeface="Helvetica Neue Light"/>
              </a:rPr>
              <a:t>minants of dengue escape from homotypic immune neutralis</a:t>
            </a:r>
            <a:r>
              <a:rPr b="1" lang="en-US" sz="3356">
                <a:solidFill>
                  <a:srgbClr val="FF9900"/>
                </a:solidFill>
                <a:latin typeface="Helvetica Neue"/>
                <a:ea typeface="Helvetica Neue"/>
                <a:cs typeface="Helvetica Neue"/>
                <a:sym typeface="Helvetica Neue"/>
              </a:rPr>
              <a:t>ATION</a:t>
            </a:r>
            <a:endParaRPr b="1" sz="3356">
              <a:solidFill>
                <a:srgbClr val="FF9900"/>
              </a:solidFill>
              <a:latin typeface="Helvetica Neue"/>
              <a:ea typeface="Helvetica Neue"/>
              <a:cs typeface="Helvetica Neue"/>
              <a:sym typeface="Helvetica Neue"/>
            </a:endParaRPr>
          </a:p>
          <a:p>
            <a:pPr indent="0" lvl="0" marL="0" rtl="0" algn="ctr">
              <a:spcBef>
                <a:spcPts val="0"/>
              </a:spcBef>
              <a:spcAft>
                <a:spcPts val="0"/>
              </a:spcAft>
              <a:buNone/>
            </a:pPr>
            <a:r>
              <a:t/>
            </a:r>
            <a:endParaRPr i="1" sz="2600">
              <a:solidFill>
                <a:schemeClr val="lt1"/>
              </a:solidFill>
              <a:latin typeface="Helvetica Neue Light"/>
              <a:ea typeface="Helvetica Neue Light"/>
              <a:cs typeface="Helvetica Neue Light"/>
              <a:sym typeface="Helvetica Neue Light"/>
            </a:endParaRPr>
          </a:p>
        </p:txBody>
      </p:sp>
      <p:cxnSp>
        <p:nvCxnSpPr>
          <p:cNvPr id="556" name="Google Shape;556;h11a342068904e6d2_0_432"/>
          <p:cNvCxnSpPr/>
          <p:nvPr/>
        </p:nvCxnSpPr>
        <p:spPr>
          <a:xfrm flipH="1" rot="10800000">
            <a:off x="2614950" y="2078000"/>
            <a:ext cx="3942000" cy="3600"/>
          </a:xfrm>
          <a:prstGeom prst="straightConnector1">
            <a:avLst/>
          </a:prstGeom>
          <a:noFill/>
          <a:ln cap="flat" cmpd="sng" w="28575">
            <a:solidFill>
              <a:srgbClr val="FF9900"/>
            </a:solidFill>
            <a:prstDash val="solid"/>
            <a:round/>
            <a:headEnd len="med" w="med" type="none"/>
            <a:tailEnd len="med" w="med" type="none"/>
          </a:ln>
        </p:spPr>
      </p:cxn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h11a342068904e6d2_0_437"/>
          <p:cNvSpPr/>
          <p:nvPr/>
        </p:nvSpPr>
        <p:spPr>
          <a:xfrm>
            <a:off x="0" y="0"/>
            <a:ext cx="9144000" cy="629400"/>
          </a:xfrm>
          <a:prstGeom prst="rect">
            <a:avLst/>
          </a:prstGeom>
          <a:solidFill>
            <a:srgbClr val="1C4587"/>
          </a:solidFill>
          <a:ln cap="flat" cmpd="sng" w="952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2" name="Google Shape;562;h11a342068904e6d2_0_437"/>
          <p:cNvSpPr txBox="1"/>
          <p:nvPr/>
        </p:nvSpPr>
        <p:spPr>
          <a:xfrm>
            <a:off x="219075" y="63350"/>
            <a:ext cx="8763000" cy="48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chemeClr val="lt1"/>
                </a:solidFill>
                <a:latin typeface="Helvetica Neue"/>
                <a:ea typeface="Helvetica Neue"/>
                <a:cs typeface="Helvetica Neue"/>
                <a:sym typeface="Helvetica Neue"/>
              </a:rPr>
              <a:t>Context</a:t>
            </a:r>
            <a:endParaRPr b="1" sz="2200">
              <a:solidFill>
                <a:schemeClr val="lt1"/>
              </a:solidFill>
              <a:latin typeface="Helvetica Neue"/>
              <a:ea typeface="Helvetica Neue"/>
              <a:cs typeface="Helvetica Neue"/>
              <a:sym typeface="Helvetica Neue"/>
            </a:endParaRPr>
          </a:p>
        </p:txBody>
      </p:sp>
      <p:sp>
        <p:nvSpPr>
          <p:cNvPr id="563" name="Google Shape;563;h11a342068904e6d2_0_4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564" name="Google Shape;564;h11a342068904e6d2_0_437"/>
          <p:cNvPicPr preferRelativeResize="0"/>
          <p:nvPr/>
        </p:nvPicPr>
        <p:blipFill rotWithShape="1">
          <a:blip r:embed="rId3">
            <a:alphaModFix/>
          </a:blip>
          <a:srcRect b="54804" l="31327" r="33287" t="0"/>
          <a:stretch/>
        </p:blipFill>
        <p:spPr>
          <a:xfrm>
            <a:off x="623188" y="1447258"/>
            <a:ext cx="616181" cy="477000"/>
          </a:xfrm>
          <a:prstGeom prst="rect">
            <a:avLst/>
          </a:prstGeom>
          <a:noFill/>
          <a:ln>
            <a:noFill/>
          </a:ln>
        </p:spPr>
      </p:pic>
      <p:pic>
        <p:nvPicPr>
          <p:cNvPr id="565" name="Google Shape;565;h11a342068904e6d2_0_437" title="dengue generalitiesv2.png"/>
          <p:cNvPicPr preferRelativeResize="0"/>
          <p:nvPr/>
        </p:nvPicPr>
        <p:blipFill rotWithShape="1">
          <a:blip r:embed="rId4">
            <a:alphaModFix/>
          </a:blip>
          <a:srcRect b="20955" l="9139" r="85672" t="71209"/>
          <a:stretch/>
        </p:blipFill>
        <p:spPr>
          <a:xfrm>
            <a:off x="1241625" y="1053583"/>
            <a:ext cx="292649" cy="310349"/>
          </a:xfrm>
          <a:prstGeom prst="rect">
            <a:avLst/>
          </a:prstGeom>
          <a:noFill/>
          <a:ln>
            <a:noFill/>
          </a:ln>
        </p:spPr>
      </p:pic>
      <p:pic>
        <p:nvPicPr>
          <p:cNvPr id="566" name="Google Shape;566;h11a342068904e6d2_0_437" title="dengue generalitiesv2.png"/>
          <p:cNvPicPr preferRelativeResize="0"/>
          <p:nvPr/>
        </p:nvPicPr>
        <p:blipFill rotWithShape="1">
          <a:blip r:embed="rId4">
            <a:alphaModFix/>
          </a:blip>
          <a:srcRect b="18852" l="14151" r="73609" t="63172"/>
          <a:stretch/>
        </p:blipFill>
        <p:spPr>
          <a:xfrm rot="865019">
            <a:off x="2444375" y="920233"/>
            <a:ext cx="690297" cy="711903"/>
          </a:xfrm>
          <a:prstGeom prst="rect">
            <a:avLst/>
          </a:prstGeom>
          <a:noFill/>
          <a:ln>
            <a:noFill/>
          </a:ln>
        </p:spPr>
      </p:pic>
      <p:cxnSp>
        <p:nvCxnSpPr>
          <p:cNvPr id="567" name="Google Shape;567;h11a342068904e6d2_0_437"/>
          <p:cNvCxnSpPr>
            <a:stCxn id="565" idx="1"/>
            <a:endCxn id="564" idx="0"/>
          </p:cNvCxnSpPr>
          <p:nvPr/>
        </p:nvCxnSpPr>
        <p:spPr>
          <a:xfrm flipH="1">
            <a:off x="931425" y="1208758"/>
            <a:ext cx="310200" cy="238500"/>
          </a:xfrm>
          <a:prstGeom prst="curvedConnector2">
            <a:avLst/>
          </a:prstGeom>
          <a:noFill/>
          <a:ln cap="flat" cmpd="sng" w="9525">
            <a:solidFill>
              <a:schemeClr val="dk2"/>
            </a:solidFill>
            <a:prstDash val="solid"/>
            <a:round/>
            <a:headEnd len="med" w="med" type="none"/>
            <a:tailEnd len="med" w="med" type="stealth"/>
          </a:ln>
        </p:spPr>
      </p:cxnSp>
      <p:cxnSp>
        <p:nvCxnSpPr>
          <p:cNvPr id="568" name="Google Shape;568;h11a342068904e6d2_0_437"/>
          <p:cNvCxnSpPr/>
          <p:nvPr/>
        </p:nvCxnSpPr>
        <p:spPr>
          <a:xfrm flipH="1" rot="10800000">
            <a:off x="1376350" y="1290208"/>
            <a:ext cx="933300" cy="569400"/>
          </a:xfrm>
          <a:prstGeom prst="straightConnector1">
            <a:avLst/>
          </a:prstGeom>
          <a:noFill/>
          <a:ln cap="flat" cmpd="sng" w="9525">
            <a:solidFill>
              <a:schemeClr val="dk2"/>
            </a:solidFill>
            <a:prstDash val="solid"/>
            <a:round/>
            <a:headEnd len="med" w="med" type="none"/>
            <a:tailEnd len="med" w="med" type="stealth"/>
          </a:ln>
        </p:spPr>
      </p:cxnSp>
      <p:pic>
        <p:nvPicPr>
          <p:cNvPr id="569" name="Google Shape;569;h11a342068904e6d2_0_437" title="dengue generalitiesv2.png"/>
          <p:cNvPicPr preferRelativeResize="0"/>
          <p:nvPr/>
        </p:nvPicPr>
        <p:blipFill rotWithShape="1">
          <a:blip r:embed="rId4">
            <a:alphaModFix/>
          </a:blip>
          <a:srcRect b="20955" l="9139" r="85672" t="71209"/>
          <a:stretch/>
        </p:blipFill>
        <p:spPr>
          <a:xfrm>
            <a:off x="2557225" y="1967983"/>
            <a:ext cx="292649" cy="310349"/>
          </a:xfrm>
          <a:prstGeom prst="rect">
            <a:avLst/>
          </a:prstGeom>
          <a:noFill/>
          <a:ln>
            <a:noFill/>
          </a:ln>
        </p:spPr>
      </p:pic>
      <p:cxnSp>
        <p:nvCxnSpPr>
          <p:cNvPr id="570" name="Google Shape;570;h11a342068904e6d2_0_437"/>
          <p:cNvCxnSpPr/>
          <p:nvPr/>
        </p:nvCxnSpPr>
        <p:spPr>
          <a:xfrm>
            <a:off x="1384175" y="1859683"/>
            <a:ext cx="953700" cy="294900"/>
          </a:xfrm>
          <a:prstGeom prst="straightConnector1">
            <a:avLst/>
          </a:prstGeom>
          <a:noFill/>
          <a:ln cap="flat" cmpd="sng" w="9525">
            <a:solidFill>
              <a:schemeClr val="dk2"/>
            </a:solidFill>
            <a:prstDash val="solid"/>
            <a:round/>
            <a:headEnd len="med" w="med" type="none"/>
            <a:tailEnd len="med" w="med" type="stealth"/>
          </a:ln>
        </p:spPr>
      </p:cxnSp>
      <p:sp>
        <p:nvSpPr>
          <p:cNvPr id="571" name="Google Shape;571;h11a342068904e6d2_0_437"/>
          <p:cNvSpPr/>
          <p:nvPr/>
        </p:nvSpPr>
        <p:spPr>
          <a:xfrm>
            <a:off x="3142375" y="1105396"/>
            <a:ext cx="279000" cy="208200"/>
          </a:xfrm>
          <a:prstGeom prst="rightArrow">
            <a:avLst>
              <a:gd fmla="val 50000" name="adj1"/>
              <a:gd fmla="val 50000" name="adj2"/>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2" name="Google Shape;572;h11a342068904e6d2_0_437"/>
          <p:cNvSpPr/>
          <p:nvPr/>
        </p:nvSpPr>
        <p:spPr>
          <a:xfrm>
            <a:off x="3142375" y="1976758"/>
            <a:ext cx="279000" cy="208200"/>
          </a:xfrm>
          <a:prstGeom prst="rightArrow">
            <a:avLst>
              <a:gd fmla="val 50000" name="adj1"/>
              <a:gd fmla="val 50000" name="adj2"/>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3" name="Google Shape;573;h11a342068904e6d2_0_437"/>
          <p:cNvSpPr txBox="1"/>
          <p:nvPr/>
        </p:nvSpPr>
        <p:spPr>
          <a:xfrm>
            <a:off x="3421375" y="997704"/>
            <a:ext cx="3563100" cy="4899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1600">
                <a:solidFill>
                  <a:schemeClr val="dk2"/>
                </a:solidFill>
                <a:latin typeface="Helvetica Neue Light"/>
                <a:ea typeface="Helvetica Neue Light"/>
                <a:cs typeface="Helvetica Neue Light"/>
                <a:sym typeface="Helvetica Neue Light"/>
              </a:rPr>
              <a:t>Temporary </a:t>
            </a:r>
            <a:r>
              <a:rPr i="1" lang="en-US" sz="1600">
                <a:solidFill>
                  <a:schemeClr val="dk2"/>
                </a:solidFill>
                <a:latin typeface="Helvetica Neue Light"/>
                <a:ea typeface="Helvetica Neue Light"/>
                <a:cs typeface="Helvetica Neue Light"/>
                <a:sym typeface="Helvetica Neue Light"/>
              </a:rPr>
              <a:t>heterotypic</a:t>
            </a:r>
            <a:r>
              <a:rPr lang="en-US" sz="1600">
                <a:solidFill>
                  <a:schemeClr val="dk2"/>
                </a:solidFill>
                <a:latin typeface="Helvetica Neue Light"/>
                <a:ea typeface="Helvetica Neue Light"/>
                <a:cs typeface="Helvetica Neue Light"/>
                <a:sym typeface="Helvetica Neue Light"/>
              </a:rPr>
              <a:t> immunity</a:t>
            </a:r>
            <a:endParaRPr sz="1600">
              <a:solidFill>
                <a:schemeClr val="dk2"/>
              </a:solidFill>
              <a:latin typeface="Helvetica Neue Light"/>
              <a:ea typeface="Helvetica Neue Light"/>
              <a:cs typeface="Helvetica Neue Light"/>
              <a:sym typeface="Helvetica Neue Light"/>
            </a:endParaRPr>
          </a:p>
          <a:p>
            <a:pPr indent="0" lvl="0" marL="0" rtl="0" algn="l">
              <a:lnSpc>
                <a:spcPct val="150000"/>
              </a:lnSpc>
              <a:spcBef>
                <a:spcPts val="1000"/>
              </a:spcBef>
              <a:spcAft>
                <a:spcPts val="0"/>
              </a:spcAft>
              <a:buNone/>
            </a:pPr>
            <a:r>
              <a:t/>
            </a:r>
            <a:endParaRPr sz="1600">
              <a:solidFill>
                <a:schemeClr val="dk2"/>
              </a:solidFill>
              <a:latin typeface="Helvetica Neue Light"/>
              <a:ea typeface="Helvetica Neue Light"/>
              <a:cs typeface="Helvetica Neue Light"/>
              <a:sym typeface="Helvetica Neue Light"/>
            </a:endParaRPr>
          </a:p>
          <a:p>
            <a:pPr indent="0" lvl="0" marL="0" rtl="0" algn="l">
              <a:lnSpc>
                <a:spcPct val="150000"/>
              </a:lnSpc>
              <a:spcBef>
                <a:spcPts val="0"/>
              </a:spcBef>
              <a:spcAft>
                <a:spcPts val="0"/>
              </a:spcAft>
              <a:buNone/>
            </a:pPr>
            <a:r>
              <a:rPr lang="en-US" sz="1600">
                <a:solidFill>
                  <a:schemeClr val="dk2"/>
                </a:solidFill>
                <a:latin typeface="Helvetica Neue Light"/>
                <a:ea typeface="Helvetica Neue Light"/>
                <a:cs typeface="Helvetica Neue Light"/>
                <a:sym typeface="Helvetica Neue Light"/>
              </a:rPr>
              <a:t>Lifelong </a:t>
            </a:r>
            <a:r>
              <a:rPr i="1" lang="en-US" sz="1600">
                <a:solidFill>
                  <a:schemeClr val="dk2"/>
                </a:solidFill>
                <a:latin typeface="Helvetica Neue Light"/>
                <a:ea typeface="Helvetica Neue Light"/>
                <a:cs typeface="Helvetica Neue Light"/>
                <a:sym typeface="Helvetica Neue Light"/>
              </a:rPr>
              <a:t>homotypic</a:t>
            </a:r>
            <a:r>
              <a:rPr lang="en-US" sz="1600">
                <a:solidFill>
                  <a:schemeClr val="dk2"/>
                </a:solidFill>
                <a:latin typeface="Helvetica Neue Light"/>
                <a:ea typeface="Helvetica Neue Light"/>
                <a:cs typeface="Helvetica Neue Light"/>
                <a:sym typeface="Helvetica Neue Light"/>
              </a:rPr>
              <a:t> immunity</a:t>
            </a:r>
            <a:endParaRPr sz="1600">
              <a:solidFill>
                <a:schemeClr val="dk2"/>
              </a:solidFill>
              <a:latin typeface="Helvetica Neue Light"/>
              <a:ea typeface="Helvetica Neue Light"/>
              <a:cs typeface="Helvetica Neue Light"/>
              <a:sym typeface="Helvetica Neue Light"/>
            </a:endParaRPr>
          </a:p>
        </p:txBody>
      </p:sp>
      <p:sp>
        <p:nvSpPr>
          <p:cNvPr id="574" name="Google Shape;574;h11a342068904e6d2_0_437"/>
          <p:cNvSpPr txBox="1"/>
          <p:nvPr/>
        </p:nvSpPr>
        <p:spPr>
          <a:xfrm>
            <a:off x="219075" y="1872858"/>
            <a:ext cx="1456500" cy="629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US" sz="1600">
                <a:solidFill>
                  <a:schemeClr val="dk2"/>
                </a:solidFill>
                <a:latin typeface="Helvetica Neue Light"/>
                <a:ea typeface="Helvetica Neue Light"/>
                <a:cs typeface="Helvetica Neue Light"/>
                <a:sym typeface="Helvetica Neue Light"/>
              </a:rPr>
              <a:t>Initial infection</a:t>
            </a:r>
            <a:endParaRPr sz="1600">
              <a:solidFill>
                <a:schemeClr val="dk2"/>
              </a:solidFill>
              <a:latin typeface="Helvetica Neue Light"/>
              <a:ea typeface="Helvetica Neue Light"/>
              <a:cs typeface="Helvetica Neue Light"/>
              <a:sym typeface="Helvetica Neue Light"/>
            </a:endParaRPr>
          </a:p>
        </p:txBody>
      </p:sp>
      <p:sp>
        <p:nvSpPr>
          <p:cNvPr id="575" name="Google Shape;575;h11a342068904e6d2_0_437"/>
          <p:cNvSpPr txBox="1"/>
          <p:nvPr/>
        </p:nvSpPr>
        <p:spPr>
          <a:xfrm>
            <a:off x="108781" y="653825"/>
            <a:ext cx="16986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600">
                <a:solidFill>
                  <a:schemeClr val="dk1"/>
                </a:solidFill>
                <a:latin typeface="Helvetica Neue"/>
                <a:ea typeface="Helvetica Neue"/>
                <a:cs typeface="Helvetica Neue"/>
                <a:sym typeface="Helvetica Neue"/>
              </a:rPr>
              <a:t>Premise</a:t>
            </a:r>
            <a:endParaRPr b="1" sz="1600">
              <a:solidFill>
                <a:schemeClr val="dk1"/>
              </a:solidFill>
              <a:latin typeface="Helvetica Neue"/>
              <a:ea typeface="Helvetica Neue"/>
              <a:cs typeface="Helvetica Neue"/>
              <a:sym typeface="Helvetica Neue"/>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pic>
        <p:nvPicPr>
          <p:cNvPr id="580" name="Google Shape;580;h11a342068904e6d2_0_455"/>
          <p:cNvPicPr preferRelativeResize="0"/>
          <p:nvPr/>
        </p:nvPicPr>
        <p:blipFill>
          <a:blip r:embed="rId3">
            <a:alphaModFix/>
          </a:blip>
          <a:stretch>
            <a:fillRect/>
          </a:stretch>
        </p:blipFill>
        <p:spPr>
          <a:xfrm>
            <a:off x="803975" y="917152"/>
            <a:ext cx="6827351" cy="3466251"/>
          </a:xfrm>
          <a:prstGeom prst="rect">
            <a:avLst/>
          </a:prstGeom>
          <a:noFill/>
          <a:ln>
            <a:noFill/>
          </a:ln>
        </p:spPr>
      </p:pic>
      <p:sp>
        <p:nvSpPr>
          <p:cNvPr id="581" name="Google Shape;581;h11a342068904e6d2_0_455"/>
          <p:cNvSpPr txBox="1"/>
          <p:nvPr/>
        </p:nvSpPr>
        <p:spPr>
          <a:xfrm>
            <a:off x="795350" y="4438550"/>
            <a:ext cx="7799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rgbClr val="000000"/>
                </a:solidFill>
                <a:latin typeface="Helvetica Neue Light"/>
                <a:ea typeface="Helvetica Neue Light"/>
                <a:cs typeface="Helvetica Neue Light"/>
                <a:sym typeface="Helvetica Neue Light"/>
              </a:rPr>
              <a:t>Pairwise antigenic distances (</a:t>
            </a:r>
            <a:r>
              <a:rPr lang="en-US" sz="1100" u="sng">
                <a:solidFill>
                  <a:srgbClr val="0097A7"/>
                </a:solidFill>
                <a:latin typeface="Helvetica Neue Light"/>
                <a:ea typeface="Helvetica Neue Light"/>
                <a:cs typeface="Helvetica Neue Light"/>
                <a:sym typeface="Helvetica Neue Light"/>
                <a:hlinkClick r:id="rId4">
                  <a:extLst>
                    <a:ext uri="{A12FA001-AC4F-418D-AE19-62706E023703}">
                      <ahyp:hlinkClr val="tx"/>
                    </a:ext>
                  </a:extLst>
                </a:hlinkClick>
              </a:rPr>
              <a:t>Katzelnick et al. (2015)</a:t>
            </a:r>
            <a:r>
              <a:rPr lang="en-US" sz="1100">
                <a:solidFill>
                  <a:srgbClr val="000000"/>
                </a:solidFill>
                <a:latin typeface="Helvetica Neue Light"/>
                <a:ea typeface="Helvetica Neue Light"/>
                <a:cs typeface="Helvetica Neue Light"/>
                <a:sym typeface="Helvetica Neue Light"/>
              </a:rPr>
              <a:t>) based on PRNT50. Aggregated titer values are standardized such that the distance between autologous virus-serum pairs is 0, each titer unit corresponds to a two-fold change in PRNT50.</a:t>
            </a:r>
            <a:endParaRPr>
              <a:latin typeface="Helvetica Neue Light"/>
              <a:ea typeface="Helvetica Neue Light"/>
              <a:cs typeface="Helvetica Neue Light"/>
              <a:sym typeface="Helvetica Neue Light"/>
            </a:endParaRPr>
          </a:p>
        </p:txBody>
      </p:sp>
      <p:sp>
        <p:nvSpPr>
          <p:cNvPr id="582" name="Google Shape;582;h11a342068904e6d2_0_455"/>
          <p:cNvSpPr txBox="1"/>
          <p:nvPr/>
        </p:nvSpPr>
        <p:spPr>
          <a:xfrm>
            <a:off x="263903" y="232125"/>
            <a:ext cx="7490100" cy="55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072863"/>
                </a:solidFill>
                <a:latin typeface="Helvetica Neue Light"/>
                <a:ea typeface="Helvetica Neue Light"/>
                <a:cs typeface="Helvetica Neue Light"/>
                <a:sym typeface="Helvetica Neue Light"/>
              </a:rPr>
              <a:t>Within serotype antigenic diversity of dengue virus ?</a:t>
            </a:r>
            <a:endParaRPr sz="2000">
              <a:solidFill>
                <a:srgbClr val="072863"/>
              </a:solidFill>
              <a:latin typeface="Helvetica Neue Light"/>
              <a:ea typeface="Helvetica Neue Light"/>
              <a:cs typeface="Helvetica Neue Light"/>
              <a:sym typeface="Helvetica Neue 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h11a342068904e6d2_0_4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588" name="Google Shape;588;h11a342068904e6d2_0_461"/>
          <p:cNvSpPr txBox="1"/>
          <p:nvPr/>
        </p:nvSpPr>
        <p:spPr>
          <a:xfrm>
            <a:off x="645775" y="2610108"/>
            <a:ext cx="7482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600">
                <a:solidFill>
                  <a:schemeClr val="dk1"/>
                </a:solidFill>
                <a:latin typeface="Helvetica Neue"/>
                <a:ea typeface="Helvetica Neue"/>
                <a:cs typeface="Helvetica Neue"/>
                <a:sym typeface="Helvetica Neue"/>
              </a:rPr>
              <a:t>But</a:t>
            </a:r>
            <a:endParaRPr b="1" sz="1600">
              <a:solidFill>
                <a:schemeClr val="dk1"/>
              </a:solidFill>
              <a:latin typeface="Helvetica Neue"/>
              <a:ea typeface="Helvetica Neue"/>
              <a:cs typeface="Helvetica Neue"/>
              <a:sym typeface="Helvetica Neue"/>
            </a:endParaRPr>
          </a:p>
        </p:txBody>
      </p:sp>
      <p:sp>
        <p:nvSpPr>
          <p:cNvPr id="589" name="Google Shape;589;h11a342068904e6d2_0_461"/>
          <p:cNvSpPr txBox="1"/>
          <p:nvPr/>
        </p:nvSpPr>
        <p:spPr>
          <a:xfrm>
            <a:off x="800100" y="2952233"/>
            <a:ext cx="7229400" cy="10191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chemeClr val="dk2"/>
              </a:buClr>
              <a:buSzPts val="1600"/>
              <a:buFont typeface="Helvetica Neue Light"/>
              <a:buChar char="➢"/>
            </a:pPr>
            <a:r>
              <a:rPr lang="en-US" sz="1600">
                <a:solidFill>
                  <a:schemeClr val="dk2"/>
                </a:solidFill>
                <a:latin typeface="Helvetica Neue Light"/>
                <a:ea typeface="Helvetica Neue Light"/>
                <a:cs typeface="Helvetica Neue Light"/>
                <a:sym typeface="Helvetica Neue Light"/>
              </a:rPr>
              <a:t>Homotypic re-infections in patients</a:t>
            </a:r>
            <a:endParaRPr sz="1600">
              <a:solidFill>
                <a:schemeClr val="dk2"/>
              </a:solidFill>
              <a:latin typeface="Helvetica Neue Light"/>
              <a:ea typeface="Helvetica Neue Light"/>
              <a:cs typeface="Helvetica Neue Light"/>
              <a:sym typeface="Helvetica Neue Light"/>
            </a:endParaRPr>
          </a:p>
          <a:p>
            <a:pPr indent="-330200" lvl="0" marL="457200" rtl="0" algn="l">
              <a:lnSpc>
                <a:spcPct val="120000"/>
              </a:lnSpc>
              <a:spcBef>
                <a:spcPts val="0"/>
              </a:spcBef>
              <a:spcAft>
                <a:spcPts val="0"/>
              </a:spcAft>
              <a:buClr>
                <a:schemeClr val="dk2"/>
              </a:buClr>
              <a:buSzPts val="1600"/>
              <a:buFont typeface="Helvetica Neue Light"/>
              <a:buChar char="➢"/>
            </a:pPr>
            <a:r>
              <a:rPr lang="en-US" sz="1600">
                <a:solidFill>
                  <a:schemeClr val="dk2"/>
                </a:solidFill>
                <a:latin typeface="Helvetica Neue Light"/>
                <a:ea typeface="Helvetica Neue Light"/>
                <a:cs typeface="Helvetica Neue Light"/>
                <a:sym typeface="Helvetica Neue Light"/>
              </a:rPr>
              <a:t>Re-circulation of homotypic DENV lineages in a given population </a:t>
            </a:r>
            <a:endParaRPr sz="1600">
              <a:solidFill>
                <a:schemeClr val="dk2"/>
              </a:solidFill>
              <a:latin typeface="Helvetica Neue Light"/>
              <a:ea typeface="Helvetica Neue Light"/>
              <a:cs typeface="Helvetica Neue Light"/>
              <a:sym typeface="Helvetica Neue Light"/>
            </a:endParaRPr>
          </a:p>
          <a:p>
            <a:pPr indent="-330200" lvl="0" marL="457200" rtl="0" algn="l">
              <a:lnSpc>
                <a:spcPct val="120000"/>
              </a:lnSpc>
              <a:spcBef>
                <a:spcPts val="0"/>
              </a:spcBef>
              <a:spcAft>
                <a:spcPts val="0"/>
              </a:spcAft>
              <a:buClr>
                <a:schemeClr val="dk2"/>
              </a:buClr>
              <a:buSzPts val="1600"/>
              <a:buFont typeface="Helvetica Neue Light"/>
              <a:buChar char="➢"/>
            </a:pPr>
            <a:r>
              <a:rPr lang="en-US" sz="1600">
                <a:solidFill>
                  <a:schemeClr val="dk2"/>
                </a:solidFill>
                <a:latin typeface="Helvetica Neue Light"/>
                <a:ea typeface="Helvetica Neue Light"/>
                <a:cs typeface="Helvetica Neue Light"/>
                <a:sym typeface="Helvetica Neue Light"/>
              </a:rPr>
              <a:t>Variations in vaccinal immunity within a given serotype</a:t>
            </a:r>
            <a:endParaRPr sz="1600">
              <a:solidFill>
                <a:schemeClr val="dk2"/>
              </a:solidFill>
              <a:latin typeface="Helvetica Neue Light"/>
              <a:ea typeface="Helvetica Neue Light"/>
              <a:cs typeface="Helvetica Neue Light"/>
              <a:sym typeface="Helvetica Neue Light"/>
            </a:endParaRPr>
          </a:p>
        </p:txBody>
      </p:sp>
      <p:sp>
        <p:nvSpPr>
          <p:cNvPr id="590" name="Google Shape;590;h11a342068904e6d2_0_461"/>
          <p:cNvSpPr/>
          <p:nvPr/>
        </p:nvSpPr>
        <p:spPr>
          <a:xfrm>
            <a:off x="0" y="0"/>
            <a:ext cx="9144000" cy="629400"/>
          </a:xfrm>
          <a:prstGeom prst="rect">
            <a:avLst/>
          </a:prstGeom>
          <a:solidFill>
            <a:srgbClr val="1C4587"/>
          </a:solidFill>
          <a:ln cap="flat" cmpd="sng" w="952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1" name="Google Shape;591;h11a342068904e6d2_0_461"/>
          <p:cNvSpPr txBox="1"/>
          <p:nvPr/>
        </p:nvSpPr>
        <p:spPr>
          <a:xfrm>
            <a:off x="219075" y="63350"/>
            <a:ext cx="8763000" cy="48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chemeClr val="lt1"/>
                </a:solidFill>
                <a:latin typeface="Helvetica Neue"/>
                <a:ea typeface="Helvetica Neue"/>
                <a:cs typeface="Helvetica Neue"/>
                <a:sym typeface="Helvetica Neue"/>
              </a:rPr>
              <a:t>Context</a:t>
            </a:r>
            <a:endParaRPr b="1" sz="2200">
              <a:solidFill>
                <a:schemeClr val="lt1"/>
              </a:solidFill>
              <a:latin typeface="Helvetica Neue"/>
              <a:ea typeface="Helvetica Neue"/>
              <a:cs typeface="Helvetica Neue"/>
              <a:sym typeface="Helvetica Neue"/>
            </a:endParaRPr>
          </a:p>
        </p:txBody>
      </p:sp>
      <p:pic>
        <p:nvPicPr>
          <p:cNvPr id="592" name="Google Shape;592;h11a342068904e6d2_0_461"/>
          <p:cNvPicPr preferRelativeResize="0"/>
          <p:nvPr/>
        </p:nvPicPr>
        <p:blipFill rotWithShape="1">
          <a:blip r:embed="rId3">
            <a:alphaModFix/>
          </a:blip>
          <a:srcRect b="54804" l="31327" r="33287" t="0"/>
          <a:stretch/>
        </p:blipFill>
        <p:spPr>
          <a:xfrm>
            <a:off x="623188" y="1447258"/>
            <a:ext cx="616181" cy="477000"/>
          </a:xfrm>
          <a:prstGeom prst="rect">
            <a:avLst/>
          </a:prstGeom>
          <a:noFill/>
          <a:ln>
            <a:noFill/>
          </a:ln>
        </p:spPr>
      </p:pic>
      <p:pic>
        <p:nvPicPr>
          <p:cNvPr id="593" name="Google Shape;593;h11a342068904e6d2_0_461" title="dengue generalitiesv2.png"/>
          <p:cNvPicPr preferRelativeResize="0"/>
          <p:nvPr/>
        </p:nvPicPr>
        <p:blipFill rotWithShape="1">
          <a:blip r:embed="rId4">
            <a:alphaModFix/>
          </a:blip>
          <a:srcRect b="20955" l="9139" r="85672" t="71209"/>
          <a:stretch/>
        </p:blipFill>
        <p:spPr>
          <a:xfrm>
            <a:off x="1241625" y="1053583"/>
            <a:ext cx="292649" cy="310349"/>
          </a:xfrm>
          <a:prstGeom prst="rect">
            <a:avLst/>
          </a:prstGeom>
          <a:noFill/>
          <a:ln>
            <a:noFill/>
          </a:ln>
        </p:spPr>
      </p:pic>
      <p:pic>
        <p:nvPicPr>
          <p:cNvPr id="594" name="Google Shape;594;h11a342068904e6d2_0_461" title="dengue generalitiesv2.png"/>
          <p:cNvPicPr preferRelativeResize="0"/>
          <p:nvPr/>
        </p:nvPicPr>
        <p:blipFill rotWithShape="1">
          <a:blip r:embed="rId4">
            <a:alphaModFix/>
          </a:blip>
          <a:srcRect b="18852" l="14151" r="73609" t="63172"/>
          <a:stretch/>
        </p:blipFill>
        <p:spPr>
          <a:xfrm rot="865019">
            <a:off x="2444375" y="920233"/>
            <a:ext cx="690297" cy="711903"/>
          </a:xfrm>
          <a:prstGeom prst="rect">
            <a:avLst/>
          </a:prstGeom>
          <a:noFill/>
          <a:ln>
            <a:noFill/>
          </a:ln>
        </p:spPr>
      </p:pic>
      <p:cxnSp>
        <p:nvCxnSpPr>
          <p:cNvPr id="595" name="Google Shape;595;h11a342068904e6d2_0_461"/>
          <p:cNvCxnSpPr>
            <a:stCxn id="593" idx="1"/>
            <a:endCxn id="592" idx="0"/>
          </p:cNvCxnSpPr>
          <p:nvPr/>
        </p:nvCxnSpPr>
        <p:spPr>
          <a:xfrm flipH="1">
            <a:off x="931425" y="1208758"/>
            <a:ext cx="310200" cy="238500"/>
          </a:xfrm>
          <a:prstGeom prst="curvedConnector2">
            <a:avLst/>
          </a:prstGeom>
          <a:noFill/>
          <a:ln cap="flat" cmpd="sng" w="9525">
            <a:solidFill>
              <a:schemeClr val="dk2"/>
            </a:solidFill>
            <a:prstDash val="solid"/>
            <a:round/>
            <a:headEnd len="med" w="med" type="none"/>
            <a:tailEnd len="med" w="med" type="stealth"/>
          </a:ln>
        </p:spPr>
      </p:cxnSp>
      <p:cxnSp>
        <p:nvCxnSpPr>
          <p:cNvPr id="596" name="Google Shape;596;h11a342068904e6d2_0_461"/>
          <p:cNvCxnSpPr/>
          <p:nvPr/>
        </p:nvCxnSpPr>
        <p:spPr>
          <a:xfrm flipH="1" rot="10800000">
            <a:off x="1376350" y="1290208"/>
            <a:ext cx="933300" cy="569400"/>
          </a:xfrm>
          <a:prstGeom prst="straightConnector1">
            <a:avLst/>
          </a:prstGeom>
          <a:noFill/>
          <a:ln cap="flat" cmpd="sng" w="9525">
            <a:solidFill>
              <a:schemeClr val="dk2"/>
            </a:solidFill>
            <a:prstDash val="solid"/>
            <a:round/>
            <a:headEnd len="med" w="med" type="none"/>
            <a:tailEnd len="med" w="med" type="stealth"/>
          </a:ln>
        </p:spPr>
      </p:cxnSp>
      <p:pic>
        <p:nvPicPr>
          <p:cNvPr id="597" name="Google Shape;597;h11a342068904e6d2_0_461" title="dengue generalitiesv2.png"/>
          <p:cNvPicPr preferRelativeResize="0"/>
          <p:nvPr/>
        </p:nvPicPr>
        <p:blipFill rotWithShape="1">
          <a:blip r:embed="rId4">
            <a:alphaModFix/>
          </a:blip>
          <a:srcRect b="20955" l="9139" r="85672" t="71209"/>
          <a:stretch/>
        </p:blipFill>
        <p:spPr>
          <a:xfrm>
            <a:off x="2557225" y="1967983"/>
            <a:ext cx="292649" cy="310349"/>
          </a:xfrm>
          <a:prstGeom prst="rect">
            <a:avLst/>
          </a:prstGeom>
          <a:noFill/>
          <a:ln>
            <a:noFill/>
          </a:ln>
        </p:spPr>
      </p:pic>
      <p:cxnSp>
        <p:nvCxnSpPr>
          <p:cNvPr id="598" name="Google Shape;598;h11a342068904e6d2_0_461"/>
          <p:cNvCxnSpPr/>
          <p:nvPr/>
        </p:nvCxnSpPr>
        <p:spPr>
          <a:xfrm>
            <a:off x="1384175" y="1859683"/>
            <a:ext cx="953700" cy="294900"/>
          </a:xfrm>
          <a:prstGeom prst="straightConnector1">
            <a:avLst/>
          </a:prstGeom>
          <a:noFill/>
          <a:ln cap="flat" cmpd="sng" w="9525">
            <a:solidFill>
              <a:schemeClr val="dk2"/>
            </a:solidFill>
            <a:prstDash val="solid"/>
            <a:round/>
            <a:headEnd len="med" w="med" type="none"/>
            <a:tailEnd len="med" w="med" type="stealth"/>
          </a:ln>
        </p:spPr>
      </p:cxnSp>
      <p:sp>
        <p:nvSpPr>
          <p:cNvPr id="599" name="Google Shape;599;h11a342068904e6d2_0_461"/>
          <p:cNvSpPr/>
          <p:nvPr/>
        </p:nvSpPr>
        <p:spPr>
          <a:xfrm>
            <a:off x="3142375" y="1105396"/>
            <a:ext cx="279000" cy="208200"/>
          </a:xfrm>
          <a:prstGeom prst="rightArrow">
            <a:avLst>
              <a:gd fmla="val 50000" name="adj1"/>
              <a:gd fmla="val 50000" name="adj2"/>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0" name="Google Shape;600;h11a342068904e6d2_0_461"/>
          <p:cNvSpPr/>
          <p:nvPr/>
        </p:nvSpPr>
        <p:spPr>
          <a:xfrm>
            <a:off x="3142375" y="1976758"/>
            <a:ext cx="279000" cy="208200"/>
          </a:xfrm>
          <a:prstGeom prst="rightArrow">
            <a:avLst>
              <a:gd fmla="val 50000" name="adj1"/>
              <a:gd fmla="val 50000" name="adj2"/>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1" name="Google Shape;601;h11a342068904e6d2_0_461"/>
          <p:cNvSpPr txBox="1"/>
          <p:nvPr/>
        </p:nvSpPr>
        <p:spPr>
          <a:xfrm>
            <a:off x="3421375" y="997704"/>
            <a:ext cx="3563100" cy="4899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1600">
                <a:solidFill>
                  <a:schemeClr val="dk2"/>
                </a:solidFill>
                <a:latin typeface="Helvetica Neue Light"/>
                <a:ea typeface="Helvetica Neue Light"/>
                <a:cs typeface="Helvetica Neue Light"/>
                <a:sym typeface="Helvetica Neue Light"/>
              </a:rPr>
              <a:t>Temporary </a:t>
            </a:r>
            <a:r>
              <a:rPr i="1" lang="en-US" sz="1600">
                <a:solidFill>
                  <a:schemeClr val="dk2"/>
                </a:solidFill>
                <a:latin typeface="Helvetica Neue Light"/>
                <a:ea typeface="Helvetica Neue Light"/>
                <a:cs typeface="Helvetica Neue Light"/>
                <a:sym typeface="Helvetica Neue Light"/>
              </a:rPr>
              <a:t>heterotypic</a:t>
            </a:r>
            <a:r>
              <a:rPr lang="en-US" sz="1600">
                <a:solidFill>
                  <a:schemeClr val="dk2"/>
                </a:solidFill>
                <a:latin typeface="Helvetica Neue Light"/>
                <a:ea typeface="Helvetica Neue Light"/>
                <a:cs typeface="Helvetica Neue Light"/>
                <a:sym typeface="Helvetica Neue Light"/>
              </a:rPr>
              <a:t> immunity</a:t>
            </a:r>
            <a:endParaRPr sz="1600">
              <a:solidFill>
                <a:schemeClr val="dk2"/>
              </a:solidFill>
              <a:latin typeface="Helvetica Neue Light"/>
              <a:ea typeface="Helvetica Neue Light"/>
              <a:cs typeface="Helvetica Neue Light"/>
              <a:sym typeface="Helvetica Neue Light"/>
            </a:endParaRPr>
          </a:p>
          <a:p>
            <a:pPr indent="0" lvl="0" marL="0" rtl="0" algn="l">
              <a:lnSpc>
                <a:spcPct val="150000"/>
              </a:lnSpc>
              <a:spcBef>
                <a:spcPts val="1000"/>
              </a:spcBef>
              <a:spcAft>
                <a:spcPts val="0"/>
              </a:spcAft>
              <a:buNone/>
            </a:pPr>
            <a:r>
              <a:t/>
            </a:r>
            <a:endParaRPr sz="1600">
              <a:solidFill>
                <a:schemeClr val="dk2"/>
              </a:solidFill>
              <a:latin typeface="Helvetica Neue Light"/>
              <a:ea typeface="Helvetica Neue Light"/>
              <a:cs typeface="Helvetica Neue Light"/>
              <a:sym typeface="Helvetica Neue Light"/>
            </a:endParaRPr>
          </a:p>
          <a:p>
            <a:pPr indent="0" lvl="0" marL="0" rtl="0" algn="l">
              <a:lnSpc>
                <a:spcPct val="150000"/>
              </a:lnSpc>
              <a:spcBef>
                <a:spcPts val="0"/>
              </a:spcBef>
              <a:spcAft>
                <a:spcPts val="0"/>
              </a:spcAft>
              <a:buNone/>
            </a:pPr>
            <a:r>
              <a:rPr lang="en-US" sz="1600">
                <a:solidFill>
                  <a:schemeClr val="dk2"/>
                </a:solidFill>
                <a:latin typeface="Helvetica Neue Light"/>
                <a:ea typeface="Helvetica Neue Light"/>
                <a:cs typeface="Helvetica Neue Light"/>
                <a:sym typeface="Helvetica Neue Light"/>
              </a:rPr>
              <a:t>Lifelong </a:t>
            </a:r>
            <a:r>
              <a:rPr i="1" lang="en-US" sz="1600">
                <a:solidFill>
                  <a:schemeClr val="dk2"/>
                </a:solidFill>
                <a:latin typeface="Helvetica Neue Light"/>
                <a:ea typeface="Helvetica Neue Light"/>
                <a:cs typeface="Helvetica Neue Light"/>
                <a:sym typeface="Helvetica Neue Light"/>
              </a:rPr>
              <a:t>homotypic</a:t>
            </a:r>
            <a:r>
              <a:rPr lang="en-US" sz="1600">
                <a:solidFill>
                  <a:schemeClr val="dk2"/>
                </a:solidFill>
                <a:latin typeface="Helvetica Neue Light"/>
                <a:ea typeface="Helvetica Neue Light"/>
                <a:cs typeface="Helvetica Neue Light"/>
                <a:sym typeface="Helvetica Neue Light"/>
              </a:rPr>
              <a:t> immunity</a:t>
            </a:r>
            <a:endParaRPr sz="1600">
              <a:solidFill>
                <a:schemeClr val="dk2"/>
              </a:solidFill>
              <a:latin typeface="Helvetica Neue Light"/>
              <a:ea typeface="Helvetica Neue Light"/>
              <a:cs typeface="Helvetica Neue Light"/>
              <a:sym typeface="Helvetica Neue Light"/>
            </a:endParaRPr>
          </a:p>
        </p:txBody>
      </p:sp>
      <p:sp>
        <p:nvSpPr>
          <p:cNvPr id="602" name="Google Shape;602;h11a342068904e6d2_0_461"/>
          <p:cNvSpPr txBox="1"/>
          <p:nvPr/>
        </p:nvSpPr>
        <p:spPr>
          <a:xfrm>
            <a:off x="219075" y="1872858"/>
            <a:ext cx="1456500" cy="629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US" sz="1600">
                <a:solidFill>
                  <a:schemeClr val="dk2"/>
                </a:solidFill>
                <a:latin typeface="Helvetica Neue Light"/>
                <a:ea typeface="Helvetica Neue Light"/>
                <a:cs typeface="Helvetica Neue Light"/>
                <a:sym typeface="Helvetica Neue Light"/>
              </a:rPr>
              <a:t>Initial infection</a:t>
            </a:r>
            <a:endParaRPr sz="1600">
              <a:solidFill>
                <a:schemeClr val="dk2"/>
              </a:solidFill>
              <a:latin typeface="Helvetica Neue Light"/>
              <a:ea typeface="Helvetica Neue Light"/>
              <a:cs typeface="Helvetica Neue Light"/>
              <a:sym typeface="Helvetica Neue Light"/>
            </a:endParaRPr>
          </a:p>
        </p:txBody>
      </p:sp>
      <p:sp>
        <p:nvSpPr>
          <p:cNvPr id="603" name="Google Shape;603;h11a342068904e6d2_0_461"/>
          <p:cNvSpPr txBox="1"/>
          <p:nvPr/>
        </p:nvSpPr>
        <p:spPr>
          <a:xfrm>
            <a:off x="108781" y="653825"/>
            <a:ext cx="16986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600">
                <a:solidFill>
                  <a:schemeClr val="dk1"/>
                </a:solidFill>
                <a:latin typeface="Helvetica Neue"/>
                <a:ea typeface="Helvetica Neue"/>
                <a:cs typeface="Helvetica Neue"/>
                <a:sym typeface="Helvetica Neue"/>
              </a:rPr>
              <a:t>Premise</a:t>
            </a:r>
            <a:endParaRPr b="1" sz="1600">
              <a:solidFill>
                <a:schemeClr val="dk1"/>
              </a:solidFill>
              <a:latin typeface="Helvetica Neue"/>
              <a:ea typeface="Helvetica Neue"/>
              <a:cs typeface="Helvetica Neue"/>
              <a:sym typeface="Helvetica Neue"/>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h11a342068904e6d2_0_4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609" name="Google Shape;609;h11a342068904e6d2_0_481"/>
          <p:cNvSpPr txBox="1"/>
          <p:nvPr/>
        </p:nvSpPr>
        <p:spPr>
          <a:xfrm>
            <a:off x="645775" y="2610108"/>
            <a:ext cx="7482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600">
                <a:solidFill>
                  <a:schemeClr val="dk1"/>
                </a:solidFill>
                <a:latin typeface="Helvetica Neue"/>
                <a:ea typeface="Helvetica Neue"/>
                <a:cs typeface="Helvetica Neue"/>
                <a:sym typeface="Helvetica Neue"/>
              </a:rPr>
              <a:t>But</a:t>
            </a:r>
            <a:endParaRPr b="1" sz="1600">
              <a:solidFill>
                <a:schemeClr val="dk1"/>
              </a:solidFill>
              <a:latin typeface="Helvetica Neue"/>
              <a:ea typeface="Helvetica Neue"/>
              <a:cs typeface="Helvetica Neue"/>
              <a:sym typeface="Helvetica Neue"/>
            </a:endParaRPr>
          </a:p>
        </p:txBody>
      </p:sp>
      <p:sp>
        <p:nvSpPr>
          <p:cNvPr id="610" name="Google Shape;610;h11a342068904e6d2_0_481"/>
          <p:cNvSpPr txBox="1"/>
          <p:nvPr/>
        </p:nvSpPr>
        <p:spPr>
          <a:xfrm>
            <a:off x="800100" y="2952233"/>
            <a:ext cx="7229400" cy="1019100"/>
          </a:xfrm>
          <a:prstGeom prst="rect">
            <a:avLst/>
          </a:prstGeom>
          <a:noFill/>
          <a:ln>
            <a:noFill/>
          </a:ln>
        </p:spPr>
        <p:txBody>
          <a:bodyPr anchorCtr="0" anchor="t" bIns="91425" lIns="91425" spcFirstLastPara="1" rIns="91425" wrap="square" tIns="91425">
            <a:noAutofit/>
          </a:bodyPr>
          <a:lstStyle/>
          <a:p>
            <a:pPr indent="-330200" lvl="0" marL="457200" rtl="0" algn="l">
              <a:lnSpc>
                <a:spcPct val="120000"/>
              </a:lnSpc>
              <a:spcBef>
                <a:spcPts val="0"/>
              </a:spcBef>
              <a:spcAft>
                <a:spcPts val="0"/>
              </a:spcAft>
              <a:buClr>
                <a:schemeClr val="dk2"/>
              </a:buClr>
              <a:buSzPts val="1600"/>
              <a:buFont typeface="Helvetica Neue Light"/>
              <a:buChar char="➢"/>
            </a:pPr>
            <a:r>
              <a:rPr lang="en-US" sz="1600">
                <a:solidFill>
                  <a:schemeClr val="dk2"/>
                </a:solidFill>
                <a:latin typeface="Helvetica Neue Light"/>
                <a:ea typeface="Helvetica Neue Light"/>
                <a:cs typeface="Helvetica Neue Light"/>
                <a:sym typeface="Helvetica Neue Light"/>
              </a:rPr>
              <a:t>Homotypic re-infections in patients</a:t>
            </a:r>
            <a:endParaRPr sz="1600">
              <a:solidFill>
                <a:schemeClr val="dk2"/>
              </a:solidFill>
              <a:latin typeface="Helvetica Neue Light"/>
              <a:ea typeface="Helvetica Neue Light"/>
              <a:cs typeface="Helvetica Neue Light"/>
              <a:sym typeface="Helvetica Neue Light"/>
            </a:endParaRPr>
          </a:p>
          <a:p>
            <a:pPr indent="-330200" lvl="0" marL="457200" rtl="0" algn="l">
              <a:lnSpc>
                <a:spcPct val="120000"/>
              </a:lnSpc>
              <a:spcBef>
                <a:spcPts val="0"/>
              </a:spcBef>
              <a:spcAft>
                <a:spcPts val="0"/>
              </a:spcAft>
              <a:buClr>
                <a:schemeClr val="dk2"/>
              </a:buClr>
              <a:buSzPts val="1600"/>
              <a:buFont typeface="Helvetica Neue Light"/>
              <a:buChar char="➢"/>
            </a:pPr>
            <a:r>
              <a:rPr lang="en-US" sz="1600">
                <a:solidFill>
                  <a:schemeClr val="dk2"/>
                </a:solidFill>
                <a:latin typeface="Helvetica Neue Light"/>
                <a:ea typeface="Helvetica Neue Light"/>
                <a:cs typeface="Helvetica Neue Light"/>
                <a:sym typeface="Helvetica Neue Light"/>
              </a:rPr>
              <a:t>Re-circulation of homotypic DENV lineages in a given population </a:t>
            </a:r>
            <a:endParaRPr sz="1600">
              <a:solidFill>
                <a:schemeClr val="dk2"/>
              </a:solidFill>
              <a:latin typeface="Helvetica Neue Light"/>
              <a:ea typeface="Helvetica Neue Light"/>
              <a:cs typeface="Helvetica Neue Light"/>
              <a:sym typeface="Helvetica Neue Light"/>
            </a:endParaRPr>
          </a:p>
          <a:p>
            <a:pPr indent="-330200" lvl="0" marL="457200" rtl="0" algn="l">
              <a:lnSpc>
                <a:spcPct val="120000"/>
              </a:lnSpc>
              <a:spcBef>
                <a:spcPts val="0"/>
              </a:spcBef>
              <a:spcAft>
                <a:spcPts val="0"/>
              </a:spcAft>
              <a:buClr>
                <a:schemeClr val="dk2"/>
              </a:buClr>
              <a:buSzPts val="1600"/>
              <a:buFont typeface="Helvetica Neue Light"/>
              <a:buChar char="➢"/>
            </a:pPr>
            <a:r>
              <a:rPr lang="en-US" sz="1600">
                <a:solidFill>
                  <a:schemeClr val="dk2"/>
                </a:solidFill>
                <a:latin typeface="Helvetica Neue Light"/>
                <a:ea typeface="Helvetica Neue Light"/>
                <a:cs typeface="Helvetica Neue Light"/>
                <a:sym typeface="Helvetica Neue Light"/>
              </a:rPr>
              <a:t>Variations in vaccinal immunity within a given serotype</a:t>
            </a:r>
            <a:endParaRPr sz="1600">
              <a:solidFill>
                <a:schemeClr val="dk2"/>
              </a:solidFill>
              <a:latin typeface="Helvetica Neue Light"/>
              <a:ea typeface="Helvetica Neue Light"/>
              <a:cs typeface="Helvetica Neue Light"/>
              <a:sym typeface="Helvetica Neue Light"/>
            </a:endParaRPr>
          </a:p>
        </p:txBody>
      </p:sp>
      <p:sp>
        <p:nvSpPr>
          <p:cNvPr id="611" name="Google Shape;611;h11a342068904e6d2_0_481"/>
          <p:cNvSpPr/>
          <p:nvPr/>
        </p:nvSpPr>
        <p:spPr>
          <a:xfrm>
            <a:off x="0" y="0"/>
            <a:ext cx="9144000" cy="629400"/>
          </a:xfrm>
          <a:prstGeom prst="rect">
            <a:avLst/>
          </a:prstGeom>
          <a:solidFill>
            <a:srgbClr val="1C4587"/>
          </a:solidFill>
          <a:ln cap="flat" cmpd="sng" w="952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2" name="Google Shape;612;h11a342068904e6d2_0_481"/>
          <p:cNvSpPr txBox="1"/>
          <p:nvPr/>
        </p:nvSpPr>
        <p:spPr>
          <a:xfrm>
            <a:off x="219075" y="63350"/>
            <a:ext cx="8763000" cy="48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chemeClr val="lt1"/>
                </a:solidFill>
                <a:latin typeface="Helvetica Neue"/>
                <a:ea typeface="Helvetica Neue"/>
                <a:cs typeface="Helvetica Neue"/>
                <a:sym typeface="Helvetica Neue"/>
              </a:rPr>
              <a:t>Hypothesis</a:t>
            </a:r>
            <a:endParaRPr b="1" sz="2200">
              <a:solidFill>
                <a:schemeClr val="lt1"/>
              </a:solidFill>
              <a:latin typeface="Helvetica Neue"/>
              <a:ea typeface="Helvetica Neue"/>
              <a:cs typeface="Helvetica Neue"/>
              <a:sym typeface="Helvetica Neue"/>
            </a:endParaRPr>
          </a:p>
        </p:txBody>
      </p:sp>
      <p:pic>
        <p:nvPicPr>
          <p:cNvPr id="613" name="Google Shape;613;h11a342068904e6d2_0_481"/>
          <p:cNvPicPr preferRelativeResize="0"/>
          <p:nvPr/>
        </p:nvPicPr>
        <p:blipFill rotWithShape="1">
          <a:blip r:embed="rId3">
            <a:alphaModFix/>
          </a:blip>
          <a:srcRect b="54804" l="31327" r="33287" t="0"/>
          <a:stretch/>
        </p:blipFill>
        <p:spPr>
          <a:xfrm>
            <a:off x="623188" y="1447258"/>
            <a:ext cx="616181" cy="477000"/>
          </a:xfrm>
          <a:prstGeom prst="rect">
            <a:avLst/>
          </a:prstGeom>
          <a:noFill/>
          <a:ln>
            <a:noFill/>
          </a:ln>
        </p:spPr>
      </p:pic>
      <p:pic>
        <p:nvPicPr>
          <p:cNvPr id="614" name="Google Shape;614;h11a342068904e6d2_0_481" title="dengue generalitiesv2.png"/>
          <p:cNvPicPr preferRelativeResize="0"/>
          <p:nvPr/>
        </p:nvPicPr>
        <p:blipFill rotWithShape="1">
          <a:blip r:embed="rId4">
            <a:alphaModFix/>
          </a:blip>
          <a:srcRect b="20955" l="9139" r="85672" t="71209"/>
          <a:stretch/>
        </p:blipFill>
        <p:spPr>
          <a:xfrm>
            <a:off x="1241625" y="1053583"/>
            <a:ext cx="292649" cy="310349"/>
          </a:xfrm>
          <a:prstGeom prst="rect">
            <a:avLst/>
          </a:prstGeom>
          <a:noFill/>
          <a:ln>
            <a:noFill/>
          </a:ln>
        </p:spPr>
      </p:pic>
      <p:pic>
        <p:nvPicPr>
          <p:cNvPr id="615" name="Google Shape;615;h11a342068904e6d2_0_481" title="dengue generalitiesv2.png"/>
          <p:cNvPicPr preferRelativeResize="0"/>
          <p:nvPr/>
        </p:nvPicPr>
        <p:blipFill rotWithShape="1">
          <a:blip r:embed="rId4">
            <a:alphaModFix/>
          </a:blip>
          <a:srcRect b="18852" l="14151" r="73609" t="63172"/>
          <a:stretch/>
        </p:blipFill>
        <p:spPr>
          <a:xfrm rot="865019">
            <a:off x="2444375" y="920233"/>
            <a:ext cx="690297" cy="711903"/>
          </a:xfrm>
          <a:prstGeom prst="rect">
            <a:avLst/>
          </a:prstGeom>
          <a:noFill/>
          <a:ln>
            <a:noFill/>
          </a:ln>
        </p:spPr>
      </p:pic>
      <p:cxnSp>
        <p:nvCxnSpPr>
          <p:cNvPr id="616" name="Google Shape;616;h11a342068904e6d2_0_481"/>
          <p:cNvCxnSpPr>
            <a:stCxn id="614" idx="1"/>
            <a:endCxn id="613" idx="0"/>
          </p:cNvCxnSpPr>
          <p:nvPr/>
        </p:nvCxnSpPr>
        <p:spPr>
          <a:xfrm flipH="1">
            <a:off x="931425" y="1208758"/>
            <a:ext cx="310200" cy="238500"/>
          </a:xfrm>
          <a:prstGeom prst="curvedConnector2">
            <a:avLst/>
          </a:prstGeom>
          <a:noFill/>
          <a:ln cap="flat" cmpd="sng" w="9525">
            <a:solidFill>
              <a:schemeClr val="dk2"/>
            </a:solidFill>
            <a:prstDash val="solid"/>
            <a:round/>
            <a:headEnd len="med" w="med" type="none"/>
            <a:tailEnd len="med" w="med" type="stealth"/>
          </a:ln>
        </p:spPr>
      </p:cxnSp>
      <p:cxnSp>
        <p:nvCxnSpPr>
          <p:cNvPr id="617" name="Google Shape;617;h11a342068904e6d2_0_481"/>
          <p:cNvCxnSpPr/>
          <p:nvPr/>
        </p:nvCxnSpPr>
        <p:spPr>
          <a:xfrm flipH="1" rot="10800000">
            <a:off x="1376350" y="1290208"/>
            <a:ext cx="933300" cy="569400"/>
          </a:xfrm>
          <a:prstGeom prst="straightConnector1">
            <a:avLst/>
          </a:prstGeom>
          <a:noFill/>
          <a:ln cap="flat" cmpd="sng" w="9525">
            <a:solidFill>
              <a:schemeClr val="dk2"/>
            </a:solidFill>
            <a:prstDash val="solid"/>
            <a:round/>
            <a:headEnd len="med" w="med" type="none"/>
            <a:tailEnd len="med" w="med" type="stealth"/>
          </a:ln>
        </p:spPr>
      </p:cxnSp>
      <p:pic>
        <p:nvPicPr>
          <p:cNvPr id="618" name="Google Shape;618;h11a342068904e6d2_0_481" title="dengue generalitiesv2.png"/>
          <p:cNvPicPr preferRelativeResize="0"/>
          <p:nvPr/>
        </p:nvPicPr>
        <p:blipFill rotWithShape="1">
          <a:blip r:embed="rId4">
            <a:alphaModFix/>
          </a:blip>
          <a:srcRect b="20955" l="9139" r="85672" t="71209"/>
          <a:stretch/>
        </p:blipFill>
        <p:spPr>
          <a:xfrm>
            <a:off x="2557225" y="1967983"/>
            <a:ext cx="292649" cy="310349"/>
          </a:xfrm>
          <a:prstGeom prst="rect">
            <a:avLst/>
          </a:prstGeom>
          <a:noFill/>
          <a:ln>
            <a:noFill/>
          </a:ln>
        </p:spPr>
      </p:pic>
      <p:cxnSp>
        <p:nvCxnSpPr>
          <p:cNvPr id="619" name="Google Shape;619;h11a342068904e6d2_0_481"/>
          <p:cNvCxnSpPr/>
          <p:nvPr/>
        </p:nvCxnSpPr>
        <p:spPr>
          <a:xfrm>
            <a:off x="1384175" y="1859683"/>
            <a:ext cx="953700" cy="294900"/>
          </a:xfrm>
          <a:prstGeom prst="straightConnector1">
            <a:avLst/>
          </a:prstGeom>
          <a:noFill/>
          <a:ln cap="flat" cmpd="sng" w="9525">
            <a:solidFill>
              <a:schemeClr val="dk2"/>
            </a:solidFill>
            <a:prstDash val="solid"/>
            <a:round/>
            <a:headEnd len="med" w="med" type="none"/>
            <a:tailEnd len="med" w="med" type="stealth"/>
          </a:ln>
        </p:spPr>
      </p:cxnSp>
      <p:sp>
        <p:nvSpPr>
          <p:cNvPr id="620" name="Google Shape;620;h11a342068904e6d2_0_481"/>
          <p:cNvSpPr/>
          <p:nvPr/>
        </p:nvSpPr>
        <p:spPr>
          <a:xfrm>
            <a:off x="3142375" y="1105396"/>
            <a:ext cx="279000" cy="208200"/>
          </a:xfrm>
          <a:prstGeom prst="rightArrow">
            <a:avLst>
              <a:gd fmla="val 50000" name="adj1"/>
              <a:gd fmla="val 50000" name="adj2"/>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1" name="Google Shape;621;h11a342068904e6d2_0_481"/>
          <p:cNvSpPr/>
          <p:nvPr/>
        </p:nvSpPr>
        <p:spPr>
          <a:xfrm>
            <a:off x="3142375" y="1976758"/>
            <a:ext cx="279000" cy="208200"/>
          </a:xfrm>
          <a:prstGeom prst="rightArrow">
            <a:avLst>
              <a:gd fmla="val 50000" name="adj1"/>
              <a:gd fmla="val 50000" name="adj2"/>
            </a:avLst>
          </a:prstGeom>
          <a:solidFill>
            <a:srgbClr val="99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2" name="Google Shape;622;h11a342068904e6d2_0_481"/>
          <p:cNvSpPr txBox="1"/>
          <p:nvPr/>
        </p:nvSpPr>
        <p:spPr>
          <a:xfrm>
            <a:off x="3421375" y="997704"/>
            <a:ext cx="3563100" cy="4899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1600">
                <a:solidFill>
                  <a:schemeClr val="dk2"/>
                </a:solidFill>
                <a:latin typeface="Helvetica Neue Light"/>
                <a:ea typeface="Helvetica Neue Light"/>
                <a:cs typeface="Helvetica Neue Light"/>
                <a:sym typeface="Helvetica Neue Light"/>
              </a:rPr>
              <a:t>Temporary </a:t>
            </a:r>
            <a:r>
              <a:rPr i="1" lang="en-US" sz="1600">
                <a:solidFill>
                  <a:schemeClr val="dk2"/>
                </a:solidFill>
                <a:latin typeface="Helvetica Neue Light"/>
                <a:ea typeface="Helvetica Neue Light"/>
                <a:cs typeface="Helvetica Neue Light"/>
                <a:sym typeface="Helvetica Neue Light"/>
              </a:rPr>
              <a:t>heterotypic</a:t>
            </a:r>
            <a:r>
              <a:rPr lang="en-US" sz="1600">
                <a:solidFill>
                  <a:schemeClr val="dk2"/>
                </a:solidFill>
                <a:latin typeface="Helvetica Neue Light"/>
                <a:ea typeface="Helvetica Neue Light"/>
                <a:cs typeface="Helvetica Neue Light"/>
                <a:sym typeface="Helvetica Neue Light"/>
              </a:rPr>
              <a:t> immunity</a:t>
            </a:r>
            <a:endParaRPr sz="1600">
              <a:solidFill>
                <a:schemeClr val="dk2"/>
              </a:solidFill>
              <a:latin typeface="Helvetica Neue Light"/>
              <a:ea typeface="Helvetica Neue Light"/>
              <a:cs typeface="Helvetica Neue Light"/>
              <a:sym typeface="Helvetica Neue Light"/>
            </a:endParaRPr>
          </a:p>
          <a:p>
            <a:pPr indent="0" lvl="0" marL="0" rtl="0" algn="l">
              <a:lnSpc>
                <a:spcPct val="150000"/>
              </a:lnSpc>
              <a:spcBef>
                <a:spcPts val="1000"/>
              </a:spcBef>
              <a:spcAft>
                <a:spcPts val="0"/>
              </a:spcAft>
              <a:buNone/>
            </a:pPr>
            <a:r>
              <a:t/>
            </a:r>
            <a:endParaRPr sz="1600">
              <a:solidFill>
                <a:schemeClr val="dk2"/>
              </a:solidFill>
              <a:latin typeface="Helvetica Neue Light"/>
              <a:ea typeface="Helvetica Neue Light"/>
              <a:cs typeface="Helvetica Neue Light"/>
              <a:sym typeface="Helvetica Neue Light"/>
            </a:endParaRPr>
          </a:p>
          <a:p>
            <a:pPr indent="0" lvl="0" marL="0" rtl="0" algn="l">
              <a:lnSpc>
                <a:spcPct val="150000"/>
              </a:lnSpc>
              <a:spcBef>
                <a:spcPts val="0"/>
              </a:spcBef>
              <a:spcAft>
                <a:spcPts val="0"/>
              </a:spcAft>
              <a:buNone/>
            </a:pPr>
            <a:r>
              <a:rPr lang="en-US" sz="1600">
                <a:solidFill>
                  <a:schemeClr val="dk2"/>
                </a:solidFill>
                <a:latin typeface="Helvetica Neue Light"/>
                <a:ea typeface="Helvetica Neue Light"/>
                <a:cs typeface="Helvetica Neue Light"/>
                <a:sym typeface="Helvetica Neue Light"/>
              </a:rPr>
              <a:t>Lifelong </a:t>
            </a:r>
            <a:r>
              <a:rPr i="1" lang="en-US" sz="1600">
                <a:solidFill>
                  <a:schemeClr val="dk2"/>
                </a:solidFill>
                <a:latin typeface="Helvetica Neue Light"/>
                <a:ea typeface="Helvetica Neue Light"/>
                <a:cs typeface="Helvetica Neue Light"/>
                <a:sym typeface="Helvetica Neue Light"/>
              </a:rPr>
              <a:t>homotypic</a:t>
            </a:r>
            <a:r>
              <a:rPr lang="en-US" sz="1600">
                <a:solidFill>
                  <a:schemeClr val="dk2"/>
                </a:solidFill>
                <a:latin typeface="Helvetica Neue Light"/>
                <a:ea typeface="Helvetica Neue Light"/>
                <a:cs typeface="Helvetica Neue Light"/>
                <a:sym typeface="Helvetica Neue Light"/>
              </a:rPr>
              <a:t> immunity</a:t>
            </a:r>
            <a:endParaRPr sz="1600">
              <a:solidFill>
                <a:schemeClr val="dk2"/>
              </a:solidFill>
              <a:latin typeface="Helvetica Neue Light"/>
              <a:ea typeface="Helvetica Neue Light"/>
              <a:cs typeface="Helvetica Neue Light"/>
              <a:sym typeface="Helvetica Neue Light"/>
            </a:endParaRPr>
          </a:p>
        </p:txBody>
      </p:sp>
      <p:sp>
        <p:nvSpPr>
          <p:cNvPr id="623" name="Google Shape;623;h11a342068904e6d2_0_481"/>
          <p:cNvSpPr txBox="1"/>
          <p:nvPr/>
        </p:nvSpPr>
        <p:spPr>
          <a:xfrm>
            <a:off x="219075" y="1872858"/>
            <a:ext cx="1456500" cy="629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US" sz="1600">
                <a:solidFill>
                  <a:schemeClr val="dk2"/>
                </a:solidFill>
                <a:latin typeface="Helvetica Neue Light"/>
                <a:ea typeface="Helvetica Neue Light"/>
                <a:cs typeface="Helvetica Neue Light"/>
                <a:sym typeface="Helvetica Neue Light"/>
              </a:rPr>
              <a:t>Initial infection</a:t>
            </a:r>
            <a:endParaRPr sz="1600">
              <a:solidFill>
                <a:schemeClr val="dk2"/>
              </a:solidFill>
              <a:latin typeface="Helvetica Neue Light"/>
              <a:ea typeface="Helvetica Neue Light"/>
              <a:cs typeface="Helvetica Neue Light"/>
              <a:sym typeface="Helvetica Neue Light"/>
            </a:endParaRPr>
          </a:p>
        </p:txBody>
      </p:sp>
      <p:sp>
        <p:nvSpPr>
          <p:cNvPr id="624" name="Google Shape;624;h11a342068904e6d2_0_481"/>
          <p:cNvSpPr txBox="1"/>
          <p:nvPr/>
        </p:nvSpPr>
        <p:spPr>
          <a:xfrm>
            <a:off x="108781" y="653825"/>
            <a:ext cx="16986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600">
                <a:solidFill>
                  <a:schemeClr val="dk1"/>
                </a:solidFill>
                <a:latin typeface="Helvetica Neue"/>
                <a:ea typeface="Helvetica Neue"/>
                <a:cs typeface="Helvetica Neue"/>
                <a:sym typeface="Helvetica Neue"/>
              </a:rPr>
              <a:t>Premise</a:t>
            </a:r>
            <a:endParaRPr b="1" sz="1600">
              <a:solidFill>
                <a:schemeClr val="dk1"/>
              </a:solidFill>
              <a:latin typeface="Helvetica Neue"/>
              <a:ea typeface="Helvetica Neue"/>
              <a:cs typeface="Helvetica Neue"/>
              <a:sym typeface="Helvetica Neue"/>
            </a:endParaRPr>
          </a:p>
        </p:txBody>
      </p:sp>
      <p:sp>
        <p:nvSpPr>
          <p:cNvPr id="625" name="Google Shape;625;h11a342068904e6d2_0_481"/>
          <p:cNvSpPr txBox="1"/>
          <p:nvPr/>
        </p:nvSpPr>
        <p:spPr>
          <a:xfrm>
            <a:off x="332075" y="4103133"/>
            <a:ext cx="87216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u="sng"/>
              <a:t>Hypothesis:</a:t>
            </a:r>
            <a:r>
              <a:rPr b="1" lang="en-US" sz="1600"/>
              <a:t> DENV genetic evolution </a:t>
            </a:r>
            <a:r>
              <a:rPr lang="en-US" sz="1600"/>
              <a:t>affects the efficiency of </a:t>
            </a:r>
            <a:r>
              <a:rPr b="1" lang="en-US" sz="1600"/>
              <a:t>homotypic immune protection</a:t>
            </a:r>
            <a:r>
              <a:rPr lang="en-US" sz="1600"/>
              <a:t>, essentially via an escape from the </a:t>
            </a:r>
            <a:r>
              <a:rPr b="1" lang="en-US" sz="1600"/>
              <a:t>neutralizing antibody response</a:t>
            </a:r>
            <a:endParaRPr b="1" sz="16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pic>
        <p:nvPicPr>
          <p:cNvPr id="630" name="Google Shape;630;h11a342068904e6d2_0_502" title="Screenshot from 2026-02-13 17-30-18.png"/>
          <p:cNvPicPr preferRelativeResize="0"/>
          <p:nvPr/>
        </p:nvPicPr>
        <p:blipFill rotWithShape="1">
          <a:blip r:embed="rId3">
            <a:alphaModFix/>
          </a:blip>
          <a:srcRect b="12327" l="55207" r="0" t="0"/>
          <a:stretch/>
        </p:blipFill>
        <p:spPr>
          <a:xfrm>
            <a:off x="465825" y="951958"/>
            <a:ext cx="3287751" cy="3589001"/>
          </a:xfrm>
          <a:prstGeom prst="rect">
            <a:avLst/>
          </a:prstGeom>
          <a:noFill/>
          <a:ln>
            <a:noFill/>
          </a:ln>
        </p:spPr>
      </p:pic>
      <p:pic>
        <p:nvPicPr>
          <p:cNvPr id="631" name="Google Shape;631;h11a342068904e6d2_0_502" title="Screenshot from 2026-10-06 14-31-43.png"/>
          <p:cNvPicPr preferRelativeResize="0"/>
          <p:nvPr/>
        </p:nvPicPr>
        <p:blipFill>
          <a:blip r:embed="rId4">
            <a:alphaModFix/>
          </a:blip>
          <a:stretch>
            <a:fillRect/>
          </a:stretch>
        </p:blipFill>
        <p:spPr>
          <a:xfrm>
            <a:off x="4125193" y="828092"/>
            <a:ext cx="4850732" cy="1697200"/>
          </a:xfrm>
          <a:prstGeom prst="rect">
            <a:avLst/>
          </a:prstGeom>
          <a:noFill/>
          <a:ln>
            <a:noFill/>
          </a:ln>
        </p:spPr>
      </p:pic>
      <p:grpSp>
        <p:nvGrpSpPr>
          <p:cNvPr id="632" name="Google Shape;632;h11a342068904e6d2_0_502"/>
          <p:cNvGrpSpPr/>
          <p:nvPr/>
        </p:nvGrpSpPr>
        <p:grpSpPr>
          <a:xfrm>
            <a:off x="3800686" y="3856422"/>
            <a:ext cx="2206650" cy="959506"/>
            <a:chOff x="4209025" y="3581475"/>
            <a:chExt cx="2206650" cy="1075800"/>
          </a:xfrm>
        </p:grpSpPr>
        <p:sp>
          <p:nvSpPr>
            <p:cNvPr id="633" name="Google Shape;633;h11a342068904e6d2_0_502"/>
            <p:cNvSpPr/>
            <p:nvPr/>
          </p:nvSpPr>
          <p:spPr>
            <a:xfrm>
              <a:off x="4209025" y="3581475"/>
              <a:ext cx="2183100" cy="10758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4" name="Google Shape;634;h11a342068904e6d2_0_502"/>
            <p:cNvSpPr txBox="1"/>
            <p:nvPr/>
          </p:nvSpPr>
          <p:spPr>
            <a:xfrm>
              <a:off x="4232575" y="3612641"/>
              <a:ext cx="2183100" cy="87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200">
                  <a:solidFill>
                    <a:srgbClr val="9900FF"/>
                  </a:solidFill>
                  <a:latin typeface="Helvetica Neue Light"/>
                  <a:ea typeface="Helvetica Neue Light"/>
                  <a:cs typeface="Helvetica Neue Light"/>
                  <a:sym typeface="Helvetica Neue Light"/>
                </a:rPr>
                <a:t>Butantan     		Asian II</a:t>
              </a:r>
              <a:endParaRPr sz="1200">
                <a:solidFill>
                  <a:srgbClr val="9900FF"/>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200">
                  <a:solidFill>
                    <a:srgbClr val="FF0000"/>
                  </a:solidFill>
                  <a:latin typeface="Helvetica Neue Light"/>
                  <a:ea typeface="Helvetica Neue Light"/>
                  <a:cs typeface="Helvetica Neue Light"/>
                  <a:sym typeface="Helvetica Neue Light"/>
                </a:rPr>
                <a:t>Dengvaxia  		Asian I</a:t>
              </a:r>
              <a:endParaRPr sz="1200">
                <a:solidFill>
                  <a:srgbClr val="FF0000"/>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200">
                  <a:solidFill>
                    <a:srgbClr val="38761D"/>
                  </a:solidFill>
                  <a:latin typeface="Helvetica Neue Light"/>
                  <a:ea typeface="Helvetica Neue Light"/>
                  <a:cs typeface="Helvetica Neue Light"/>
                  <a:sym typeface="Helvetica Neue Light"/>
                </a:rPr>
                <a:t>Qdenga		Asian I</a:t>
              </a:r>
              <a:endParaRPr sz="1200">
                <a:solidFill>
                  <a:schemeClr val="dk2"/>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200">
                  <a:solidFill>
                    <a:srgbClr val="0000FF"/>
                  </a:solidFill>
                  <a:latin typeface="Helvetica Neue Light"/>
                  <a:ea typeface="Helvetica Neue Light"/>
                  <a:cs typeface="Helvetica Neue Light"/>
                  <a:sym typeface="Helvetica Neue Light"/>
                </a:rPr>
                <a:t>Overseas territories</a:t>
              </a:r>
              <a:endParaRPr sz="1200">
                <a:solidFill>
                  <a:srgbClr val="0000FF"/>
                </a:solidFill>
                <a:latin typeface="Helvetica Neue Light"/>
                <a:ea typeface="Helvetica Neue Light"/>
                <a:cs typeface="Helvetica Neue Light"/>
                <a:sym typeface="Helvetica Neue Light"/>
              </a:endParaRPr>
            </a:p>
          </p:txBody>
        </p:sp>
      </p:grpSp>
      <p:sp>
        <p:nvSpPr>
          <p:cNvPr id="635" name="Google Shape;635;h11a342068904e6d2_0_502"/>
          <p:cNvSpPr txBox="1"/>
          <p:nvPr/>
        </p:nvSpPr>
        <p:spPr>
          <a:xfrm>
            <a:off x="4311117" y="2442840"/>
            <a:ext cx="3706500" cy="4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2"/>
                </a:solidFill>
                <a:latin typeface="Helvetica Neue Light"/>
                <a:ea typeface="Helvetica Neue Light"/>
                <a:cs typeface="Helvetica Neue Light"/>
                <a:sym typeface="Helvetica Neue Light"/>
              </a:rPr>
              <a:t>DENV2 global diversity</a:t>
            </a:r>
            <a:endParaRPr sz="1600">
              <a:solidFill>
                <a:schemeClr val="dk2"/>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000">
                <a:solidFill>
                  <a:schemeClr val="dk2"/>
                </a:solidFill>
                <a:latin typeface="Helvetica Neue Light"/>
                <a:ea typeface="Helvetica Neue Light"/>
                <a:cs typeface="Helvetica Neue Light"/>
                <a:sym typeface="Helvetica Neue Light"/>
              </a:rPr>
              <a:t>GISAID - https://app1.epicov.org/epi3/</a:t>
            </a:r>
            <a:endParaRPr sz="1000">
              <a:solidFill>
                <a:schemeClr val="dk2"/>
              </a:solidFill>
              <a:latin typeface="Helvetica Neue Light"/>
              <a:ea typeface="Helvetica Neue Light"/>
              <a:cs typeface="Helvetica Neue Light"/>
              <a:sym typeface="Helvetica Neue Light"/>
            </a:endParaRPr>
          </a:p>
        </p:txBody>
      </p:sp>
      <p:sp>
        <p:nvSpPr>
          <p:cNvPr id="636" name="Google Shape;636;h11a342068904e6d2_0_502"/>
          <p:cNvSpPr/>
          <p:nvPr/>
        </p:nvSpPr>
        <p:spPr>
          <a:xfrm>
            <a:off x="0" y="0"/>
            <a:ext cx="9144000" cy="629400"/>
          </a:xfrm>
          <a:prstGeom prst="rect">
            <a:avLst/>
          </a:prstGeom>
          <a:solidFill>
            <a:srgbClr val="1C4587"/>
          </a:solidFill>
          <a:ln cap="flat" cmpd="sng" w="952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7" name="Google Shape;637;h11a342068904e6d2_0_502"/>
          <p:cNvSpPr txBox="1"/>
          <p:nvPr/>
        </p:nvSpPr>
        <p:spPr>
          <a:xfrm>
            <a:off x="219075" y="63350"/>
            <a:ext cx="8763000" cy="48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chemeClr val="lt1"/>
                </a:solidFill>
                <a:latin typeface="Helvetica Neue"/>
                <a:ea typeface="Helvetica Neue"/>
                <a:cs typeface="Helvetica Neue"/>
                <a:sym typeface="Helvetica Neue"/>
              </a:rPr>
              <a:t>Vaccinal strains do not align well with DENV circulating diversity</a:t>
            </a:r>
            <a:endParaRPr b="1" sz="2200">
              <a:solidFill>
                <a:schemeClr val="lt1"/>
              </a:solidFill>
              <a:latin typeface="Helvetica Neue"/>
              <a:ea typeface="Helvetica Neue"/>
              <a:cs typeface="Helvetica Neue"/>
              <a:sym typeface="Helvetica Neue"/>
            </a:endParaRPr>
          </a:p>
        </p:txBody>
      </p:sp>
      <p:sp>
        <p:nvSpPr>
          <p:cNvPr id="638" name="Google Shape;638;h11a342068904e6d2_0_502"/>
          <p:cNvSpPr txBox="1"/>
          <p:nvPr/>
        </p:nvSpPr>
        <p:spPr>
          <a:xfrm>
            <a:off x="356576" y="4574130"/>
            <a:ext cx="3706500" cy="4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500" u="sng">
                <a:solidFill>
                  <a:srgbClr val="434343"/>
                </a:solidFill>
                <a:latin typeface="Helvetica Neue Light"/>
                <a:ea typeface="Helvetica Neue Light"/>
                <a:cs typeface="Helvetica Neue Light"/>
                <a:sym typeface="Helvetica Neue Light"/>
              </a:rPr>
              <a:t>DENV2 diversity in overseas territories</a:t>
            </a:r>
            <a:endParaRPr sz="900" u="sng">
              <a:solidFill>
                <a:srgbClr val="434343"/>
              </a:solidFill>
              <a:latin typeface="Helvetica Neue Light"/>
              <a:ea typeface="Helvetica Neue Light"/>
              <a:cs typeface="Helvetica Neue Light"/>
              <a:sym typeface="Helvetica Neue 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h11a342068904e6d2_0_514"/>
          <p:cNvSpPr/>
          <p:nvPr/>
        </p:nvSpPr>
        <p:spPr>
          <a:xfrm>
            <a:off x="0" y="0"/>
            <a:ext cx="9144000" cy="629400"/>
          </a:xfrm>
          <a:prstGeom prst="rect">
            <a:avLst/>
          </a:prstGeom>
          <a:solidFill>
            <a:srgbClr val="1C4587"/>
          </a:solidFill>
          <a:ln cap="flat" cmpd="sng" w="952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4" name="Google Shape;644;h11a342068904e6d2_0_514"/>
          <p:cNvSpPr txBox="1"/>
          <p:nvPr/>
        </p:nvSpPr>
        <p:spPr>
          <a:xfrm>
            <a:off x="219075" y="63350"/>
            <a:ext cx="8763000" cy="48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chemeClr val="lt1"/>
                </a:solidFill>
                <a:latin typeface="Helvetica Neue"/>
                <a:ea typeface="Helvetica Neue"/>
                <a:cs typeface="Helvetica Neue"/>
                <a:sym typeface="Helvetica Neue"/>
              </a:rPr>
              <a:t>Main objective and project aims</a:t>
            </a:r>
            <a:endParaRPr b="1" sz="2200">
              <a:solidFill>
                <a:schemeClr val="lt1"/>
              </a:solidFill>
              <a:latin typeface="Helvetica Neue"/>
              <a:ea typeface="Helvetica Neue"/>
              <a:cs typeface="Helvetica Neue"/>
              <a:sym typeface="Helvetica Neue"/>
            </a:endParaRPr>
          </a:p>
        </p:txBody>
      </p:sp>
      <p:sp>
        <p:nvSpPr>
          <p:cNvPr id="645" name="Google Shape;645;h11a342068904e6d2_0_5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646" name="Google Shape;646;h11a342068904e6d2_0_514"/>
          <p:cNvSpPr txBox="1"/>
          <p:nvPr/>
        </p:nvSpPr>
        <p:spPr>
          <a:xfrm>
            <a:off x="325275" y="838200"/>
            <a:ext cx="7637400" cy="31350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b="1" lang="en-US" sz="1500">
                <a:latin typeface="Helvetica Neue"/>
                <a:ea typeface="Helvetica Neue"/>
                <a:cs typeface="Helvetica Neue"/>
                <a:sym typeface="Helvetica Neue"/>
              </a:rPr>
              <a:t>Objective : To identify the determinants of escape to homotypic immune protection against DENV infection </a:t>
            </a:r>
            <a:endParaRPr b="1" sz="1500">
              <a:latin typeface="Helvetica Neue"/>
              <a:ea typeface="Helvetica Neue"/>
              <a:cs typeface="Helvetica Neue"/>
              <a:sym typeface="Helvetica Neue"/>
            </a:endParaRPr>
          </a:p>
          <a:p>
            <a:pPr indent="457200" lvl="0" marL="0" rtl="0" algn="l">
              <a:spcBef>
                <a:spcPts val="1000"/>
              </a:spcBef>
              <a:spcAft>
                <a:spcPts val="0"/>
              </a:spcAft>
              <a:buNone/>
            </a:pPr>
            <a:r>
              <a:rPr lang="en-US" sz="1500">
                <a:latin typeface="Helvetica Neue Light"/>
                <a:ea typeface="Helvetica Neue Light"/>
                <a:cs typeface="Helvetica Neue Light"/>
                <a:sym typeface="Helvetica Neue Light"/>
              </a:rPr>
              <a:t>&gt; </a:t>
            </a:r>
            <a:r>
              <a:rPr lang="en-US" sz="1500" u="sng">
                <a:latin typeface="Helvetica Neue Light"/>
                <a:ea typeface="Helvetica Neue Light"/>
                <a:cs typeface="Helvetica Neue Light"/>
                <a:sym typeface="Helvetica Neue Light"/>
              </a:rPr>
              <a:t>improve vaccine protection:</a:t>
            </a:r>
            <a:r>
              <a:rPr lang="en-US" sz="1500">
                <a:latin typeface="Helvetica Neue Light"/>
                <a:ea typeface="Helvetica Neue Light"/>
                <a:cs typeface="Helvetica Neue Light"/>
                <a:sym typeface="Helvetica Neue Light"/>
              </a:rPr>
              <a:t> </a:t>
            </a:r>
            <a:endParaRPr sz="1500">
              <a:latin typeface="Helvetica Neue Light"/>
              <a:ea typeface="Helvetica Neue Light"/>
              <a:cs typeface="Helvetica Neue Light"/>
              <a:sym typeface="Helvetica Neue Light"/>
            </a:endParaRPr>
          </a:p>
          <a:p>
            <a:pPr indent="-323850" lvl="0" marL="914400" rtl="0" algn="l">
              <a:spcBef>
                <a:spcPts val="1000"/>
              </a:spcBef>
              <a:spcAft>
                <a:spcPts val="0"/>
              </a:spcAft>
              <a:buSzPts val="1500"/>
              <a:buFont typeface="Helvetica Neue Light"/>
              <a:buChar char="-"/>
            </a:pPr>
            <a:r>
              <a:rPr lang="en-US" sz="1500">
                <a:latin typeface="Helvetica Neue Light"/>
                <a:ea typeface="Helvetica Neue Light"/>
                <a:cs typeface="Helvetica Neue Light"/>
                <a:sym typeface="Helvetica Neue Light"/>
              </a:rPr>
              <a:t>rational basis to reassess the number and diversity of strains in vaccine formulations to maximise the effectiveness of protection against DENV infection</a:t>
            </a:r>
            <a:endParaRPr sz="1500">
              <a:latin typeface="Helvetica Neue Light"/>
              <a:ea typeface="Helvetica Neue Light"/>
              <a:cs typeface="Helvetica Neue Light"/>
              <a:sym typeface="Helvetica Neue Light"/>
            </a:endParaRPr>
          </a:p>
          <a:p>
            <a:pPr indent="457200" lvl="0" marL="0" rtl="0" algn="l">
              <a:spcBef>
                <a:spcPts val="1000"/>
              </a:spcBef>
              <a:spcAft>
                <a:spcPts val="0"/>
              </a:spcAft>
              <a:buNone/>
            </a:pPr>
            <a:r>
              <a:rPr lang="en-US" sz="1500">
                <a:latin typeface="Helvetica Neue Light"/>
                <a:ea typeface="Helvetica Neue Light"/>
                <a:cs typeface="Helvetica Neue Light"/>
                <a:sym typeface="Helvetica Neue Light"/>
              </a:rPr>
              <a:t>&gt; </a:t>
            </a:r>
            <a:r>
              <a:rPr lang="en-US" sz="1500" u="sng">
                <a:latin typeface="Helvetica Neue Light"/>
                <a:ea typeface="Helvetica Neue Light"/>
                <a:cs typeface="Helvetica Neue Light"/>
                <a:sym typeface="Helvetica Neue Light"/>
              </a:rPr>
              <a:t>improve surveillance: </a:t>
            </a:r>
            <a:endParaRPr sz="1500" u="sng">
              <a:latin typeface="Helvetica Neue Light"/>
              <a:ea typeface="Helvetica Neue Light"/>
              <a:cs typeface="Helvetica Neue Light"/>
              <a:sym typeface="Helvetica Neue Light"/>
            </a:endParaRPr>
          </a:p>
          <a:p>
            <a:pPr indent="-323850" lvl="0" marL="914400" rtl="0" algn="l">
              <a:spcBef>
                <a:spcPts val="1000"/>
              </a:spcBef>
              <a:spcAft>
                <a:spcPts val="0"/>
              </a:spcAft>
              <a:buSzPts val="1500"/>
              <a:buFont typeface="Helvetica Neue Light"/>
              <a:buChar char="-"/>
            </a:pPr>
            <a:r>
              <a:rPr lang="en-US" sz="1500">
                <a:latin typeface="Helvetica Neue Light"/>
                <a:ea typeface="Helvetica Neue Light"/>
                <a:cs typeface="Helvetica Neue Light"/>
                <a:sym typeface="Helvetica Neue Light"/>
              </a:rPr>
              <a:t>insights for predicting the epidemic potential of new strains within already immunised populations</a:t>
            </a:r>
            <a:endParaRPr sz="1500">
              <a:latin typeface="Helvetica Neue Light"/>
              <a:ea typeface="Helvetica Neue Light"/>
              <a:cs typeface="Helvetica Neue Light"/>
              <a:sym typeface="Helvetica Neue Light"/>
            </a:endParaRPr>
          </a:p>
          <a:p>
            <a:pPr indent="-323850" lvl="0" marL="914400" rtl="0" algn="l">
              <a:spcBef>
                <a:spcPts val="1000"/>
              </a:spcBef>
              <a:spcAft>
                <a:spcPts val="0"/>
              </a:spcAft>
              <a:buSzPts val="1500"/>
              <a:buFont typeface="Helvetica Neue Light"/>
              <a:buChar char="-"/>
            </a:pPr>
            <a:r>
              <a:rPr lang="en-US" sz="1500">
                <a:latin typeface="Helvetica Neue Light"/>
                <a:ea typeface="Helvetica Neue Light"/>
                <a:cs typeface="Helvetica Neue Light"/>
                <a:sym typeface="Helvetica Neue Light"/>
              </a:rPr>
              <a:t>consolidation of a network of national and international collaborators, with common research priorities</a:t>
            </a:r>
            <a:endParaRPr sz="1500">
              <a:highlight>
                <a:srgbClr val="FFFF00"/>
              </a:highlight>
              <a:latin typeface="Helvetica Neue Light"/>
              <a:ea typeface="Helvetica Neue Light"/>
              <a:cs typeface="Helvetica Neue Light"/>
              <a:sym typeface="Helvetica Neue Ligh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pic>
        <p:nvPicPr>
          <p:cNvPr id="651" name="Google Shape;651;h11a342068904e6d2_0_521" title="Screenshot from 2026-01-29 16-38-56.png"/>
          <p:cNvPicPr preferRelativeResize="0"/>
          <p:nvPr/>
        </p:nvPicPr>
        <p:blipFill>
          <a:blip r:embed="rId3">
            <a:alphaModFix/>
          </a:blip>
          <a:stretch>
            <a:fillRect/>
          </a:stretch>
        </p:blipFill>
        <p:spPr>
          <a:xfrm>
            <a:off x="1985010" y="155697"/>
            <a:ext cx="6645340" cy="4838699"/>
          </a:xfrm>
          <a:prstGeom prst="rect">
            <a:avLst/>
          </a:prstGeom>
          <a:noFill/>
          <a:ln>
            <a:noFill/>
          </a:ln>
        </p:spPr>
      </p:pic>
      <p:sp>
        <p:nvSpPr>
          <p:cNvPr id="652" name="Google Shape;652;h11a342068904e6d2_0_521"/>
          <p:cNvSpPr txBox="1"/>
          <p:nvPr/>
        </p:nvSpPr>
        <p:spPr>
          <a:xfrm>
            <a:off x="524979" y="323999"/>
            <a:ext cx="1698600" cy="84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US" sz="2000">
                <a:solidFill>
                  <a:srgbClr val="073763"/>
                </a:solidFill>
                <a:latin typeface="Helvetica Neue"/>
                <a:ea typeface="Helvetica Neue"/>
                <a:cs typeface="Helvetica Neue"/>
                <a:sym typeface="Helvetica Neue"/>
              </a:rPr>
              <a:t>Overall strategy</a:t>
            </a:r>
            <a:endParaRPr sz="2000">
              <a:solidFill>
                <a:srgbClr val="073763"/>
              </a:solidFill>
              <a:latin typeface="Helvetica Neue"/>
              <a:ea typeface="Helvetica Neue"/>
              <a:cs typeface="Helvetica Neue"/>
              <a:sym typeface="Helvetica Neue"/>
            </a:endParaRPr>
          </a:p>
        </p:txBody>
      </p:sp>
      <p:sp>
        <p:nvSpPr>
          <p:cNvPr id="653" name="Google Shape;653;h11a342068904e6d2_0_521"/>
          <p:cNvSpPr txBox="1"/>
          <p:nvPr/>
        </p:nvSpPr>
        <p:spPr>
          <a:xfrm>
            <a:off x="386293" y="286499"/>
            <a:ext cx="1356900" cy="921600"/>
          </a:xfrm>
          <a:prstGeom prst="rect">
            <a:avLst/>
          </a:prstGeom>
          <a:noFill/>
          <a:ln cap="flat" cmpd="sng" w="9525">
            <a:solidFill>
              <a:srgbClr val="FF99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600"/>
              </a:spcAft>
              <a:buNone/>
            </a:pPr>
            <a:r>
              <a:t/>
            </a:r>
            <a:endParaRPr sz="1300">
              <a:solidFill>
                <a:schemeClr val="dk1"/>
              </a:solidFill>
              <a:latin typeface="Helvetica Neue"/>
              <a:ea typeface="Helvetica Neue"/>
              <a:cs typeface="Helvetica Neue"/>
              <a:sym typeface="Helvetica Neue"/>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pic>
        <p:nvPicPr>
          <p:cNvPr id="658" name="Google Shape;658;h11a342068904e6d2_0_527" title="Screenshot from 2026-10-07 15-28-31.png"/>
          <p:cNvPicPr preferRelativeResize="0"/>
          <p:nvPr/>
        </p:nvPicPr>
        <p:blipFill>
          <a:blip r:embed="rId3">
            <a:alphaModFix/>
          </a:blip>
          <a:stretch>
            <a:fillRect/>
          </a:stretch>
        </p:blipFill>
        <p:spPr>
          <a:xfrm>
            <a:off x="5548089" y="2086140"/>
            <a:ext cx="781725" cy="876225"/>
          </a:xfrm>
          <a:prstGeom prst="rect">
            <a:avLst/>
          </a:prstGeom>
          <a:noFill/>
          <a:ln>
            <a:noFill/>
          </a:ln>
        </p:spPr>
      </p:pic>
      <p:sp>
        <p:nvSpPr>
          <p:cNvPr id="659" name="Google Shape;659;h11a342068904e6d2_0_527"/>
          <p:cNvSpPr/>
          <p:nvPr/>
        </p:nvSpPr>
        <p:spPr>
          <a:xfrm>
            <a:off x="2866222" y="2456042"/>
            <a:ext cx="1467000" cy="5811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0" name="Google Shape;660;h11a342068904e6d2_0_527"/>
          <p:cNvSpPr/>
          <p:nvPr/>
        </p:nvSpPr>
        <p:spPr>
          <a:xfrm>
            <a:off x="0" y="0"/>
            <a:ext cx="9144000" cy="629400"/>
          </a:xfrm>
          <a:prstGeom prst="rect">
            <a:avLst/>
          </a:prstGeom>
          <a:solidFill>
            <a:srgbClr val="1C4587"/>
          </a:solidFill>
          <a:ln cap="flat" cmpd="sng" w="952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1" name="Google Shape;661;h11a342068904e6d2_0_527"/>
          <p:cNvSpPr txBox="1"/>
          <p:nvPr/>
        </p:nvSpPr>
        <p:spPr>
          <a:xfrm>
            <a:off x="219075" y="63350"/>
            <a:ext cx="8763000" cy="48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chemeClr val="lt1"/>
                </a:solidFill>
                <a:latin typeface="Helvetica Neue"/>
                <a:ea typeface="Helvetica Neue"/>
                <a:cs typeface="Helvetica Neue"/>
                <a:sym typeface="Helvetica Neue"/>
              </a:rPr>
              <a:t>Aim 1</a:t>
            </a:r>
            <a:endParaRPr b="1" sz="2200">
              <a:solidFill>
                <a:schemeClr val="lt1"/>
              </a:solidFill>
              <a:latin typeface="Helvetica Neue"/>
              <a:ea typeface="Helvetica Neue"/>
              <a:cs typeface="Helvetica Neue"/>
              <a:sym typeface="Helvetica Neue"/>
            </a:endParaRPr>
          </a:p>
        </p:txBody>
      </p:sp>
      <p:sp>
        <p:nvSpPr>
          <p:cNvPr id="662" name="Google Shape;662;h11a342068904e6d2_0_5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663" name="Google Shape;663;h11a342068904e6d2_0_527" title="Screenshot from 2026-10-06 15-26-29.png"/>
          <p:cNvPicPr preferRelativeResize="0"/>
          <p:nvPr/>
        </p:nvPicPr>
        <p:blipFill rotWithShape="1">
          <a:blip r:embed="rId4">
            <a:alphaModFix/>
          </a:blip>
          <a:srcRect b="88820" l="0" r="86025" t="0"/>
          <a:stretch/>
        </p:blipFill>
        <p:spPr>
          <a:xfrm>
            <a:off x="2949384" y="2536935"/>
            <a:ext cx="1277848" cy="393600"/>
          </a:xfrm>
          <a:prstGeom prst="rect">
            <a:avLst/>
          </a:prstGeom>
          <a:noFill/>
          <a:ln>
            <a:noFill/>
          </a:ln>
        </p:spPr>
      </p:pic>
      <p:grpSp>
        <p:nvGrpSpPr>
          <p:cNvPr id="664" name="Google Shape;664;h11a342068904e6d2_0_527"/>
          <p:cNvGrpSpPr/>
          <p:nvPr/>
        </p:nvGrpSpPr>
        <p:grpSpPr>
          <a:xfrm>
            <a:off x="422825" y="2221772"/>
            <a:ext cx="2796906" cy="2302057"/>
            <a:chOff x="422825" y="2221772"/>
            <a:chExt cx="2796906" cy="2302057"/>
          </a:xfrm>
        </p:grpSpPr>
        <p:pic>
          <p:nvPicPr>
            <p:cNvPr id="665" name="Google Shape;665;h11a342068904e6d2_0_527" title="Screenshot from 2026-10-07 11-19-41.png"/>
            <p:cNvPicPr preferRelativeResize="0"/>
            <p:nvPr/>
          </p:nvPicPr>
          <p:blipFill>
            <a:blip r:embed="rId5">
              <a:alphaModFix/>
            </a:blip>
            <a:stretch>
              <a:fillRect/>
            </a:stretch>
          </p:blipFill>
          <p:spPr>
            <a:xfrm>
              <a:off x="422825" y="2221772"/>
              <a:ext cx="2440175" cy="2252975"/>
            </a:xfrm>
            <a:prstGeom prst="rect">
              <a:avLst/>
            </a:prstGeom>
            <a:noFill/>
            <a:ln>
              <a:noFill/>
            </a:ln>
          </p:spPr>
        </p:pic>
        <p:cxnSp>
          <p:nvCxnSpPr>
            <p:cNvPr id="666" name="Google Shape;666;h11a342068904e6d2_0_527"/>
            <p:cNvCxnSpPr/>
            <p:nvPr/>
          </p:nvCxnSpPr>
          <p:spPr>
            <a:xfrm flipH="1" rot="10800000">
              <a:off x="2434331" y="3864263"/>
              <a:ext cx="785400" cy="15600"/>
            </a:xfrm>
            <a:prstGeom prst="straightConnector1">
              <a:avLst/>
            </a:prstGeom>
            <a:noFill/>
            <a:ln cap="flat" cmpd="sng" w="28575">
              <a:solidFill>
                <a:schemeClr val="lt1"/>
              </a:solidFill>
              <a:prstDash val="solid"/>
              <a:round/>
              <a:headEnd len="med" w="med" type="none"/>
              <a:tailEnd len="med" w="med" type="none"/>
            </a:ln>
          </p:spPr>
        </p:cxnSp>
        <p:cxnSp>
          <p:nvCxnSpPr>
            <p:cNvPr id="667" name="Google Shape;667;h11a342068904e6d2_0_527"/>
            <p:cNvCxnSpPr/>
            <p:nvPr/>
          </p:nvCxnSpPr>
          <p:spPr>
            <a:xfrm flipH="1">
              <a:off x="1711781" y="4369930"/>
              <a:ext cx="3300" cy="153900"/>
            </a:xfrm>
            <a:prstGeom prst="straightConnector1">
              <a:avLst/>
            </a:prstGeom>
            <a:noFill/>
            <a:ln cap="flat" cmpd="sng" w="28575">
              <a:solidFill>
                <a:schemeClr val="lt1"/>
              </a:solidFill>
              <a:prstDash val="solid"/>
              <a:round/>
              <a:headEnd len="med" w="med" type="none"/>
              <a:tailEnd len="med" w="med" type="none"/>
            </a:ln>
          </p:spPr>
        </p:cxnSp>
      </p:grpSp>
      <p:sp>
        <p:nvSpPr>
          <p:cNvPr id="668" name="Google Shape;668;h11a342068904e6d2_0_527"/>
          <p:cNvSpPr txBox="1"/>
          <p:nvPr/>
        </p:nvSpPr>
        <p:spPr>
          <a:xfrm>
            <a:off x="325275" y="798937"/>
            <a:ext cx="5319600" cy="189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US">
                <a:latin typeface="Helvetica Neue Light"/>
                <a:ea typeface="Helvetica Neue Light"/>
                <a:cs typeface="Helvetica Neue Light"/>
                <a:sym typeface="Helvetica Neue Light"/>
              </a:rPr>
              <a:t>(1) Assessing </a:t>
            </a:r>
            <a:r>
              <a:rPr lang="en-US" u="sng">
                <a:latin typeface="Helvetica Neue Light"/>
                <a:ea typeface="Helvetica Neue Light"/>
                <a:cs typeface="Helvetica Neue Light"/>
                <a:sym typeface="Helvetica Neue Light"/>
              </a:rPr>
              <a:t>DENV global circulating genetic diversity</a:t>
            </a:r>
            <a:endParaRPr>
              <a:latin typeface="Helvetica Neue Light"/>
              <a:ea typeface="Helvetica Neue Light"/>
              <a:cs typeface="Helvetica Neue Light"/>
              <a:sym typeface="Helvetica Neue Light"/>
            </a:endParaRPr>
          </a:p>
          <a:p>
            <a:pPr indent="-317500" lvl="0" marL="457200" rtl="0" algn="l">
              <a:lnSpc>
                <a:spcPct val="115000"/>
              </a:lnSpc>
              <a:spcBef>
                <a:spcPts val="1000"/>
              </a:spcBef>
              <a:spcAft>
                <a:spcPts val="0"/>
              </a:spcAft>
              <a:buSzPts val="1400"/>
              <a:buFont typeface="Helvetica Neue Light"/>
              <a:buChar char="➢"/>
            </a:pPr>
            <a:r>
              <a:rPr lang="en-US">
                <a:solidFill>
                  <a:schemeClr val="dk1"/>
                </a:solidFill>
                <a:latin typeface="Helvetica Neue Light"/>
                <a:ea typeface="Helvetica Neue Light"/>
                <a:cs typeface="Helvetica Neue Light"/>
                <a:sym typeface="Helvetica Neue Light"/>
              </a:rPr>
              <a:t>ARBOGEN network &amp; international collaborations</a:t>
            </a:r>
            <a:endParaRPr>
              <a:solidFill>
                <a:schemeClr val="dk1"/>
              </a:solidFill>
              <a:latin typeface="Helvetica Neue Light"/>
              <a:ea typeface="Helvetica Neue Light"/>
              <a:cs typeface="Helvetica Neue Light"/>
              <a:sym typeface="Helvetica Neue Light"/>
            </a:endParaRPr>
          </a:p>
          <a:p>
            <a:pPr indent="-317500" lvl="0" marL="457200" rtl="0" algn="l">
              <a:lnSpc>
                <a:spcPct val="115000"/>
              </a:lnSpc>
              <a:spcBef>
                <a:spcPts val="1000"/>
              </a:spcBef>
              <a:spcAft>
                <a:spcPts val="0"/>
              </a:spcAft>
              <a:buSzPts val="1400"/>
              <a:buFont typeface="Helvetica Neue Light"/>
              <a:buChar char="➢"/>
            </a:pPr>
            <a:r>
              <a:rPr lang="en-US">
                <a:solidFill>
                  <a:schemeClr val="dk1"/>
                </a:solidFill>
                <a:latin typeface="Helvetica Neue Light"/>
                <a:ea typeface="Helvetica Neue Light"/>
                <a:cs typeface="Helvetica Neue Light"/>
                <a:sym typeface="Helvetica Neue Light"/>
              </a:rPr>
              <a:t>Large-scale genomic tracking of DENV</a:t>
            </a:r>
            <a:endParaRPr>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t/>
            </a:r>
            <a:endParaRPr>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t/>
            </a:r>
            <a:endParaRPr>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t/>
            </a:r>
            <a:endParaRPr>
              <a:latin typeface="Helvetica Neue Light"/>
              <a:ea typeface="Helvetica Neue Light"/>
              <a:cs typeface="Helvetica Neue Light"/>
              <a:sym typeface="Helvetica Neue Light"/>
            </a:endParaRPr>
          </a:p>
        </p:txBody>
      </p:sp>
      <p:pic>
        <p:nvPicPr>
          <p:cNvPr id="669" name="Google Shape;669;h11a342068904e6d2_0_527" title="Screenshot from 2026-10-07 15-29-00.png"/>
          <p:cNvPicPr preferRelativeResize="0"/>
          <p:nvPr/>
        </p:nvPicPr>
        <p:blipFill>
          <a:blip r:embed="rId6">
            <a:alphaModFix/>
          </a:blip>
          <a:stretch>
            <a:fillRect/>
          </a:stretch>
        </p:blipFill>
        <p:spPr>
          <a:xfrm>
            <a:off x="6369697" y="2101853"/>
            <a:ext cx="773695" cy="876225"/>
          </a:xfrm>
          <a:prstGeom prst="rect">
            <a:avLst/>
          </a:prstGeom>
          <a:noFill/>
          <a:ln>
            <a:noFill/>
          </a:ln>
        </p:spPr>
      </p:pic>
      <p:pic>
        <p:nvPicPr>
          <p:cNvPr id="670" name="Google Shape;670;h11a342068904e6d2_0_527" title="Screenshot from 2026-10-07 15-28-42.png"/>
          <p:cNvPicPr preferRelativeResize="0"/>
          <p:nvPr/>
        </p:nvPicPr>
        <p:blipFill>
          <a:blip r:embed="rId7">
            <a:alphaModFix/>
          </a:blip>
          <a:stretch>
            <a:fillRect/>
          </a:stretch>
        </p:blipFill>
        <p:spPr>
          <a:xfrm>
            <a:off x="5518375" y="1102341"/>
            <a:ext cx="3423275" cy="1007150"/>
          </a:xfrm>
          <a:prstGeom prst="rect">
            <a:avLst/>
          </a:prstGeom>
          <a:noFill/>
          <a:ln>
            <a:noFill/>
          </a:ln>
        </p:spPr>
      </p:pic>
      <p:pic>
        <p:nvPicPr>
          <p:cNvPr id="671" name="Google Shape;671;h11a342068904e6d2_0_527"/>
          <p:cNvPicPr preferRelativeResize="0"/>
          <p:nvPr/>
        </p:nvPicPr>
        <p:blipFill rotWithShape="1">
          <a:blip r:embed="rId8">
            <a:alphaModFix/>
          </a:blip>
          <a:srcRect b="44721" l="31346" r="44114" t="5357"/>
          <a:stretch/>
        </p:blipFill>
        <p:spPr>
          <a:xfrm>
            <a:off x="7293225" y="2130379"/>
            <a:ext cx="617274" cy="706351"/>
          </a:xfrm>
          <a:prstGeom prst="rect">
            <a:avLst/>
          </a:prstGeom>
          <a:noFill/>
          <a:ln>
            <a:noFill/>
          </a:ln>
        </p:spPr>
      </p:pic>
      <p:pic>
        <p:nvPicPr>
          <p:cNvPr id="672" name="Google Shape;672;h11a342068904e6d2_0_527"/>
          <p:cNvPicPr preferRelativeResize="0"/>
          <p:nvPr/>
        </p:nvPicPr>
        <p:blipFill>
          <a:blip r:embed="rId9">
            <a:alphaModFix/>
          </a:blip>
          <a:stretch>
            <a:fillRect/>
          </a:stretch>
        </p:blipFill>
        <p:spPr>
          <a:xfrm>
            <a:off x="8192973" y="2124815"/>
            <a:ext cx="706373" cy="706350"/>
          </a:xfrm>
          <a:prstGeom prst="rect">
            <a:avLst/>
          </a:prstGeom>
          <a:noFill/>
          <a:ln>
            <a:noFill/>
          </a:ln>
        </p:spPr>
      </p:pic>
      <p:sp>
        <p:nvSpPr>
          <p:cNvPr id="673" name="Google Shape;673;h11a342068904e6d2_0_527"/>
          <p:cNvSpPr txBox="1"/>
          <p:nvPr/>
        </p:nvSpPr>
        <p:spPr>
          <a:xfrm>
            <a:off x="7295750" y="2773338"/>
            <a:ext cx="1335300" cy="27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400">
                <a:solidFill>
                  <a:schemeClr val="dk1"/>
                </a:solidFill>
              </a:rPr>
              <a:t>Pr. M-C. Jaffar &amp; Dr. Etienne Frumence</a:t>
            </a:r>
            <a:endParaRPr b="1" sz="400">
              <a:solidFill>
                <a:schemeClr val="dk1"/>
              </a:solidFill>
            </a:endParaRPr>
          </a:p>
          <a:p>
            <a:pPr indent="0" lvl="0" marL="0" rtl="0" algn="ctr">
              <a:spcBef>
                <a:spcPts val="0"/>
              </a:spcBef>
              <a:spcAft>
                <a:spcPts val="0"/>
              </a:spcAft>
              <a:buNone/>
            </a:pPr>
            <a:r>
              <a:rPr b="1" lang="en-US" sz="400">
                <a:solidFill>
                  <a:schemeClr val="dk1"/>
                </a:solidFill>
              </a:rPr>
              <a:t>CHU La Réunion</a:t>
            </a:r>
            <a:endParaRPr b="1" sz="400">
              <a:solidFill>
                <a:schemeClr val="dk1"/>
              </a:solidFill>
            </a:endParaRPr>
          </a:p>
        </p:txBody>
      </p:sp>
      <p:pic>
        <p:nvPicPr>
          <p:cNvPr id="674" name="Google Shape;674;h11a342068904e6d2_0_527"/>
          <p:cNvPicPr preferRelativeResize="0"/>
          <p:nvPr/>
        </p:nvPicPr>
        <p:blipFill>
          <a:blip r:embed="rId10">
            <a:alphaModFix/>
          </a:blip>
          <a:stretch>
            <a:fillRect/>
          </a:stretch>
        </p:blipFill>
        <p:spPr>
          <a:xfrm>
            <a:off x="7319672" y="3089223"/>
            <a:ext cx="646650" cy="646625"/>
          </a:xfrm>
          <a:prstGeom prst="rect">
            <a:avLst/>
          </a:prstGeom>
          <a:noFill/>
          <a:ln>
            <a:noFill/>
          </a:ln>
        </p:spPr>
      </p:pic>
      <p:pic>
        <p:nvPicPr>
          <p:cNvPr id="675" name="Google Shape;675;h11a342068904e6d2_0_527"/>
          <p:cNvPicPr preferRelativeResize="0"/>
          <p:nvPr/>
        </p:nvPicPr>
        <p:blipFill rotWithShape="1">
          <a:blip r:embed="rId11">
            <a:alphaModFix/>
          </a:blip>
          <a:srcRect b="6244" l="0" r="0" t="0"/>
          <a:stretch/>
        </p:blipFill>
        <p:spPr>
          <a:xfrm>
            <a:off x="8257300" y="3057834"/>
            <a:ext cx="548700" cy="627879"/>
          </a:xfrm>
          <a:prstGeom prst="rect">
            <a:avLst/>
          </a:prstGeom>
          <a:noFill/>
          <a:ln>
            <a:noFill/>
          </a:ln>
        </p:spPr>
      </p:pic>
      <p:sp>
        <p:nvSpPr>
          <p:cNvPr id="676" name="Google Shape;676;h11a342068904e6d2_0_527"/>
          <p:cNvSpPr txBox="1"/>
          <p:nvPr/>
        </p:nvSpPr>
        <p:spPr>
          <a:xfrm>
            <a:off x="7316450" y="3684302"/>
            <a:ext cx="1467000" cy="12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400">
                <a:solidFill>
                  <a:schemeClr val="dk1"/>
                </a:solidFill>
              </a:rPr>
              <a:t>Dr. Margarita Gelvez-Ramirez &amp; Pr. Luis Angel Villar</a:t>
            </a:r>
            <a:endParaRPr b="1" sz="400">
              <a:solidFill>
                <a:schemeClr val="dk1"/>
              </a:solidFill>
            </a:endParaRPr>
          </a:p>
          <a:p>
            <a:pPr indent="0" lvl="0" marL="0" rtl="0" algn="ctr">
              <a:spcBef>
                <a:spcPts val="0"/>
              </a:spcBef>
              <a:spcAft>
                <a:spcPts val="0"/>
              </a:spcAft>
              <a:buNone/>
            </a:pPr>
            <a:r>
              <a:rPr b="1" lang="en-US" sz="400">
                <a:solidFill>
                  <a:schemeClr val="dk1"/>
                </a:solidFill>
              </a:rPr>
              <a:t>CDI - Bucaramanga Colombia</a:t>
            </a:r>
            <a:endParaRPr b="1" sz="400">
              <a:solidFill>
                <a:schemeClr val="dk1"/>
              </a:solidFill>
            </a:endParaRPr>
          </a:p>
        </p:txBody>
      </p:sp>
      <p:pic>
        <p:nvPicPr>
          <p:cNvPr id="677" name="Google Shape;677;h11a342068904e6d2_0_527"/>
          <p:cNvPicPr preferRelativeResize="0"/>
          <p:nvPr/>
        </p:nvPicPr>
        <p:blipFill rotWithShape="1">
          <a:blip r:embed="rId12">
            <a:alphaModFix/>
          </a:blip>
          <a:srcRect b="0" l="0" r="0" t="47330"/>
          <a:stretch/>
        </p:blipFill>
        <p:spPr>
          <a:xfrm>
            <a:off x="5478626" y="3188538"/>
            <a:ext cx="1600350" cy="842901"/>
          </a:xfrm>
          <a:prstGeom prst="rect">
            <a:avLst/>
          </a:prstGeom>
          <a:noFill/>
          <a:ln>
            <a:noFill/>
          </a:ln>
        </p:spPr>
      </p:pic>
      <p:pic>
        <p:nvPicPr>
          <p:cNvPr id="678" name="Google Shape;678;h11a342068904e6d2_0_527"/>
          <p:cNvPicPr preferRelativeResize="0"/>
          <p:nvPr/>
        </p:nvPicPr>
        <p:blipFill>
          <a:blip r:embed="rId13">
            <a:alphaModFix/>
          </a:blip>
          <a:stretch>
            <a:fillRect/>
          </a:stretch>
        </p:blipFill>
        <p:spPr>
          <a:xfrm>
            <a:off x="6524502" y="3873073"/>
            <a:ext cx="554467" cy="521200"/>
          </a:xfrm>
          <a:prstGeom prst="rect">
            <a:avLst/>
          </a:prstGeom>
          <a:noFill/>
          <a:ln>
            <a:noFill/>
          </a:ln>
        </p:spPr>
      </p:pic>
      <p:pic>
        <p:nvPicPr>
          <p:cNvPr id="679" name="Google Shape;679;h11a342068904e6d2_0_527"/>
          <p:cNvPicPr preferRelativeResize="0"/>
          <p:nvPr/>
        </p:nvPicPr>
        <p:blipFill>
          <a:blip r:embed="rId14">
            <a:alphaModFix/>
          </a:blip>
          <a:stretch>
            <a:fillRect/>
          </a:stretch>
        </p:blipFill>
        <p:spPr>
          <a:xfrm>
            <a:off x="5951200" y="3884014"/>
            <a:ext cx="499300" cy="499321"/>
          </a:xfrm>
          <a:prstGeom prst="rect">
            <a:avLst/>
          </a:prstGeom>
          <a:noFill/>
          <a:ln>
            <a:noFill/>
          </a:ln>
        </p:spPr>
      </p:pic>
      <p:pic>
        <p:nvPicPr>
          <p:cNvPr id="680" name="Google Shape;680;h11a342068904e6d2_0_527"/>
          <p:cNvPicPr preferRelativeResize="0"/>
          <p:nvPr/>
        </p:nvPicPr>
        <p:blipFill rotWithShape="1">
          <a:blip r:embed="rId15">
            <a:alphaModFix/>
          </a:blip>
          <a:srcRect b="0" l="0" r="0" t="21073"/>
          <a:stretch/>
        </p:blipFill>
        <p:spPr>
          <a:xfrm>
            <a:off x="5382463" y="3844340"/>
            <a:ext cx="482063" cy="494400"/>
          </a:xfrm>
          <a:prstGeom prst="rect">
            <a:avLst/>
          </a:prstGeom>
          <a:noFill/>
          <a:ln>
            <a:noFill/>
          </a:ln>
        </p:spPr>
      </p:pic>
      <p:sp>
        <p:nvSpPr>
          <p:cNvPr id="681" name="Google Shape;681;h11a342068904e6d2_0_527"/>
          <p:cNvSpPr txBox="1"/>
          <p:nvPr/>
        </p:nvSpPr>
        <p:spPr>
          <a:xfrm>
            <a:off x="5808505" y="4358084"/>
            <a:ext cx="850500" cy="27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600">
                <a:solidFill>
                  <a:schemeClr val="dk1"/>
                </a:solidFill>
              </a:rPr>
              <a:t>CNR Arbovirus - UVE Marseille</a:t>
            </a:r>
            <a:endParaRPr b="1" sz="600">
              <a:solidFill>
                <a:schemeClr val="dk1"/>
              </a:solidFill>
            </a:endParaRPr>
          </a:p>
        </p:txBody>
      </p:sp>
      <p:pic>
        <p:nvPicPr>
          <p:cNvPr id="682" name="Google Shape;682;h11a342068904e6d2_0_527"/>
          <p:cNvPicPr preferRelativeResize="0"/>
          <p:nvPr/>
        </p:nvPicPr>
        <p:blipFill rotWithShape="1">
          <a:blip r:embed="rId16">
            <a:alphaModFix/>
          </a:blip>
          <a:srcRect b="34779" l="40171" r="17601" t="7621"/>
          <a:stretch/>
        </p:blipFill>
        <p:spPr>
          <a:xfrm>
            <a:off x="7655133" y="4025117"/>
            <a:ext cx="663132" cy="521201"/>
          </a:xfrm>
          <a:prstGeom prst="rect">
            <a:avLst/>
          </a:prstGeom>
          <a:noFill/>
          <a:ln>
            <a:noFill/>
          </a:ln>
        </p:spPr>
      </p:pic>
      <p:sp>
        <p:nvSpPr>
          <p:cNvPr id="683" name="Google Shape;683;h11a342068904e6d2_0_527"/>
          <p:cNvSpPr txBox="1"/>
          <p:nvPr/>
        </p:nvSpPr>
        <p:spPr>
          <a:xfrm>
            <a:off x="7504546" y="4486212"/>
            <a:ext cx="971100" cy="25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500">
                <a:solidFill>
                  <a:schemeClr val="dk1"/>
                </a:solidFill>
                <a:latin typeface="Helvetica Neue"/>
                <a:ea typeface="Helvetica Neue"/>
                <a:cs typeface="Helvetica Neue"/>
                <a:sym typeface="Helvetica Neue"/>
              </a:rPr>
              <a:t>Dr. G. Piorkowski</a:t>
            </a:r>
            <a:endParaRPr b="1" sz="500">
              <a:solidFill>
                <a:schemeClr val="dk1"/>
              </a:solidFill>
              <a:latin typeface="Helvetica Neue"/>
              <a:ea typeface="Helvetica Neue"/>
              <a:cs typeface="Helvetica Neue"/>
              <a:sym typeface="Helvetica Neue"/>
            </a:endParaRPr>
          </a:p>
          <a:p>
            <a:pPr indent="0" lvl="0" marL="0" rtl="0" algn="ctr">
              <a:spcBef>
                <a:spcPts val="0"/>
              </a:spcBef>
              <a:spcAft>
                <a:spcPts val="0"/>
              </a:spcAft>
              <a:buNone/>
            </a:pPr>
            <a:r>
              <a:rPr b="1" lang="en-US" sz="500">
                <a:solidFill>
                  <a:schemeClr val="dk1"/>
                </a:solidFill>
                <a:latin typeface="Helvetica Neue"/>
                <a:ea typeface="Helvetica Neue"/>
                <a:cs typeface="Helvetica Neue"/>
                <a:sym typeface="Helvetica Neue"/>
              </a:rPr>
              <a:t>Plateforme NGS</a:t>
            </a:r>
            <a:endParaRPr b="1" sz="500">
              <a:solidFill>
                <a:schemeClr val="dk1"/>
              </a:solidFill>
              <a:latin typeface="Helvetica Neue"/>
              <a:ea typeface="Helvetica Neue"/>
              <a:cs typeface="Helvetica Neue"/>
              <a:sym typeface="Helvetica Neue"/>
            </a:endParaRPr>
          </a:p>
          <a:p>
            <a:pPr indent="0" lvl="0" marL="0" rtl="0" algn="ctr">
              <a:spcBef>
                <a:spcPts val="0"/>
              </a:spcBef>
              <a:spcAft>
                <a:spcPts val="0"/>
              </a:spcAft>
              <a:buNone/>
            </a:pPr>
            <a:r>
              <a:rPr b="1" lang="en-US" sz="500">
                <a:solidFill>
                  <a:schemeClr val="dk1"/>
                </a:solidFill>
                <a:latin typeface="Helvetica Neue"/>
                <a:ea typeface="Helvetica Neue"/>
                <a:cs typeface="Helvetica Neue"/>
                <a:sym typeface="Helvetica Neue"/>
              </a:rPr>
              <a:t>UVE Marseille</a:t>
            </a:r>
            <a:endParaRPr b="1" sz="500">
              <a:solidFill>
                <a:schemeClr val="dk1"/>
              </a:solidFill>
              <a:latin typeface="Helvetica Neue"/>
              <a:ea typeface="Helvetica Neue"/>
              <a:cs typeface="Helvetica Neue"/>
              <a:sym typeface="Helvetica Neue"/>
            </a:endParaRPr>
          </a:p>
        </p:txBody>
      </p:sp>
      <p:sp>
        <p:nvSpPr>
          <p:cNvPr id="684" name="Google Shape;684;h11a342068904e6d2_0_527"/>
          <p:cNvSpPr txBox="1"/>
          <p:nvPr/>
        </p:nvSpPr>
        <p:spPr>
          <a:xfrm>
            <a:off x="5968019" y="675975"/>
            <a:ext cx="3042000" cy="14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solidFill>
                  <a:srgbClr val="FF9900"/>
                </a:solidFill>
              </a:rPr>
              <a:t>ARBOGEN Consortium</a:t>
            </a:r>
            <a:endParaRPr b="1" sz="1700">
              <a:solidFill>
                <a:srgbClr val="FF990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grpSp>
        <p:nvGrpSpPr>
          <p:cNvPr id="689" name="Google Shape;689;h11a342068904e6d2_0_579"/>
          <p:cNvGrpSpPr/>
          <p:nvPr/>
        </p:nvGrpSpPr>
        <p:grpSpPr>
          <a:xfrm>
            <a:off x="422825" y="2221772"/>
            <a:ext cx="2440175" cy="2302057"/>
            <a:chOff x="422825" y="2221772"/>
            <a:chExt cx="2440175" cy="2302057"/>
          </a:xfrm>
        </p:grpSpPr>
        <p:pic>
          <p:nvPicPr>
            <p:cNvPr id="690" name="Google Shape;690;h11a342068904e6d2_0_579" title="Screenshot from 2026-10-07 11-19-41.png"/>
            <p:cNvPicPr preferRelativeResize="0"/>
            <p:nvPr/>
          </p:nvPicPr>
          <p:blipFill>
            <a:blip r:embed="rId3">
              <a:alphaModFix/>
            </a:blip>
            <a:stretch>
              <a:fillRect/>
            </a:stretch>
          </p:blipFill>
          <p:spPr>
            <a:xfrm>
              <a:off x="422825" y="2221772"/>
              <a:ext cx="2440175" cy="2252975"/>
            </a:xfrm>
            <a:prstGeom prst="rect">
              <a:avLst/>
            </a:prstGeom>
            <a:noFill/>
            <a:ln>
              <a:noFill/>
            </a:ln>
          </p:spPr>
        </p:pic>
        <p:cxnSp>
          <p:nvCxnSpPr>
            <p:cNvPr id="691" name="Google Shape;691;h11a342068904e6d2_0_579"/>
            <p:cNvCxnSpPr/>
            <p:nvPr/>
          </p:nvCxnSpPr>
          <p:spPr>
            <a:xfrm flipH="1">
              <a:off x="1711781" y="4369930"/>
              <a:ext cx="3300" cy="153900"/>
            </a:xfrm>
            <a:prstGeom prst="straightConnector1">
              <a:avLst/>
            </a:prstGeom>
            <a:noFill/>
            <a:ln cap="flat" cmpd="sng" w="28575">
              <a:solidFill>
                <a:schemeClr val="lt1"/>
              </a:solidFill>
              <a:prstDash val="solid"/>
              <a:round/>
              <a:headEnd len="med" w="med" type="none"/>
              <a:tailEnd len="med" w="med" type="none"/>
            </a:ln>
          </p:spPr>
        </p:cxnSp>
      </p:grpSp>
      <p:sp>
        <p:nvSpPr>
          <p:cNvPr id="692" name="Google Shape;692;h11a342068904e6d2_0_579"/>
          <p:cNvSpPr/>
          <p:nvPr/>
        </p:nvSpPr>
        <p:spPr>
          <a:xfrm>
            <a:off x="2866222" y="2456042"/>
            <a:ext cx="1467000" cy="5811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3" name="Google Shape;693;h11a342068904e6d2_0_579"/>
          <p:cNvSpPr/>
          <p:nvPr/>
        </p:nvSpPr>
        <p:spPr>
          <a:xfrm>
            <a:off x="0" y="0"/>
            <a:ext cx="9144000" cy="629400"/>
          </a:xfrm>
          <a:prstGeom prst="rect">
            <a:avLst/>
          </a:prstGeom>
          <a:solidFill>
            <a:srgbClr val="1C4587"/>
          </a:solidFill>
          <a:ln cap="flat" cmpd="sng" w="952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4" name="Google Shape;694;h11a342068904e6d2_0_579"/>
          <p:cNvSpPr txBox="1"/>
          <p:nvPr/>
        </p:nvSpPr>
        <p:spPr>
          <a:xfrm>
            <a:off x="219075" y="63350"/>
            <a:ext cx="8763000" cy="48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chemeClr val="lt1"/>
                </a:solidFill>
                <a:latin typeface="Helvetica Neue"/>
                <a:ea typeface="Helvetica Neue"/>
                <a:cs typeface="Helvetica Neue"/>
                <a:sym typeface="Helvetica Neue"/>
              </a:rPr>
              <a:t>Aim 1</a:t>
            </a:r>
            <a:endParaRPr b="1" sz="2200">
              <a:solidFill>
                <a:schemeClr val="lt1"/>
              </a:solidFill>
              <a:latin typeface="Helvetica Neue"/>
              <a:ea typeface="Helvetica Neue"/>
              <a:cs typeface="Helvetica Neue"/>
              <a:sym typeface="Helvetica Neue"/>
            </a:endParaRPr>
          </a:p>
        </p:txBody>
      </p:sp>
      <p:sp>
        <p:nvSpPr>
          <p:cNvPr id="695" name="Google Shape;695;h11a342068904e6d2_0_5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696" name="Google Shape;696;h11a342068904e6d2_0_579" title="Screenshot from 2026-10-06 15-26-29.png"/>
          <p:cNvPicPr preferRelativeResize="0"/>
          <p:nvPr/>
        </p:nvPicPr>
        <p:blipFill rotWithShape="1">
          <a:blip r:embed="rId4">
            <a:alphaModFix/>
          </a:blip>
          <a:srcRect b="88820" l="0" r="86025" t="0"/>
          <a:stretch/>
        </p:blipFill>
        <p:spPr>
          <a:xfrm>
            <a:off x="2949384" y="2536935"/>
            <a:ext cx="1277848" cy="393600"/>
          </a:xfrm>
          <a:prstGeom prst="rect">
            <a:avLst/>
          </a:prstGeom>
          <a:noFill/>
          <a:ln>
            <a:noFill/>
          </a:ln>
        </p:spPr>
      </p:pic>
      <p:cxnSp>
        <p:nvCxnSpPr>
          <p:cNvPr id="697" name="Google Shape;697;h11a342068904e6d2_0_579"/>
          <p:cNvCxnSpPr>
            <a:endCxn id="698" idx="0"/>
          </p:cNvCxnSpPr>
          <p:nvPr/>
        </p:nvCxnSpPr>
        <p:spPr>
          <a:xfrm flipH="1">
            <a:off x="1695633" y="4354825"/>
            <a:ext cx="1800" cy="204300"/>
          </a:xfrm>
          <a:prstGeom prst="straightConnector1">
            <a:avLst/>
          </a:prstGeom>
          <a:noFill/>
          <a:ln cap="flat" cmpd="sng" w="19050">
            <a:solidFill>
              <a:schemeClr val="dk2"/>
            </a:solidFill>
            <a:prstDash val="solid"/>
            <a:round/>
            <a:headEnd len="med" w="med" type="none"/>
            <a:tailEnd len="med" w="med" type="stealth"/>
          </a:ln>
        </p:spPr>
      </p:cxnSp>
      <p:sp>
        <p:nvSpPr>
          <p:cNvPr id="698" name="Google Shape;698;h11a342068904e6d2_0_579"/>
          <p:cNvSpPr/>
          <p:nvPr/>
        </p:nvSpPr>
        <p:spPr>
          <a:xfrm>
            <a:off x="1100883" y="4559125"/>
            <a:ext cx="1189500" cy="435900"/>
          </a:xfrm>
          <a:prstGeom prst="roundRect">
            <a:avLst>
              <a:gd fmla="val 16667" name="adj"/>
            </a:avLst>
          </a:prstGeom>
          <a:solidFill>
            <a:schemeClr val="lt1"/>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rgbClr val="073763"/>
                </a:solidFill>
                <a:latin typeface="Helvetica Neue"/>
                <a:ea typeface="Helvetica Neue"/>
                <a:cs typeface="Helvetica Neue"/>
                <a:sym typeface="Helvetica Neue"/>
              </a:rPr>
              <a:t>Aims 2 &amp; 3</a:t>
            </a:r>
            <a:endParaRPr b="1">
              <a:solidFill>
                <a:srgbClr val="073763"/>
              </a:solidFill>
              <a:latin typeface="Helvetica Neue"/>
              <a:ea typeface="Helvetica Neue"/>
              <a:cs typeface="Helvetica Neue"/>
              <a:sym typeface="Helvetica Neue"/>
            </a:endParaRPr>
          </a:p>
        </p:txBody>
      </p:sp>
      <p:cxnSp>
        <p:nvCxnSpPr>
          <p:cNvPr id="699" name="Google Shape;699;h11a342068904e6d2_0_579"/>
          <p:cNvCxnSpPr/>
          <p:nvPr/>
        </p:nvCxnSpPr>
        <p:spPr>
          <a:xfrm flipH="1" rot="10800000">
            <a:off x="2434331" y="3864263"/>
            <a:ext cx="785400" cy="15600"/>
          </a:xfrm>
          <a:prstGeom prst="straightConnector1">
            <a:avLst/>
          </a:prstGeom>
          <a:noFill/>
          <a:ln cap="flat" cmpd="sng" w="28575">
            <a:solidFill>
              <a:schemeClr val="lt1"/>
            </a:solidFill>
            <a:prstDash val="solid"/>
            <a:round/>
            <a:headEnd len="med" w="med" type="none"/>
            <a:tailEnd len="med" w="med" type="none"/>
          </a:ln>
        </p:spPr>
      </p:cxnSp>
      <p:sp>
        <p:nvSpPr>
          <p:cNvPr id="700" name="Google Shape;700;h11a342068904e6d2_0_579"/>
          <p:cNvSpPr txBox="1"/>
          <p:nvPr/>
        </p:nvSpPr>
        <p:spPr>
          <a:xfrm>
            <a:off x="325275" y="798937"/>
            <a:ext cx="5319600" cy="189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US">
                <a:latin typeface="Helvetica Neue Light"/>
                <a:ea typeface="Helvetica Neue Light"/>
                <a:cs typeface="Helvetica Neue Light"/>
                <a:sym typeface="Helvetica Neue Light"/>
              </a:rPr>
              <a:t>(1) Assessing </a:t>
            </a:r>
            <a:r>
              <a:rPr lang="en-US" u="sng">
                <a:latin typeface="Helvetica Neue Light"/>
                <a:ea typeface="Helvetica Neue Light"/>
                <a:cs typeface="Helvetica Neue Light"/>
                <a:sym typeface="Helvetica Neue Light"/>
              </a:rPr>
              <a:t>DENV global circulating genetic diversity</a:t>
            </a:r>
            <a:endParaRPr>
              <a:latin typeface="Helvetica Neue Light"/>
              <a:ea typeface="Helvetica Neue Light"/>
              <a:cs typeface="Helvetica Neue Light"/>
              <a:sym typeface="Helvetica Neue Light"/>
            </a:endParaRPr>
          </a:p>
          <a:p>
            <a:pPr indent="-317500" lvl="0" marL="457200" rtl="0" algn="l">
              <a:lnSpc>
                <a:spcPct val="115000"/>
              </a:lnSpc>
              <a:spcBef>
                <a:spcPts val="1000"/>
              </a:spcBef>
              <a:spcAft>
                <a:spcPts val="0"/>
              </a:spcAft>
              <a:buSzPts val="1400"/>
              <a:buFont typeface="Helvetica Neue Light"/>
              <a:buChar char="➢"/>
            </a:pPr>
            <a:r>
              <a:rPr lang="en-US">
                <a:solidFill>
                  <a:schemeClr val="dk1"/>
                </a:solidFill>
                <a:latin typeface="Helvetica Neue Light"/>
                <a:ea typeface="Helvetica Neue Light"/>
                <a:cs typeface="Helvetica Neue Light"/>
                <a:sym typeface="Helvetica Neue Light"/>
              </a:rPr>
              <a:t>ARBOGEN network &amp; international collaborations</a:t>
            </a:r>
            <a:endParaRPr>
              <a:solidFill>
                <a:schemeClr val="dk1"/>
              </a:solidFill>
              <a:latin typeface="Helvetica Neue Light"/>
              <a:ea typeface="Helvetica Neue Light"/>
              <a:cs typeface="Helvetica Neue Light"/>
              <a:sym typeface="Helvetica Neue Light"/>
            </a:endParaRPr>
          </a:p>
          <a:p>
            <a:pPr indent="-317500" lvl="0" marL="457200" rtl="0" algn="l">
              <a:lnSpc>
                <a:spcPct val="115000"/>
              </a:lnSpc>
              <a:spcBef>
                <a:spcPts val="1000"/>
              </a:spcBef>
              <a:spcAft>
                <a:spcPts val="0"/>
              </a:spcAft>
              <a:buSzPts val="1400"/>
              <a:buFont typeface="Helvetica Neue Light"/>
              <a:buChar char="➢"/>
            </a:pPr>
            <a:r>
              <a:rPr lang="en-US">
                <a:solidFill>
                  <a:schemeClr val="dk1"/>
                </a:solidFill>
                <a:latin typeface="Helvetica Neue Light"/>
                <a:ea typeface="Helvetica Neue Light"/>
                <a:cs typeface="Helvetica Neue Light"/>
                <a:sym typeface="Helvetica Neue Light"/>
              </a:rPr>
              <a:t>Large-scale genomic tracking of DENV</a:t>
            </a:r>
            <a:endParaRPr>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t/>
            </a:r>
            <a:endParaRPr>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t/>
            </a:r>
            <a:endParaRPr>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t/>
            </a:r>
            <a:endParaRPr>
              <a:latin typeface="Helvetica Neue Light"/>
              <a:ea typeface="Helvetica Neue Light"/>
              <a:cs typeface="Helvetica Neue Light"/>
              <a:sym typeface="Helvetica Neue Light"/>
            </a:endParaRPr>
          </a:p>
        </p:txBody>
      </p:sp>
      <p:sp>
        <p:nvSpPr>
          <p:cNvPr id="701" name="Google Shape;701;h11a342068904e6d2_0_579"/>
          <p:cNvSpPr txBox="1"/>
          <p:nvPr/>
        </p:nvSpPr>
        <p:spPr>
          <a:xfrm>
            <a:off x="3125675" y="3249650"/>
            <a:ext cx="4880400" cy="1105200"/>
          </a:xfrm>
          <a:prstGeom prst="rect">
            <a:avLst/>
          </a:prstGeom>
          <a:noFill/>
          <a:ln>
            <a:noFill/>
          </a:ln>
        </p:spPr>
        <p:txBody>
          <a:bodyPr anchorCtr="0" anchor="t" bIns="91425" lIns="91425" spcFirstLastPara="1" rIns="91425" wrap="square" tIns="91425">
            <a:noAutofit/>
          </a:bodyPr>
          <a:lstStyle/>
          <a:p>
            <a:pPr indent="-330200" lvl="0" marL="457200" rtl="0" algn="l">
              <a:spcBef>
                <a:spcPts val="1000"/>
              </a:spcBef>
              <a:spcAft>
                <a:spcPts val="0"/>
              </a:spcAft>
              <a:buClr>
                <a:schemeClr val="dk1"/>
              </a:buClr>
              <a:buSzPts val="1600"/>
              <a:buFont typeface="Helvetica Neue Light"/>
              <a:buChar char="❏"/>
            </a:pPr>
            <a:r>
              <a:rPr lang="en-US" sz="1600">
                <a:solidFill>
                  <a:schemeClr val="dk1"/>
                </a:solidFill>
                <a:latin typeface="Helvetica Neue Light"/>
                <a:ea typeface="Helvetica Neue Light"/>
                <a:cs typeface="Helvetica Neue Light"/>
                <a:sym typeface="Helvetica Neue Light"/>
              </a:rPr>
              <a:t>Systematic assessment of genetic diversity within DENV2</a:t>
            </a:r>
            <a:endParaRPr sz="1600">
              <a:solidFill>
                <a:schemeClr val="dk1"/>
              </a:solidFill>
              <a:latin typeface="Helvetica Neue Light"/>
              <a:ea typeface="Helvetica Neue Light"/>
              <a:cs typeface="Helvetica Neue Light"/>
              <a:sym typeface="Helvetica Neue Light"/>
            </a:endParaRPr>
          </a:p>
          <a:p>
            <a:pPr indent="-330200" lvl="0" marL="457200" rtl="0" algn="l">
              <a:spcBef>
                <a:spcPts val="1000"/>
              </a:spcBef>
              <a:spcAft>
                <a:spcPts val="1000"/>
              </a:spcAft>
              <a:buClr>
                <a:schemeClr val="dk1"/>
              </a:buClr>
              <a:buSzPts val="1600"/>
              <a:buFont typeface="Helvetica Neue Light"/>
              <a:buChar char="❏"/>
            </a:pPr>
            <a:r>
              <a:rPr lang="en-US" sz="1600">
                <a:solidFill>
                  <a:schemeClr val="dk1"/>
                </a:solidFill>
                <a:latin typeface="Helvetica Neue Light"/>
                <a:ea typeface="Helvetica Neue Light"/>
                <a:cs typeface="Helvetica Neue Light"/>
                <a:sym typeface="Helvetica Neue Light"/>
              </a:rPr>
              <a:t>Case studies</a:t>
            </a:r>
            <a:endParaRPr sz="1600">
              <a:solidFill>
                <a:schemeClr val="dk1"/>
              </a:solidFill>
              <a:latin typeface="Helvetica Neue Light"/>
              <a:ea typeface="Helvetica Neue Light"/>
              <a:cs typeface="Helvetica Neue Light"/>
              <a:sym typeface="Helvetica Neue Light"/>
            </a:endParaRPr>
          </a:p>
        </p:txBody>
      </p:sp>
      <p:sp>
        <p:nvSpPr>
          <p:cNvPr id="702" name="Google Shape;702;h11a342068904e6d2_0_579"/>
          <p:cNvSpPr/>
          <p:nvPr/>
        </p:nvSpPr>
        <p:spPr>
          <a:xfrm>
            <a:off x="3159956" y="3324093"/>
            <a:ext cx="390600" cy="288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3" name="Google Shape;703;h11a342068904e6d2_0_579"/>
          <p:cNvSpPr/>
          <p:nvPr/>
        </p:nvSpPr>
        <p:spPr>
          <a:xfrm>
            <a:off x="3154701" y="3936702"/>
            <a:ext cx="390600" cy="288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h11a342068904e6d2_0_597"/>
          <p:cNvSpPr/>
          <p:nvPr/>
        </p:nvSpPr>
        <p:spPr>
          <a:xfrm>
            <a:off x="0" y="0"/>
            <a:ext cx="9144000" cy="629400"/>
          </a:xfrm>
          <a:prstGeom prst="rect">
            <a:avLst/>
          </a:prstGeom>
          <a:solidFill>
            <a:srgbClr val="1C4587"/>
          </a:solidFill>
          <a:ln cap="flat" cmpd="sng" w="952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9" name="Google Shape;709;h11a342068904e6d2_0_597"/>
          <p:cNvSpPr txBox="1"/>
          <p:nvPr/>
        </p:nvSpPr>
        <p:spPr>
          <a:xfrm>
            <a:off x="219075" y="63350"/>
            <a:ext cx="8763000" cy="48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chemeClr val="lt1"/>
                </a:solidFill>
                <a:latin typeface="Helvetica Neue"/>
                <a:ea typeface="Helvetica Neue"/>
                <a:cs typeface="Helvetica Neue"/>
                <a:sym typeface="Helvetica Neue"/>
              </a:rPr>
              <a:t>Aim 2</a:t>
            </a:r>
            <a:endParaRPr b="1" sz="2200">
              <a:solidFill>
                <a:schemeClr val="lt1"/>
              </a:solidFill>
              <a:latin typeface="Helvetica Neue"/>
              <a:ea typeface="Helvetica Neue"/>
              <a:cs typeface="Helvetica Neue"/>
              <a:sym typeface="Helvetica Neue"/>
            </a:endParaRPr>
          </a:p>
        </p:txBody>
      </p:sp>
      <p:sp>
        <p:nvSpPr>
          <p:cNvPr id="710" name="Google Shape;710;h11a342068904e6d2_0_59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711" name="Google Shape;711;h11a342068904e6d2_0_597"/>
          <p:cNvSpPr txBox="1"/>
          <p:nvPr/>
        </p:nvSpPr>
        <p:spPr>
          <a:xfrm>
            <a:off x="325275" y="704705"/>
            <a:ext cx="5319600" cy="189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US">
                <a:latin typeface="Helvetica Neue Light"/>
                <a:ea typeface="Helvetica Neue Light"/>
                <a:cs typeface="Helvetica Neue Light"/>
                <a:sym typeface="Helvetica Neue Light"/>
              </a:rPr>
              <a:t>(2) Identify putative </a:t>
            </a:r>
            <a:r>
              <a:rPr lang="en-US" u="sng">
                <a:latin typeface="Helvetica Neue Light"/>
                <a:ea typeface="Helvetica Neue Light"/>
                <a:cs typeface="Helvetica Neue Light"/>
                <a:sym typeface="Helvetica Neue Light"/>
              </a:rPr>
              <a:t>immune escape variants</a:t>
            </a:r>
            <a:endParaRPr>
              <a:latin typeface="Helvetica Neue Light"/>
              <a:ea typeface="Helvetica Neue Light"/>
              <a:cs typeface="Helvetica Neue Light"/>
              <a:sym typeface="Helvetica Neue Light"/>
            </a:endParaRPr>
          </a:p>
          <a:p>
            <a:pPr indent="-317500" lvl="0" marL="457200" rtl="0" algn="l">
              <a:lnSpc>
                <a:spcPct val="115000"/>
              </a:lnSpc>
              <a:spcBef>
                <a:spcPts val="1000"/>
              </a:spcBef>
              <a:spcAft>
                <a:spcPts val="0"/>
              </a:spcAft>
              <a:buSzPts val="1400"/>
              <a:buFont typeface="Helvetica Neue Light"/>
              <a:buChar char="➢"/>
            </a:pPr>
            <a:r>
              <a:rPr lang="en-US">
                <a:solidFill>
                  <a:schemeClr val="dk1"/>
                </a:solidFill>
                <a:latin typeface="Helvetica Neue Light"/>
                <a:ea typeface="Helvetica Neue Light"/>
                <a:cs typeface="Helvetica Neue Light"/>
                <a:sym typeface="Helvetica Neue Light"/>
              </a:rPr>
              <a:t>On a phylogenetic basis</a:t>
            </a:r>
            <a:endParaRPr>
              <a:solidFill>
                <a:schemeClr val="dk1"/>
              </a:solidFill>
              <a:latin typeface="Helvetica Neue Light"/>
              <a:ea typeface="Helvetica Neue Light"/>
              <a:cs typeface="Helvetica Neue Light"/>
              <a:sym typeface="Helvetica Neue Light"/>
            </a:endParaRPr>
          </a:p>
          <a:p>
            <a:pPr indent="-317500" lvl="0" marL="457200" rtl="0" algn="l">
              <a:lnSpc>
                <a:spcPct val="115000"/>
              </a:lnSpc>
              <a:spcBef>
                <a:spcPts val="1000"/>
              </a:spcBef>
              <a:spcAft>
                <a:spcPts val="0"/>
              </a:spcAft>
              <a:buSzPts val="1400"/>
              <a:buFont typeface="Helvetica Neue Light"/>
              <a:buChar char="➢"/>
            </a:pPr>
            <a:r>
              <a:rPr lang="en-US">
                <a:solidFill>
                  <a:schemeClr val="dk1"/>
                </a:solidFill>
                <a:latin typeface="Helvetica Neue Light"/>
                <a:ea typeface="Helvetica Neue Light"/>
                <a:cs typeface="Helvetica Neue Light"/>
                <a:sym typeface="Helvetica Neue Light"/>
              </a:rPr>
              <a:t>On an experimental basis</a:t>
            </a:r>
            <a:endParaRPr>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t/>
            </a:r>
            <a:endParaRPr>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t/>
            </a:r>
            <a:endParaRPr>
              <a:latin typeface="Helvetica Neue Light"/>
              <a:ea typeface="Helvetica Neue Light"/>
              <a:cs typeface="Helvetica Neue Light"/>
              <a:sym typeface="Helvetica Neue Light"/>
            </a:endParaRPr>
          </a:p>
          <a:p>
            <a:pPr indent="0" lvl="0" marL="0" rtl="0" algn="l">
              <a:lnSpc>
                <a:spcPct val="115000"/>
              </a:lnSpc>
              <a:spcBef>
                <a:spcPts val="0"/>
              </a:spcBef>
              <a:spcAft>
                <a:spcPts val="0"/>
              </a:spcAft>
              <a:buNone/>
            </a:pPr>
            <a:r>
              <a:t/>
            </a:r>
            <a:endParaRPr>
              <a:latin typeface="Helvetica Neue Light"/>
              <a:ea typeface="Helvetica Neue Light"/>
              <a:cs typeface="Helvetica Neue Light"/>
              <a:sym typeface="Helvetica Neue Light"/>
            </a:endParaRPr>
          </a:p>
        </p:txBody>
      </p:sp>
      <p:grpSp>
        <p:nvGrpSpPr>
          <p:cNvPr id="712" name="Google Shape;712;h11a342068904e6d2_0_597"/>
          <p:cNvGrpSpPr/>
          <p:nvPr/>
        </p:nvGrpSpPr>
        <p:grpSpPr>
          <a:xfrm>
            <a:off x="488875" y="2038221"/>
            <a:ext cx="3299448" cy="2096925"/>
            <a:chOff x="488875" y="2124600"/>
            <a:chExt cx="3299448" cy="2096925"/>
          </a:xfrm>
        </p:grpSpPr>
        <p:pic>
          <p:nvPicPr>
            <p:cNvPr id="713" name="Google Shape;713;h11a342068904e6d2_0_597" title="Screenshot from 2026-10-07 13-47-01.png"/>
            <p:cNvPicPr preferRelativeResize="0"/>
            <p:nvPr/>
          </p:nvPicPr>
          <p:blipFill>
            <a:blip r:embed="rId3">
              <a:alphaModFix/>
            </a:blip>
            <a:stretch>
              <a:fillRect/>
            </a:stretch>
          </p:blipFill>
          <p:spPr>
            <a:xfrm>
              <a:off x="488875" y="2124600"/>
              <a:ext cx="2754275" cy="2096925"/>
            </a:xfrm>
            <a:prstGeom prst="rect">
              <a:avLst/>
            </a:prstGeom>
            <a:noFill/>
            <a:ln>
              <a:noFill/>
            </a:ln>
          </p:spPr>
        </p:pic>
        <p:cxnSp>
          <p:nvCxnSpPr>
            <p:cNvPr id="714" name="Google Shape;714;h11a342068904e6d2_0_597"/>
            <p:cNvCxnSpPr/>
            <p:nvPr/>
          </p:nvCxnSpPr>
          <p:spPr>
            <a:xfrm flipH="1" rot="10800000">
              <a:off x="2850523" y="3644388"/>
              <a:ext cx="785400" cy="15600"/>
            </a:xfrm>
            <a:prstGeom prst="straightConnector1">
              <a:avLst/>
            </a:prstGeom>
            <a:noFill/>
            <a:ln cap="flat" cmpd="sng" w="28575">
              <a:solidFill>
                <a:schemeClr val="lt1"/>
              </a:solidFill>
              <a:prstDash val="solid"/>
              <a:round/>
              <a:headEnd len="med" w="med" type="none"/>
              <a:tailEnd len="med" w="med" type="none"/>
            </a:ln>
          </p:spPr>
        </p:cxnSp>
        <p:cxnSp>
          <p:nvCxnSpPr>
            <p:cNvPr id="715" name="Google Shape;715;h11a342068904e6d2_0_597"/>
            <p:cNvCxnSpPr/>
            <p:nvPr/>
          </p:nvCxnSpPr>
          <p:spPr>
            <a:xfrm flipH="1" rot="10800000">
              <a:off x="3002923" y="2571771"/>
              <a:ext cx="785400" cy="15600"/>
            </a:xfrm>
            <a:prstGeom prst="straightConnector1">
              <a:avLst/>
            </a:prstGeom>
            <a:noFill/>
            <a:ln cap="flat" cmpd="sng" w="28575">
              <a:solidFill>
                <a:schemeClr val="lt1"/>
              </a:solidFill>
              <a:prstDash val="solid"/>
              <a:round/>
              <a:headEnd len="med" w="med" type="none"/>
              <a:tailEnd len="med" w="med" type="none"/>
            </a:ln>
          </p:spPr>
        </p:cxnSp>
      </p:grpSp>
      <p:sp>
        <p:nvSpPr>
          <p:cNvPr id="716" name="Google Shape;716;h11a342068904e6d2_0_597"/>
          <p:cNvSpPr txBox="1"/>
          <p:nvPr/>
        </p:nvSpPr>
        <p:spPr>
          <a:xfrm>
            <a:off x="3755729" y="1637320"/>
            <a:ext cx="5002200" cy="3283800"/>
          </a:xfrm>
          <a:prstGeom prst="rect">
            <a:avLst/>
          </a:prstGeom>
          <a:noFill/>
          <a:ln>
            <a:noFill/>
          </a:ln>
        </p:spPr>
        <p:txBody>
          <a:bodyPr anchorCtr="0" anchor="t" bIns="91425" lIns="91425" spcFirstLastPara="1" rIns="91425" wrap="square" tIns="91425">
            <a:spAutoFit/>
          </a:bodyPr>
          <a:lstStyle/>
          <a:p>
            <a:pPr indent="0" lvl="0" marL="0" rtl="0" algn="l">
              <a:spcBef>
                <a:spcPts val="1000"/>
              </a:spcBef>
              <a:spcAft>
                <a:spcPts val="0"/>
              </a:spcAft>
              <a:buNone/>
            </a:pPr>
            <a:r>
              <a:rPr lang="en-US" sz="1300">
                <a:latin typeface="Helvetica Neue Light"/>
                <a:ea typeface="Helvetica Neue Light"/>
                <a:cs typeface="Helvetica Neue Light"/>
                <a:sym typeface="Helvetica Neue Light"/>
              </a:rPr>
              <a:t>Track long-term virus circulation dynamics </a:t>
            </a:r>
            <a:endParaRPr sz="1300">
              <a:latin typeface="Helvetica Neue Light"/>
              <a:ea typeface="Helvetica Neue Light"/>
              <a:cs typeface="Helvetica Neue Light"/>
              <a:sym typeface="Helvetica Neue Light"/>
            </a:endParaRPr>
          </a:p>
          <a:p>
            <a:pPr indent="0" lvl="0" marL="0" rtl="0" algn="l">
              <a:spcBef>
                <a:spcPts val="1000"/>
              </a:spcBef>
              <a:spcAft>
                <a:spcPts val="0"/>
              </a:spcAft>
              <a:buNone/>
            </a:pPr>
            <a:r>
              <a:rPr lang="en-US" sz="1300">
                <a:latin typeface="Helvetica Neue Light"/>
                <a:ea typeface="Helvetica Neue Light"/>
                <a:cs typeface="Helvetica Neue Light"/>
                <a:sym typeface="Helvetica Neue Light"/>
              </a:rPr>
              <a:t>&gt;&gt; Scenarios suggestive of an immune escape mechanism:</a:t>
            </a:r>
            <a:endParaRPr sz="1300">
              <a:latin typeface="Helvetica Neue Light"/>
              <a:ea typeface="Helvetica Neue Light"/>
              <a:cs typeface="Helvetica Neue Light"/>
              <a:sym typeface="Helvetica Neue Light"/>
            </a:endParaRPr>
          </a:p>
          <a:p>
            <a:pPr indent="457200" lvl="0" marL="0" rtl="0" algn="l">
              <a:spcBef>
                <a:spcPts val="1000"/>
              </a:spcBef>
              <a:spcAft>
                <a:spcPts val="0"/>
              </a:spcAft>
              <a:buNone/>
            </a:pPr>
            <a:r>
              <a:rPr lang="en-US" sz="1300">
                <a:latin typeface="Helvetica Neue Light"/>
                <a:ea typeface="Helvetica Neue Light"/>
                <a:cs typeface="Helvetica Neue Light"/>
                <a:sym typeface="Helvetica Neue Light"/>
              </a:rPr>
              <a:t>(i) local replacement between two lineages from the same serotype (switch)</a:t>
            </a:r>
            <a:endParaRPr sz="1300">
              <a:latin typeface="Helvetica Neue Light"/>
              <a:ea typeface="Helvetica Neue Light"/>
              <a:cs typeface="Helvetica Neue Light"/>
              <a:sym typeface="Helvetica Neue Light"/>
            </a:endParaRPr>
          </a:p>
          <a:p>
            <a:pPr indent="457200" lvl="0" marL="0" rtl="0" algn="l">
              <a:spcBef>
                <a:spcPts val="1000"/>
              </a:spcBef>
              <a:spcAft>
                <a:spcPts val="0"/>
              </a:spcAft>
              <a:buNone/>
            </a:pPr>
            <a:r>
              <a:rPr lang="en-US" sz="1300">
                <a:latin typeface="Helvetica Neue Light"/>
                <a:ea typeface="Helvetica Neue Light"/>
                <a:cs typeface="Helvetica Neue Light"/>
                <a:sym typeface="Helvetica Neue Light"/>
              </a:rPr>
              <a:t>(ii) genetic drift within a lineage that has circulated locally over several years (drift)</a:t>
            </a:r>
            <a:endParaRPr sz="1300">
              <a:latin typeface="Helvetica Neue Light"/>
              <a:ea typeface="Helvetica Neue Light"/>
              <a:cs typeface="Helvetica Neue Light"/>
              <a:sym typeface="Helvetica Neue Light"/>
            </a:endParaRPr>
          </a:p>
          <a:p>
            <a:pPr indent="457200" lvl="0" marL="0" rtl="0" algn="l">
              <a:spcBef>
                <a:spcPts val="1000"/>
              </a:spcBef>
              <a:spcAft>
                <a:spcPts val="0"/>
              </a:spcAft>
              <a:buNone/>
            </a:pPr>
            <a:r>
              <a:t/>
            </a:r>
            <a:endParaRPr sz="1300">
              <a:latin typeface="Helvetica Neue Light"/>
              <a:ea typeface="Helvetica Neue Light"/>
              <a:cs typeface="Helvetica Neue Light"/>
              <a:sym typeface="Helvetica Neue Light"/>
            </a:endParaRPr>
          </a:p>
          <a:p>
            <a:pPr indent="457200" lvl="0" marL="0" rtl="0" algn="l">
              <a:spcBef>
                <a:spcPts val="1000"/>
              </a:spcBef>
              <a:spcAft>
                <a:spcPts val="0"/>
              </a:spcAft>
              <a:buNone/>
            </a:pPr>
            <a:r>
              <a:rPr lang="en-US" sz="1300">
                <a:latin typeface="Helvetica Neue Light"/>
                <a:ea typeface="Helvetica Neue Light"/>
                <a:cs typeface="Helvetica Neue Light"/>
                <a:sym typeface="Helvetica Neue Light"/>
              </a:rPr>
              <a:t>Confirm sustained (or re-) circulation in a same population</a:t>
            </a:r>
            <a:endParaRPr sz="1300">
              <a:latin typeface="Helvetica Neue Light"/>
              <a:ea typeface="Helvetica Neue Light"/>
              <a:cs typeface="Helvetica Neue Light"/>
              <a:sym typeface="Helvetica Neue Light"/>
            </a:endParaRPr>
          </a:p>
          <a:p>
            <a:pPr indent="457200" lvl="0" marL="0" rtl="0" algn="l">
              <a:spcBef>
                <a:spcPts val="1000"/>
              </a:spcBef>
              <a:spcAft>
                <a:spcPts val="0"/>
              </a:spcAft>
              <a:buNone/>
            </a:pPr>
            <a:r>
              <a:rPr lang="en-US" sz="1300">
                <a:latin typeface="Helvetica Neue Light"/>
                <a:ea typeface="Helvetica Neue Light"/>
                <a:cs typeface="Helvetica Neue Light"/>
                <a:sym typeface="Helvetica Neue Light"/>
              </a:rPr>
              <a:t>Assess the role of environmental factors</a:t>
            </a:r>
            <a:endParaRPr sz="1300">
              <a:latin typeface="Helvetica Neue Light"/>
              <a:ea typeface="Helvetica Neue Light"/>
              <a:cs typeface="Helvetica Neue Light"/>
              <a:sym typeface="Helvetica Neue Light"/>
            </a:endParaRPr>
          </a:p>
          <a:p>
            <a:pPr indent="0" lvl="0" marL="457200" rtl="0" algn="l">
              <a:spcBef>
                <a:spcPts val="1000"/>
              </a:spcBef>
              <a:spcAft>
                <a:spcPts val="0"/>
              </a:spcAft>
              <a:buNone/>
            </a:pPr>
            <a:r>
              <a:rPr lang="en-US" sz="1300">
                <a:latin typeface="Helvetica Neue Light"/>
                <a:ea typeface="Helvetica Neue Light"/>
                <a:cs typeface="Helvetica Neue Light"/>
                <a:sym typeface="Helvetica Neue Light"/>
              </a:rPr>
              <a:t>Assess for other phenotype changes (replicative fitness, vector competence)</a:t>
            </a:r>
            <a:endParaRPr sz="1300">
              <a:latin typeface="Helvetica Neue Light"/>
              <a:ea typeface="Helvetica Neue Light"/>
              <a:cs typeface="Helvetica Neue Light"/>
              <a:sym typeface="Helvetica Neue Light"/>
            </a:endParaRPr>
          </a:p>
        </p:txBody>
      </p:sp>
      <p:pic>
        <p:nvPicPr>
          <p:cNvPr id="717" name="Google Shape;717;h11a342068904e6d2_0_597"/>
          <p:cNvPicPr preferRelativeResize="0"/>
          <p:nvPr/>
        </p:nvPicPr>
        <p:blipFill>
          <a:blip r:embed="rId4">
            <a:alphaModFix/>
          </a:blip>
          <a:stretch>
            <a:fillRect/>
          </a:stretch>
        </p:blipFill>
        <p:spPr>
          <a:xfrm>
            <a:off x="3653600" y="4012221"/>
            <a:ext cx="450319" cy="393600"/>
          </a:xfrm>
          <a:prstGeom prst="rect">
            <a:avLst/>
          </a:prstGeom>
          <a:noFill/>
          <a:ln>
            <a:noFill/>
          </a:ln>
        </p:spPr>
      </p:pic>
      <p:pic>
        <p:nvPicPr>
          <p:cNvPr id="718" name="Google Shape;718;h11a342068904e6d2_0_597"/>
          <p:cNvPicPr preferRelativeResize="0"/>
          <p:nvPr/>
        </p:nvPicPr>
        <p:blipFill>
          <a:blip r:embed="rId5">
            <a:alphaModFix/>
          </a:blip>
          <a:stretch>
            <a:fillRect/>
          </a:stretch>
        </p:blipFill>
        <p:spPr>
          <a:xfrm>
            <a:off x="8252233" y="56504"/>
            <a:ext cx="680550" cy="680550"/>
          </a:xfrm>
          <a:prstGeom prst="rect">
            <a:avLst/>
          </a:prstGeom>
          <a:noFill/>
          <a:ln>
            <a:noFill/>
          </a:ln>
        </p:spPr>
      </p:pic>
      <p:sp>
        <p:nvSpPr>
          <p:cNvPr id="719" name="Google Shape;719;h11a342068904e6d2_0_597"/>
          <p:cNvSpPr txBox="1"/>
          <p:nvPr/>
        </p:nvSpPr>
        <p:spPr>
          <a:xfrm>
            <a:off x="8113760" y="685647"/>
            <a:ext cx="973200" cy="25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500">
                <a:solidFill>
                  <a:schemeClr val="dk1"/>
                </a:solidFill>
                <a:latin typeface="Helvetica Neue"/>
                <a:ea typeface="Helvetica Neue"/>
                <a:cs typeface="Helvetica Neue"/>
                <a:sym typeface="Helvetica Neue"/>
              </a:rPr>
              <a:t>Dr. Simon Dellicour</a:t>
            </a:r>
            <a:endParaRPr b="1" sz="500">
              <a:solidFill>
                <a:schemeClr val="dk1"/>
              </a:solidFill>
              <a:latin typeface="Helvetica Neue"/>
              <a:ea typeface="Helvetica Neue"/>
              <a:cs typeface="Helvetica Neue"/>
              <a:sym typeface="Helvetica Neue"/>
            </a:endParaRPr>
          </a:p>
          <a:p>
            <a:pPr indent="0" lvl="0" marL="0" rtl="0" algn="ctr">
              <a:spcBef>
                <a:spcPts val="0"/>
              </a:spcBef>
              <a:spcAft>
                <a:spcPts val="0"/>
              </a:spcAft>
              <a:buNone/>
            </a:pPr>
            <a:r>
              <a:rPr b="1" lang="en-US" sz="500">
                <a:solidFill>
                  <a:schemeClr val="dk1"/>
                </a:solidFill>
                <a:latin typeface="Helvetica Neue"/>
                <a:ea typeface="Helvetica Neue"/>
                <a:cs typeface="Helvetica Neue"/>
                <a:sym typeface="Helvetica Neue"/>
              </a:rPr>
              <a:t>SpELL - ULB</a:t>
            </a:r>
            <a:endParaRPr b="1" sz="500">
              <a:solidFill>
                <a:schemeClr val="dk1"/>
              </a:solidFill>
              <a:latin typeface="Helvetica Neue"/>
              <a:ea typeface="Helvetica Neue"/>
              <a:cs typeface="Helvetica Neue"/>
              <a:sym typeface="Helvetica Neue"/>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h11a342068904e6d2_0_612"/>
          <p:cNvSpPr/>
          <p:nvPr/>
        </p:nvSpPr>
        <p:spPr>
          <a:xfrm>
            <a:off x="0" y="0"/>
            <a:ext cx="9144000" cy="629400"/>
          </a:xfrm>
          <a:prstGeom prst="rect">
            <a:avLst/>
          </a:prstGeom>
          <a:solidFill>
            <a:srgbClr val="1C4587"/>
          </a:solidFill>
          <a:ln cap="flat" cmpd="sng" w="952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5" name="Google Shape;725;h11a342068904e6d2_0_612"/>
          <p:cNvSpPr txBox="1"/>
          <p:nvPr/>
        </p:nvSpPr>
        <p:spPr>
          <a:xfrm>
            <a:off x="219075" y="63350"/>
            <a:ext cx="8763000" cy="48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chemeClr val="lt1"/>
                </a:solidFill>
                <a:latin typeface="Helvetica Neue"/>
                <a:ea typeface="Helvetica Neue"/>
                <a:cs typeface="Helvetica Neue"/>
                <a:sym typeface="Helvetica Neue"/>
              </a:rPr>
              <a:t>Study cases</a:t>
            </a:r>
            <a:endParaRPr b="1" sz="2200">
              <a:solidFill>
                <a:schemeClr val="lt1"/>
              </a:solidFill>
              <a:latin typeface="Helvetica Neue"/>
              <a:ea typeface="Helvetica Neue"/>
              <a:cs typeface="Helvetica Neue"/>
              <a:sym typeface="Helvetica Neue"/>
            </a:endParaRPr>
          </a:p>
        </p:txBody>
      </p:sp>
      <p:sp>
        <p:nvSpPr>
          <p:cNvPr id="726" name="Google Shape;726;h11a342068904e6d2_0_612"/>
          <p:cNvSpPr txBox="1"/>
          <p:nvPr/>
        </p:nvSpPr>
        <p:spPr>
          <a:xfrm>
            <a:off x="284200" y="659431"/>
            <a:ext cx="3297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rgbClr val="072863"/>
                </a:solidFill>
              </a:rPr>
              <a:t>Recirculation du DENV2-II en Guadeloupe</a:t>
            </a:r>
            <a:endParaRPr/>
          </a:p>
        </p:txBody>
      </p:sp>
      <p:sp>
        <p:nvSpPr>
          <p:cNvPr id="727" name="Google Shape;727;h11a342068904e6d2_0_612"/>
          <p:cNvSpPr txBox="1"/>
          <p:nvPr/>
        </p:nvSpPr>
        <p:spPr>
          <a:xfrm>
            <a:off x="4428500" y="640881"/>
            <a:ext cx="41034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rgbClr val="072863"/>
                </a:solidFill>
              </a:rPr>
              <a:t>Establishment of DENV2-II in Colombia</a:t>
            </a:r>
            <a:endParaRPr/>
          </a:p>
        </p:txBody>
      </p:sp>
      <p:pic>
        <p:nvPicPr>
          <p:cNvPr id="728" name="Google Shape;728;h11a342068904e6d2_0_612" title="Screenshot from 2026-09-15 15-14-43.png"/>
          <p:cNvPicPr preferRelativeResize="0"/>
          <p:nvPr/>
        </p:nvPicPr>
        <p:blipFill>
          <a:blip r:embed="rId3">
            <a:alphaModFix/>
          </a:blip>
          <a:stretch>
            <a:fillRect/>
          </a:stretch>
        </p:blipFill>
        <p:spPr>
          <a:xfrm>
            <a:off x="437839" y="2202751"/>
            <a:ext cx="3144251" cy="2576700"/>
          </a:xfrm>
          <a:prstGeom prst="rect">
            <a:avLst/>
          </a:prstGeom>
          <a:noFill/>
          <a:ln>
            <a:noFill/>
          </a:ln>
        </p:spPr>
      </p:pic>
      <p:sp>
        <p:nvSpPr>
          <p:cNvPr id="729" name="Google Shape;729;h11a342068904e6d2_0_612"/>
          <p:cNvSpPr/>
          <p:nvPr/>
        </p:nvSpPr>
        <p:spPr>
          <a:xfrm>
            <a:off x="1099050" y="2369712"/>
            <a:ext cx="130200" cy="122100"/>
          </a:xfrm>
          <a:prstGeom prst="diamond">
            <a:avLst/>
          </a:prstGeom>
          <a:solidFill>
            <a:srgbClr val="FF99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0" name="Google Shape;730;h11a342068904e6d2_0_612"/>
          <p:cNvSpPr/>
          <p:nvPr/>
        </p:nvSpPr>
        <p:spPr>
          <a:xfrm>
            <a:off x="1113053" y="3987496"/>
            <a:ext cx="130200" cy="122100"/>
          </a:xfrm>
          <a:prstGeom prst="diamond">
            <a:avLst/>
          </a:prstGeom>
          <a:solidFill>
            <a:srgbClr val="FF99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1" name="Google Shape;731;h11a342068904e6d2_0_612"/>
          <p:cNvSpPr txBox="1"/>
          <p:nvPr/>
        </p:nvSpPr>
        <p:spPr>
          <a:xfrm>
            <a:off x="1147881" y="2231320"/>
            <a:ext cx="1856100" cy="6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300">
                <a:solidFill>
                  <a:srgbClr val="FF9900"/>
                </a:solidFill>
                <a:highlight>
                  <a:schemeClr val="lt1"/>
                </a:highlight>
                <a:latin typeface="Helvetica Neue"/>
                <a:ea typeface="Helvetica Neue"/>
                <a:cs typeface="Helvetica Neue"/>
                <a:sym typeface="Helvetica Neue"/>
              </a:rPr>
              <a:t>2019-2020</a:t>
            </a:r>
            <a:endParaRPr b="1" sz="1300">
              <a:solidFill>
                <a:srgbClr val="FF9900"/>
              </a:solidFill>
              <a:highlight>
                <a:schemeClr val="lt1"/>
              </a:highlight>
              <a:latin typeface="Helvetica Neue"/>
              <a:ea typeface="Helvetica Neue"/>
              <a:cs typeface="Helvetica Neue"/>
              <a:sym typeface="Helvetica Neue"/>
            </a:endParaRPr>
          </a:p>
        </p:txBody>
      </p:sp>
      <p:sp>
        <p:nvSpPr>
          <p:cNvPr id="732" name="Google Shape;732;h11a342068904e6d2_0_612"/>
          <p:cNvSpPr txBox="1"/>
          <p:nvPr/>
        </p:nvSpPr>
        <p:spPr>
          <a:xfrm>
            <a:off x="1153742" y="3849104"/>
            <a:ext cx="1856100" cy="62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300">
                <a:solidFill>
                  <a:srgbClr val="FF9900"/>
                </a:solidFill>
                <a:highlight>
                  <a:schemeClr val="lt1"/>
                </a:highlight>
                <a:latin typeface="Helvetica Neue"/>
                <a:ea typeface="Helvetica Neue"/>
                <a:cs typeface="Helvetica Neue"/>
                <a:sym typeface="Helvetica Neue"/>
              </a:rPr>
              <a:t>2023-2024</a:t>
            </a:r>
            <a:endParaRPr b="1" sz="1300">
              <a:solidFill>
                <a:srgbClr val="FF9900"/>
              </a:solidFill>
              <a:highlight>
                <a:schemeClr val="lt1"/>
              </a:highlight>
              <a:latin typeface="Helvetica Neue"/>
              <a:ea typeface="Helvetica Neue"/>
              <a:cs typeface="Helvetica Neue"/>
              <a:sym typeface="Helvetica Neue"/>
            </a:endParaRPr>
          </a:p>
        </p:txBody>
      </p:sp>
      <p:sp>
        <p:nvSpPr>
          <p:cNvPr id="733" name="Google Shape;733;h11a342068904e6d2_0_612"/>
          <p:cNvSpPr txBox="1"/>
          <p:nvPr/>
        </p:nvSpPr>
        <p:spPr>
          <a:xfrm>
            <a:off x="333046" y="4745549"/>
            <a:ext cx="2784300" cy="37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solidFill>
                  <a:schemeClr val="dk2"/>
                </a:solidFill>
              </a:rPr>
              <a:t>Klitting </a:t>
            </a:r>
            <a:r>
              <a:rPr i="1" lang="en-US" sz="800">
                <a:solidFill>
                  <a:schemeClr val="dk2"/>
                </a:solidFill>
              </a:rPr>
              <a:t>et al.</a:t>
            </a:r>
            <a:r>
              <a:rPr lang="en-US" sz="800">
                <a:solidFill>
                  <a:schemeClr val="dk2"/>
                </a:solidFill>
              </a:rPr>
              <a:t> Eurosurveillance. 2024</a:t>
            </a:r>
            <a:endParaRPr sz="800">
              <a:solidFill>
                <a:schemeClr val="dk2"/>
              </a:solidFill>
            </a:endParaRPr>
          </a:p>
        </p:txBody>
      </p:sp>
      <p:sp>
        <p:nvSpPr>
          <p:cNvPr id="734" name="Google Shape;734;h11a342068904e6d2_0_612"/>
          <p:cNvSpPr txBox="1"/>
          <p:nvPr/>
        </p:nvSpPr>
        <p:spPr>
          <a:xfrm>
            <a:off x="4417563" y="4351810"/>
            <a:ext cx="3075900" cy="37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a:solidFill>
                  <a:schemeClr val="dk2"/>
                </a:solidFill>
              </a:rPr>
              <a:t>Martinez </a:t>
            </a:r>
            <a:r>
              <a:rPr i="1" lang="en-US" sz="800">
                <a:solidFill>
                  <a:schemeClr val="dk2"/>
                </a:solidFill>
              </a:rPr>
              <a:t>et al.</a:t>
            </a:r>
            <a:r>
              <a:rPr lang="en-US" sz="800">
                <a:solidFill>
                  <a:schemeClr val="dk2"/>
                </a:solidFill>
              </a:rPr>
              <a:t> Emerging Infectious Diseases. 2024</a:t>
            </a:r>
            <a:endParaRPr sz="800">
              <a:solidFill>
                <a:schemeClr val="dk2"/>
              </a:solidFill>
            </a:endParaRPr>
          </a:p>
        </p:txBody>
      </p:sp>
      <p:pic>
        <p:nvPicPr>
          <p:cNvPr id="735" name="Google Shape;735;h11a342068904e6d2_0_612"/>
          <p:cNvPicPr preferRelativeResize="0"/>
          <p:nvPr/>
        </p:nvPicPr>
        <p:blipFill>
          <a:blip r:embed="rId4">
            <a:alphaModFix/>
          </a:blip>
          <a:stretch>
            <a:fillRect/>
          </a:stretch>
        </p:blipFill>
        <p:spPr>
          <a:xfrm>
            <a:off x="4428507" y="2767201"/>
            <a:ext cx="4287166" cy="1638650"/>
          </a:xfrm>
          <a:prstGeom prst="rect">
            <a:avLst/>
          </a:prstGeom>
          <a:noFill/>
          <a:ln>
            <a:noFill/>
          </a:ln>
        </p:spPr>
      </p:pic>
      <p:sp>
        <p:nvSpPr>
          <p:cNvPr id="736" name="Google Shape;736;h11a342068904e6d2_0_612"/>
          <p:cNvSpPr txBox="1"/>
          <p:nvPr/>
        </p:nvSpPr>
        <p:spPr>
          <a:xfrm>
            <a:off x="4607814" y="1352098"/>
            <a:ext cx="3394800" cy="968700"/>
          </a:xfrm>
          <a:prstGeom prst="rect">
            <a:avLst/>
          </a:prstGeom>
          <a:noFill/>
          <a:ln>
            <a:noFill/>
          </a:ln>
        </p:spPr>
        <p:txBody>
          <a:bodyPr anchorCtr="0" anchor="t" bIns="91425" lIns="91425" spcFirstLastPara="1" rIns="91425" wrap="square" tIns="91425">
            <a:noAutofit/>
          </a:bodyPr>
          <a:lstStyle/>
          <a:p>
            <a:pPr indent="0" lvl="0" marL="0" rtl="0" algn="l">
              <a:spcBef>
                <a:spcPts val="1000"/>
              </a:spcBef>
              <a:spcAft>
                <a:spcPts val="0"/>
              </a:spcAft>
              <a:buNone/>
            </a:pPr>
            <a:r>
              <a:rPr lang="en-US" sz="1600">
                <a:latin typeface="Helvetica Neue Light"/>
                <a:ea typeface="Helvetica Neue Light"/>
                <a:cs typeface="Helvetica Neue Light"/>
                <a:sym typeface="Helvetica Neue Light"/>
              </a:rPr>
              <a:t>Area of circulation of DENV2-III (Asian-American)</a:t>
            </a:r>
            <a:endParaRPr sz="1600">
              <a:latin typeface="Helvetica Neue Light"/>
              <a:ea typeface="Helvetica Neue Light"/>
              <a:cs typeface="Helvetica Neue Light"/>
              <a:sym typeface="Helvetica Neue Light"/>
            </a:endParaRPr>
          </a:p>
          <a:p>
            <a:pPr indent="0" lvl="0" marL="0" rtl="0" algn="l">
              <a:spcBef>
                <a:spcPts val="1000"/>
              </a:spcBef>
              <a:spcAft>
                <a:spcPts val="0"/>
              </a:spcAft>
              <a:buNone/>
            </a:pPr>
            <a:r>
              <a:rPr lang="en-US" sz="1600">
                <a:latin typeface="Helvetica Neue Light"/>
                <a:ea typeface="Helvetica Neue Light"/>
                <a:cs typeface="Helvetica Neue Light"/>
                <a:sym typeface="Helvetica Neue Light"/>
              </a:rPr>
              <a:t>Detected in 2023</a:t>
            </a:r>
            <a:endParaRPr sz="1600">
              <a:latin typeface="Helvetica Neue Light"/>
              <a:ea typeface="Helvetica Neue Light"/>
              <a:cs typeface="Helvetica Neue Light"/>
              <a:sym typeface="Helvetica Neue Light"/>
            </a:endParaRPr>
          </a:p>
        </p:txBody>
      </p:sp>
      <p:sp>
        <p:nvSpPr>
          <p:cNvPr id="737" name="Google Shape;737;h11a342068904e6d2_0_612"/>
          <p:cNvSpPr txBox="1"/>
          <p:nvPr/>
        </p:nvSpPr>
        <p:spPr>
          <a:xfrm>
            <a:off x="312564" y="1333537"/>
            <a:ext cx="3394800" cy="968700"/>
          </a:xfrm>
          <a:prstGeom prst="rect">
            <a:avLst/>
          </a:prstGeom>
          <a:noFill/>
          <a:ln>
            <a:noFill/>
          </a:ln>
        </p:spPr>
        <p:txBody>
          <a:bodyPr anchorCtr="0" anchor="t" bIns="91425" lIns="91425" spcFirstLastPara="1" rIns="91425" wrap="square" tIns="91425">
            <a:noAutofit/>
          </a:bodyPr>
          <a:lstStyle/>
          <a:p>
            <a:pPr indent="0" lvl="0" marL="0" rtl="0" algn="l">
              <a:spcBef>
                <a:spcPts val="1000"/>
              </a:spcBef>
              <a:spcAft>
                <a:spcPts val="0"/>
              </a:spcAft>
              <a:buNone/>
            </a:pPr>
            <a:r>
              <a:rPr lang="en-US" sz="1600">
                <a:latin typeface="Helvetica Neue Light"/>
                <a:ea typeface="Helvetica Neue Light"/>
                <a:cs typeface="Helvetica Neue Light"/>
                <a:sym typeface="Helvetica Neue Light"/>
              </a:rPr>
              <a:t>2019-2021	23690 cases</a:t>
            </a:r>
            <a:endParaRPr sz="1600">
              <a:latin typeface="Helvetica Neue Light"/>
              <a:ea typeface="Helvetica Neue Light"/>
              <a:cs typeface="Helvetica Neue Light"/>
              <a:sym typeface="Helvetica Neue Light"/>
            </a:endParaRPr>
          </a:p>
          <a:p>
            <a:pPr indent="0" lvl="0" marL="0" rtl="0" algn="l">
              <a:spcBef>
                <a:spcPts val="1000"/>
              </a:spcBef>
              <a:spcAft>
                <a:spcPts val="0"/>
              </a:spcAft>
              <a:buClr>
                <a:schemeClr val="dk1"/>
              </a:buClr>
              <a:buSzPts val="1100"/>
              <a:buFont typeface="Arial"/>
              <a:buNone/>
            </a:pPr>
            <a:r>
              <a:rPr lang="en-US" sz="1600">
                <a:solidFill>
                  <a:schemeClr val="dk1"/>
                </a:solidFill>
                <a:latin typeface="Helvetica Neue Light"/>
                <a:ea typeface="Helvetica Neue Light"/>
                <a:cs typeface="Helvetica Neue Light"/>
                <a:sym typeface="Helvetica Neue Light"/>
              </a:rPr>
              <a:t>2023-2024	15135 cases</a:t>
            </a:r>
            <a:endParaRPr sz="1600">
              <a:latin typeface="Helvetica Neue Light"/>
              <a:ea typeface="Helvetica Neue Light"/>
              <a:cs typeface="Helvetica Neue Light"/>
              <a:sym typeface="Helvetica Neue Light"/>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h11a342068904e6d2_0_629"/>
          <p:cNvSpPr/>
          <p:nvPr/>
        </p:nvSpPr>
        <p:spPr>
          <a:xfrm>
            <a:off x="0" y="0"/>
            <a:ext cx="9144000" cy="629400"/>
          </a:xfrm>
          <a:prstGeom prst="rect">
            <a:avLst/>
          </a:prstGeom>
          <a:solidFill>
            <a:srgbClr val="1C4587"/>
          </a:solidFill>
          <a:ln cap="flat" cmpd="sng" w="952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3" name="Google Shape;743;h11a342068904e6d2_0_629"/>
          <p:cNvSpPr txBox="1"/>
          <p:nvPr/>
        </p:nvSpPr>
        <p:spPr>
          <a:xfrm>
            <a:off x="219075" y="63350"/>
            <a:ext cx="8763000" cy="48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chemeClr val="lt1"/>
                </a:solidFill>
                <a:latin typeface="Helvetica Neue"/>
                <a:ea typeface="Helvetica Neue"/>
                <a:cs typeface="Helvetica Neue"/>
                <a:sym typeface="Helvetica Neue"/>
              </a:rPr>
              <a:t>Aim 3</a:t>
            </a:r>
            <a:endParaRPr b="1" sz="2200">
              <a:solidFill>
                <a:schemeClr val="lt1"/>
              </a:solidFill>
              <a:latin typeface="Helvetica Neue"/>
              <a:ea typeface="Helvetica Neue"/>
              <a:cs typeface="Helvetica Neue"/>
              <a:sym typeface="Helvetica Neue"/>
            </a:endParaRPr>
          </a:p>
        </p:txBody>
      </p:sp>
      <p:sp>
        <p:nvSpPr>
          <p:cNvPr id="744" name="Google Shape;744;h11a342068904e6d2_0_629"/>
          <p:cNvSpPr txBox="1"/>
          <p:nvPr/>
        </p:nvSpPr>
        <p:spPr>
          <a:xfrm>
            <a:off x="325275" y="838200"/>
            <a:ext cx="5269800" cy="377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US">
                <a:latin typeface="Helvetica Neue Light"/>
                <a:ea typeface="Helvetica Neue Light"/>
                <a:cs typeface="Helvetica Neue Light"/>
                <a:sym typeface="Helvetica Neue Light"/>
              </a:rPr>
              <a:t>Analyse the </a:t>
            </a:r>
            <a:r>
              <a:rPr lang="en-US" u="sng">
                <a:latin typeface="Helvetica Neue Light"/>
                <a:ea typeface="Helvetica Neue Light"/>
                <a:cs typeface="Helvetica Neue Light"/>
                <a:sym typeface="Helvetica Neue Light"/>
              </a:rPr>
              <a:t>intra-serotype antigenic diversity</a:t>
            </a:r>
            <a:r>
              <a:rPr lang="en-US">
                <a:latin typeface="Helvetica Neue Light"/>
                <a:ea typeface="Helvetica Neue Light"/>
                <a:cs typeface="Helvetica Neue Light"/>
                <a:sym typeface="Helvetica Neue Light"/>
              </a:rPr>
              <a:t> within DENV2, identify the positions involved in antigenic divergence</a:t>
            </a:r>
            <a:endParaRPr>
              <a:latin typeface="Helvetica Neue Light"/>
              <a:ea typeface="Helvetica Neue Light"/>
              <a:cs typeface="Helvetica Neue Light"/>
              <a:sym typeface="Helvetica Neue Light"/>
            </a:endParaRPr>
          </a:p>
          <a:p>
            <a:pPr indent="-317500" lvl="0" marL="457200" rtl="0" algn="l">
              <a:lnSpc>
                <a:spcPct val="115000"/>
              </a:lnSpc>
              <a:spcBef>
                <a:spcPts val="1000"/>
              </a:spcBef>
              <a:spcAft>
                <a:spcPts val="0"/>
              </a:spcAft>
              <a:buClr>
                <a:schemeClr val="dk1"/>
              </a:buClr>
              <a:buSzPts val="1400"/>
              <a:buFont typeface="Helvetica Neue Light"/>
              <a:buChar char="➢"/>
            </a:pPr>
            <a:r>
              <a:rPr lang="en-US">
                <a:solidFill>
                  <a:schemeClr val="dk1"/>
                </a:solidFill>
                <a:latin typeface="Helvetica Neue Light"/>
                <a:ea typeface="Helvetica Neue Light"/>
                <a:cs typeface="Helvetica Neue Light"/>
                <a:sym typeface="Helvetica Neue Light"/>
              </a:rPr>
              <a:t>Creation of a panel of matched clinical isolates and patient sera</a:t>
            </a:r>
            <a:endParaRPr>
              <a:solidFill>
                <a:schemeClr val="dk1"/>
              </a:solidFill>
              <a:latin typeface="Helvetica Neue Light"/>
              <a:ea typeface="Helvetica Neue Light"/>
              <a:cs typeface="Helvetica Neue Light"/>
              <a:sym typeface="Helvetica Neue Light"/>
            </a:endParaRPr>
          </a:p>
          <a:p>
            <a:pPr indent="-317500" lvl="1" marL="914400" rtl="0" algn="l">
              <a:lnSpc>
                <a:spcPct val="115000"/>
              </a:lnSpc>
              <a:spcBef>
                <a:spcPts val="1000"/>
              </a:spcBef>
              <a:spcAft>
                <a:spcPts val="0"/>
              </a:spcAft>
              <a:buClr>
                <a:schemeClr val="dk1"/>
              </a:buClr>
              <a:buSzPts val="1400"/>
              <a:buFont typeface="Helvetica Neue Light"/>
              <a:buChar char="○"/>
            </a:pPr>
            <a:r>
              <a:rPr lang="en-US">
                <a:solidFill>
                  <a:schemeClr val="dk1"/>
                </a:solidFill>
                <a:latin typeface="Helvetica Neue Light"/>
                <a:ea typeface="Helvetica Neue Light"/>
                <a:cs typeface="Helvetica Neue Light"/>
                <a:sym typeface="Helvetica Neue Light"/>
              </a:rPr>
              <a:t>CARBO (Cohorte ARBOviroses)</a:t>
            </a:r>
            <a:endParaRPr>
              <a:solidFill>
                <a:schemeClr val="dk1"/>
              </a:solidFill>
              <a:latin typeface="Helvetica Neue Light"/>
              <a:ea typeface="Helvetica Neue Light"/>
              <a:cs typeface="Helvetica Neue Light"/>
              <a:sym typeface="Helvetica Neue Light"/>
            </a:endParaRPr>
          </a:p>
          <a:p>
            <a:pPr indent="-317500" lvl="1" marL="914400" rtl="0" algn="l">
              <a:lnSpc>
                <a:spcPct val="115000"/>
              </a:lnSpc>
              <a:spcBef>
                <a:spcPts val="1000"/>
              </a:spcBef>
              <a:spcAft>
                <a:spcPts val="0"/>
              </a:spcAft>
              <a:buClr>
                <a:schemeClr val="dk1"/>
              </a:buClr>
              <a:buSzPts val="1400"/>
              <a:buFont typeface="Helvetica Neue Light"/>
              <a:buChar char="○"/>
            </a:pPr>
            <a:r>
              <a:rPr lang="en-US">
                <a:solidFill>
                  <a:schemeClr val="dk1"/>
                </a:solidFill>
                <a:latin typeface="Helvetica Neue Light"/>
                <a:ea typeface="Helvetica Neue Light"/>
                <a:cs typeface="Helvetica Neue Light"/>
                <a:sym typeface="Helvetica Neue Light"/>
              </a:rPr>
              <a:t>CNR Arbovirus / APHM</a:t>
            </a:r>
            <a:endParaRPr>
              <a:solidFill>
                <a:schemeClr val="dk1"/>
              </a:solidFill>
              <a:latin typeface="Helvetica Neue Light"/>
              <a:ea typeface="Helvetica Neue Light"/>
              <a:cs typeface="Helvetica Neue Light"/>
              <a:sym typeface="Helvetica Neue Light"/>
            </a:endParaRPr>
          </a:p>
          <a:p>
            <a:pPr indent="-317500" lvl="1" marL="914400" rtl="0" algn="l">
              <a:lnSpc>
                <a:spcPct val="115000"/>
              </a:lnSpc>
              <a:spcBef>
                <a:spcPts val="1000"/>
              </a:spcBef>
              <a:spcAft>
                <a:spcPts val="0"/>
              </a:spcAft>
              <a:buClr>
                <a:schemeClr val="dk1"/>
              </a:buClr>
              <a:buSzPts val="1400"/>
              <a:buFont typeface="Helvetica Neue Light"/>
              <a:buChar char="○"/>
            </a:pPr>
            <a:r>
              <a:rPr lang="en-US">
                <a:solidFill>
                  <a:schemeClr val="dk1"/>
                </a:solidFill>
                <a:latin typeface="Helvetica Neue Light"/>
                <a:ea typeface="Helvetica Neue Light"/>
                <a:cs typeface="Helvetica Neue Light"/>
                <a:sym typeface="Helvetica Neue Light"/>
              </a:rPr>
              <a:t>CHU Bordeaux</a:t>
            </a:r>
            <a:endParaRPr>
              <a:solidFill>
                <a:schemeClr val="dk1"/>
              </a:solidFill>
              <a:latin typeface="Helvetica Neue Light"/>
              <a:ea typeface="Helvetica Neue Light"/>
              <a:cs typeface="Helvetica Neue Light"/>
              <a:sym typeface="Helvetica Neue Light"/>
            </a:endParaRPr>
          </a:p>
          <a:p>
            <a:pPr indent="-317500" lvl="1" marL="914400" rtl="0" algn="l">
              <a:lnSpc>
                <a:spcPct val="115000"/>
              </a:lnSpc>
              <a:spcBef>
                <a:spcPts val="1000"/>
              </a:spcBef>
              <a:spcAft>
                <a:spcPts val="0"/>
              </a:spcAft>
              <a:buClr>
                <a:schemeClr val="dk1"/>
              </a:buClr>
              <a:buSzPts val="1400"/>
              <a:buFont typeface="Helvetica Neue Light"/>
              <a:buChar char="○"/>
            </a:pPr>
            <a:r>
              <a:rPr lang="en-US">
                <a:solidFill>
                  <a:schemeClr val="dk1"/>
                </a:solidFill>
                <a:latin typeface="Helvetica Neue Light"/>
                <a:ea typeface="Helvetica Neue Light"/>
                <a:cs typeface="Helvetica Neue Light"/>
                <a:sym typeface="Helvetica Neue Light"/>
              </a:rPr>
              <a:t>DART / CDI Colombia</a:t>
            </a:r>
            <a:endParaRPr>
              <a:solidFill>
                <a:schemeClr val="dk1"/>
              </a:solidFill>
              <a:latin typeface="Helvetica Neue Light"/>
              <a:ea typeface="Helvetica Neue Light"/>
              <a:cs typeface="Helvetica Neue Light"/>
              <a:sym typeface="Helvetica Neue Light"/>
            </a:endParaRPr>
          </a:p>
          <a:p>
            <a:pPr indent="0" lvl="0" marL="0" rtl="0" algn="l">
              <a:lnSpc>
                <a:spcPct val="115000"/>
              </a:lnSpc>
              <a:spcBef>
                <a:spcPts val="1000"/>
              </a:spcBef>
              <a:spcAft>
                <a:spcPts val="0"/>
              </a:spcAft>
              <a:buNone/>
            </a:pPr>
            <a:r>
              <a:t/>
            </a:r>
            <a:endParaRPr>
              <a:latin typeface="Helvetica Neue Light"/>
              <a:ea typeface="Helvetica Neue Light"/>
              <a:cs typeface="Helvetica Neue Light"/>
              <a:sym typeface="Helvetica Neue Light"/>
            </a:endParaRPr>
          </a:p>
          <a:p>
            <a:pPr indent="-317500" lvl="0" marL="457200" rtl="0" algn="l">
              <a:lnSpc>
                <a:spcPct val="115000"/>
              </a:lnSpc>
              <a:spcBef>
                <a:spcPts val="1000"/>
              </a:spcBef>
              <a:spcAft>
                <a:spcPts val="0"/>
              </a:spcAft>
              <a:buSzPts val="1400"/>
              <a:buFont typeface="Helvetica Neue Light"/>
              <a:buChar char="➢"/>
            </a:pPr>
            <a:r>
              <a:rPr lang="en-US">
                <a:latin typeface="Helvetica Neue Light"/>
                <a:ea typeface="Helvetica Neue Light"/>
                <a:cs typeface="Helvetica Neue Light"/>
                <a:sym typeface="Helvetica Neue Light"/>
              </a:rPr>
              <a:t>Rescue strains using reverse-genetics &amp; immunise transiently immunocompromised mice</a:t>
            </a:r>
            <a:endParaRPr>
              <a:latin typeface="Helvetica Neue Light"/>
              <a:ea typeface="Helvetica Neue Light"/>
              <a:cs typeface="Helvetica Neue Light"/>
              <a:sym typeface="Helvetica Neue Light"/>
            </a:endParaRPr>
          </a:p>
        </p:txBody>
      </p:sp>
      <p:pic>
        <p:nvPicPr>
          <p:cNvPr id="745" name="Google Shape;745;h11a342068904e6d2_0_629" title="Screenshot from 2026-10-07 16-16-28.png"/>
          <p:cNvPicPr preferRelativeResize="0"/>
          <p:nvPr/>
        </p:nvPicPr>
        <p:blipFill rotWithShape="1">
          <a:blip r:embed="rId3">
            <a:alphaModFix/>
          </a:blip>
          <a:srcRect b="0" l="0" r="0" t="0"/>
          <a:stretch/>
        </p:blipFill>
        <p:spPr>
          <a:xfrm>
            <a:off x="6802092" y="60472"/>
            <a:ext cx="664361" cy="845550"/>
          </a:xfrm>
          <a:prstGeom prst="rect">
            <a:avLst/>
          </a:prstGeom>
          <a:noFill/>
          <a:ln>
            <a:noFill/>
          </a:ln>
        </p:spPr>
      </p:pic>
      <p:pic>
        <p:nvPicPr>
          <p:cNvPr id="746" name="Google Shape;746;h11a342068904e6d2_0_629"/>
          <p:cNvPicPr preferRelativeResize="0"/>
          <p:nvPr/>
        </p:nvPicPr>
        <p:blipFill rotWithShape="1">
          <a:blip r:embed="rId4">
            <a:alphaModFix/>
          </a:blip>
          <a:srcRect b="0" l="29770" r="0" t="22112"/>
          <a:stretch/>
        </p:blipFill>
        <p:spPr>
          <a:xfrm>
            <a:off x="7574828" y="60476"/>
            <a:ext cx="652081" cy="723175"/>
          </a:xfrm>
          <a:prstGeom prst="rect">
            <a:avLst/>
          </a:prstGeom>
          <a:noFill/>
          <a:ln>
            <a:noFill/>
          </a:ln>
        </p:spPr>
      </p:pic>
      <p:sp>
        <p:nvSpPr>
          <p:cNvPr id="747" name="Google Shape;747;h11a342068904e6d2_0_629"/>
          <p:cNvSpPr txBox="1"/>
          <p:nvPr/>
        </p:nvSpPr>
        <p:spPr>
          <a:xfrm>
            <a:off x="7510292" y="701888"/>
            <a:ext cx="997200" cy="21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00">
                <a:solidFill>
                  <a:schemeClr val="dk1"/>
                </a:solidFill>
              </a:rPr>
              <a:t>Pr. Franck Touret</a:t>
            </a:r>
            <a:endParaRPr b="1" sz="400">
              <a:solidFill>
                <a:schemeClr val="dk1"/>
              </a:solidFill>
            </a:endParaRPr>
          </a:p>
          <a:p>
            <a:pPr indent="0" lvl="0" marL="0" rtl="0" algn="l">
              <a:spcBef>
                <a:spcPts val="0"/>
              </a:spcBef>
              <a:spcAft>
                <a:spcPts val="0"/>
              </a:spcAft>
              <a:buNone/>
            </a:pPr>
            <a:r>
              <a:rPr b="1" lang="en-US" sz="400">
                <a:solidFill>
                  <a:schemeClr val="dk1"/>
                </a:solidFill>
              </a:rPr>
              <a:t>UVE - Marseille</a:t>
            </a:r>
            <a:endParaRPr b="1" sz="400">
              <a:solidFill>
                <a:schemeClr val="dk1"/>
              </a:solidFill>
            </a:endParaRPr>
          </a:p>
        </p:txBody>
      </p:sp>
      <p:pic>
        <p:nvPicPr>
          <p:cNvPr id="748" name="Google Shape;748;h11a342068904e6d2_0_629"/>
          <p:cNvPicPr preferRelativeResize="0"/>
          <p:nvPr/>
        </p:nvPicPr>
        <p:blipFill>
          <a:blip r:embed="rId5">
            <a:alphaModFix/>
          </a:blip>
          <a:stretch>
            <a:fillRect/>
          </a:stretch>
        </p:blipFill>
        <p:spPr>
          <a:xfrm>
            <a:off x="8322953" y="77876"/>
            <a:ext cx="664375" cy="664375"/>
          </a:xfrm>
          <a:prstGeom prst="rect">
            <a:avLst/>
          </a:prstGeom>
          <a:noFill/>
          <a:ln>
            <a:noFill/>
          </a:ln>
        </p:spPr>
      </p:pic>
      <p:sp>
        <p:nvSpPr>
          <p:cNvPr id="749" name="Google Shape;749;h11a342068904e6d2_0_629"/>
          <p:cNvSpPr txBox="1"/>
          <p:nvPr/>
        </p:nvSpPr>
        <p:spPr>
          <a:xfrm>
            <a:off x="8255195" y="695108"/>
            <a:ext cx="997200" cy="21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00">
                <a:solidFill>
                  <a:schemeClr val="dk1"/>
                </a:solidFill>
              </a:rPr>
              <a:t>Pr. Alexandre Duvignaud</a:t>
            </a:r>
            <a:endParaRPr b="1" sz="400">
              <a:solidFill>
                <a:schemeClr val="dk1"/>
              </a:solidFill>
            </a:endParaRPr>
          </a:p>
          <a:p>
            <a:pPr indent="0" lvl="0" marL="0" rtl="0" algn="l">
              <a:spcBef>
                <a:spcPts val="0"/>
              </a:spcBef>
              <a:spcAft>
                <a:spcPts val="0"/>
              </a:spcAft>
              <a:buNone/>
            </a:pPr>
            <a:r>
              <a:rPr b="1" lang="en-US" sz="400">
                <a:solidFill>
                  <a:schemeClr val="dk1"/>
                </a:solidFill>
              </a:rPr>
              <a:t>CHU Bordeaux</a:t>
            </a:r>
            <a:endParaRPr b="1" sz="400">
              <a:solidFill>
                <a:schemeClr val="dk1"/>
              </a:solidFill>
            </a:endParaRPr>
          </a:p>
        </p:txBody>
      </p:sp>
      <p:pic>
        <p:nvPicPr>
          <p:cNvPr id="750" name="Google Shape;750;h11a342068904e6d2_0_629"/>
          <p:cNvPicPr preferRelativeResize="0"/>
          <p:nvPr/>
        </p:nvPicPr>
        <p:blipFill rotWithShape="1">
          <a:blip r:embed="rId6">
            <a:alphaModFix/>
          </a:blip>
          <a:srcRect b="18052" l="14857" r="0" t="10171"/>
          <a:stretch/>
        </p:blipFill>
        <p:spPr>
          <a:xfrm>
            <a:off x="7736353" y="953651"/>
            <a:ext cx="525355" cy="664376"/>
          </a:xfrm>
          <a:prstGeom prst="rect">
            <a:avLst/>
          </a:prstGeom>
          <a:noFill/>
          <a:ln>
            <a:noFill/>
          </a:ln>
        </p:spPr>
      </p:pic>
      <p:sp>
        <p:nvSpPr>
          <p:cNvPr id="751" name="Google Shape;751;h11a342068904e6d2_0_629"/>
          <p:cNvSpPr txBox="1"/>
          <p:nvPr/>
        </p:nvSpPr>
        <p:spPr>
          <a:xfrm>
            <a:off x="7658037" y="1553239"/>
            <a:ext cx="997200" cy="21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00">
                <a:solidFill>
                  <a:schemeClr val="dk1"/>
                </a:solidFill>
              </a:rPr>
              <a:t>Pr. Antoine Nougairede</a:t>
            </a:r>
            <a:endParaRPr b="1" sz="400">
              <a:solidFill>
                <a:schemeClr val="dk1"/>
              </a:solidFill>
            </a:endParaRPr>
          </a:p>
          <a:p>
            <a:pPr indent="0" lvl="0" marL="0" rtl="0" algn="l">
              <a:spcBef>
                <a:spcPts val="0"/>
              </a:spcBef>
              <a:spcAft>
                <a:spcPts val="0"/>
              </a:spcAft>
              <a:buNone/>
            </a:pPr>
            <a:r>
              <a:rPr b="1" lang="en-US" sz="400">
                <a:solidFill>
                  <a:schemeClr val="dk1"/>
                </a:solidFill>
              </a:rPr>
              <a:t>UVE Marseille</a:t>
            </a:r>
            <a:endParaRPr b="1" sz="400">
              <a:solidFill>
                <a:schemeClr val="dk1"/>
              </a:solidFill>
            </a:endParaRPr>
          </a:p>
        </p:txBody>
      </p:sp>
      <p:pic>
        <p:nvPicPr>
          <p:cNvPr id="752" name="Google Shape;752;h11a342068904e6d2_0_629"/>
          <p:cNvPicPr preferRelativeResize="0"/>
          <p:nvPr/>
        </p:nvPicPr>
        <p:blipFill rotWithShape="1">
          <a:blip r:embed="rId7">
            <a:alphaModFix/>
          </a:blip>
          <a:srcRect b="26389" l="16441" r="22554" t="0"/>
          <a:stretch/>
        </p:blipFill>
        <p:spPr>
          <a:xfrm>
            <a:off x="8426358" y="953651"/>
            <a:ext cx="550576" cy="664375"/>
          </a:xfrm>
          <a:prstGeom prst="rect">
            <a:avLst/>
          </a:prstGeom>
          <a:noFill/>
          <a:ln>
            <a:noFill/>
          </a:ln>
        </p:spPr>
      </p:pic>
      <p:sp>
        <p:nvSpPr>
          <p:cNvPr id="753" name="Google Shape;753;h11a342068904e6d2_0_629"/>
          <p:cNvSpPr txBox="1"/>
          <p:nvPr/>
        </p:nvSpPr>
        <p:spPr>
          <a:xfrm>
            <a:off x="8350521" y="1547771"/>
            <a:ext cx="997200" cy="21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400">
                <a:solidFill>
                  <a:schemeClr val="dk1"/>
                </a:solidFill>
              </a:rPr>
              <a:t>Dr. Gregory Moureau</a:t>
            </a:r>
            <a:endParaRPr b="1" sz="400">
              <a:solidFill>
                <a:schemeClr val="dk1"/>
              </a:solidFill>
            </a:endParaRPr>
          </a:p>
          <a:p>
            <a:pPr indent="0" lvl="0" marL="0" rtl="0" algn="l">
              <a:spcBef>
                <a:spcPts val="0"/>
              </a:spcBef>
              <a:spcAft>
                <a:spcPts val="0"/>
              </a:spcAft>
              <a:buNone/>
            </a:pPr>
            <a:r>
              <a:rPr b="1" lang="en-US" sz="400">
                <a:solidFill>
                  <a:schemeClr val="dk1"/>
                </a:solidFill>
              </a:rPr>
              <a:t>UVE Marseille</a:t>
            </a:r>
            <a:endParaRPr b="1" sz="400">
              <a:solidFill>
                <a:schemeClr val="dk1"/>
              </a:solidFill>
            </a:endParaRPr>
          </a:p>
        </p:txBody>
      </p:sp>
      <p:grpSp>
        <p:nvGrpSpPr>
          <p:cNvPr id="754" name="Google Shape;754;h11a342068904e6d2_0_629"/>
          <p:cNvGrpSpPr/>
          <p:nvPr/>
        </p:nvGrpSpPr>
        <p:grpSpPr>
          <a:xfrm>
            <a:off x="4172880" y="2283548"/>
            <a:ext cx="1975681" cy="1125402"/>
            <a:chOff x="5869680" y="789248"/>
            <a:chExt cx="1975681" cy="1125402"/>
          </a:xfrm>
        </p:grpSpPr>
        <p:pic>
          <p:nvPicPr>
            <p:cNvPr id="755" name="Google Shape;755;h11a342068904e6d2_0_629" title="Screenshot from 2025-03-28 16-09-22.png"/>
            <p:cNvPicPr preferRelativeResize="0"/>
            <p:nvPr/>
          </p:nvPicPr>
          <p:blipFill rotWithShape="1">
            <a:blip r:embed="rId8">
              <a:alphaModFix/>
            </a:blip>
            <a:srcRect b="0" l="0" r="33151" t="0"/>
            <a:stretch/>
          </p:blipFill>
          <p:spPr>
            <a:xfrm>
              <a:off x="5869680" y="789248"/>
              <a:ext cx="765550" cy="489900"/>
            </a:xfrm>
            <a:prstGeom prst="rect">
              <a:avLst/>
            </a:prstGeom>
            <a:noFill/>
            <a:ln>
              <a:noFill/>
            </a:ln>
          </p:spPr>
        </p:pic>
        <p:pic>
          <p:nvPicPr>
            <p:cNvPr id="756" name="Google Shape;756;h11a342068904e6d2_0_629" title="Screenshot from 2025-03-28 16-09-22.png"/>
            <p:cNvPicPr preferRelativeResize="0"/>
            <p:nvPr/>
          </p:nvPicPr>
          <p:blipFill rotWithShape="1">
            <a:blip r:embed="rId8">
              <a:alphaModFix/>
            </a:blip>
            <a:srcRect b="0" l="65302" r="0" t="0"/>
            <a:stretch/>
          </p:blipFill>
          <p:spPr>
            <a:xfrm>
              <a:off x="6107419" y="1321511"/>
              <a:ext cx="397375" cy="489900"/>
            </a:xfrm>
            <a:prstGeom prst="rect">
              <a:avLst/>
            </a:prstGeom>
            <a:noFill/>
            <a:ln>
              <a:noFill/>
            </a:ln>
          </p:spPr>
        </p:pic>
        <p:pic>
          <p:nvPicPr>
            <p:cNvPr id="757" name="Google Shape;757;h11a342068904e6d2_0_629" title="Screenshot from 2025-03-28 16-09-22.png"/>
            <p:cNvPicPr preferRelativeResize="0"/>
            <p:nvPr/>
          </p:nvPicPr>
          <p:blipFill rotWithShape="1">
            <a:blip r:embed="rId8">
              <a:alphaModFix/>
            </a:blip>
            <a:srcRect b="0" l="42768" r="33149" t="0"/>
            <a:stretch/>
          </p:blipFill>
          <p:spPr>
            <a:xfrm>
              <a:off x="7389220" y="790843"/>
              <a:ext cx="275800" cy="489900"/>
            </a:xfrm>
            <a:prstGeom prst="rect">
              <a:avLst/>
            </a:prstGeom>
            <a:noFill/>
            <a:ln>
              <a:noFill/>
            </a:ln>
          </p:spPr>
        </p:pic>
        <p:pic>
          <p:nvPicPr>
            <p:cNvPr id="758" name="Google Shape;758;h11a342068904e6d2_0_629" title="Screenshot from 2025-03-28 16-09-22.png"/>
            <p:cNvPicPr preferRelativeResize="0"/>
            <p:nvPr/>
          </p:nvPicPr>
          <p:blipFill rotWithShape="1">
            <a:blip r:embed="rId8">
              <a:alphaModFix/>
            </a:blip>
            <a:srcRect b="0" l="65302" r="0" t="0"/>
            <a:stretch/>
          </p:blipFill>
          <p:spPr>
            <a:xfrm>
              <a:off x="7308569" y="1323111"/>
              <a:ext cx="397375" cy="489900"/>
            </a:xfrm>
            <a:prstGeom prst="rect">
              <a:avLst/>
            </a:prstGeom>
            <a:noFill/>
            <a:ln>
              <a:noFill/>
            </a:ln>
          </p:spPr>
        </p:pic>
        <p:cxnSp>
          <p:nvCxnSpPr>
            <p:cNvPr id="759" name="Google Shape;759;h11a342068904e6d2_0_629"/>
            <p:cNvCxnSpPr>
              <a:stCxn id="756" idx="3"/>
              <a:endCxn id="758" idx="1"/>
            </p:cNvCxnSpPr>
            <p:nvPr/>
          </p:nvCxnSpPr>
          <p:spPr>
            <a:xfrm>
              <a:off x="6504794" y="1566461"/>
              <a:ext cx="803700" cy="1500"/>
            </a:xfrm>
            <a:prstGeom prst="straightConnector1">
              <a:avLst/>
            </a:prstGeom>
            <a:noFill/>
            <a:ln cap="flat" cmpd="sng" w="9525">
              <a:solidFill>
                <a:schemeClr val="dk2"/>
              </a:solidFill>
              <a:prstDash val="solid"/>
              <a:round/>
              <a:headEnd len="med" w="med" type="none"/>
              <a:tailEnd len="med" w="med" type="stealth"/>
            </a:ln>
          </p:spPr>
        </p:cxnSp>
        <p:sp>
          <p:nvSpPr>
            <p:cNvPr id="760" name="Google Shape;760;h11a342068904e6d2_0_629"/>
            <p:cNvSpPr txBox="1"/>
            <p:nvPr/>
          </p:nvSpPr>
          <p:spPr>
            <a:xfrm>
              <a:off x="6114270" y="1679954"/>
              <a:ext cx="438600" cy="23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2"/>
                  </a:solidFill>
                  <a:latin typeface="Helvetica Neue Light"/>
                  <a:ea typeface="Helvetica Neue Light"/>
                  <a:cs typeface="Helvetica Neue Light"/>
                  <a:sym typeface="Helvetica Neue Light"/>
                </a:rPr>
                <a:t>t0</a:t>
              </a:r>
              <a:endParaRPr sz="1600">
                <a:solidFill>
                  <a:schemeClr val="dk2"/>
                </a:solidFill>
                <a:latin typeface="Helvetica Neue Light"/>
                <a:ea typeface="Helvetica Neue Light"/>
                <a:cs typeface="Helvetica Neue Light"/>
                <a:sym typeface="Helvetica Neue Light"/>
              </a:endParaRPr>
            </a:p>
          </p:txBody>
        </p:sp>
        <p:sp>
          <p:nvSpPr>
            <p:cNvPr id="761" name="Google Shape;761;h11a342068904e6d2_0_629"/>
            <p:cNvSpPr txBox="1"/>
            <p:nvPr/>
          </p:nvSpPr>
          <p:spPr>
            <a:xfrm>
              <a:off x="7294861" y="1681550"/>
              <a:ext cx="550500" cy="23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2"/>
                  </a:solidFill>
                  <a:latin typeface="Helvetica Neue Light"/>
                  <a:ea typeface="Helvetica Neue Light"/>
                  <a:cs typeface="Helvetica Neue Light"/>
                  <a:sym typeface="Helvetica Neue Light"/>
                </a:rPr>
                <a:t>M6</a:t>
              </a:r>
              <a:endParaRPr sz="1600">
                <a:solidFill>
                  <a:schemeClr val="dk2"/>
                </a:solidFill>
                <a:latin typeface="Helvetica Neue Light"/>
                <a:ea typeface="Helvetica Neue Light"/>
                <a:cs typeface="Helvetica Neue Light"/>
                <a:sym typeface="Helvetica Neue Light"/>
              </a:endParaRPr>
            </a:p>
          </p:txBody>
        </p:sp>
      </p:grpSp>
      <p:pic>
        <p:nvPicPr>
          <p:cNvPr id="762" name="Google Shape;762;h11a342068904e6d2_0_629" title="Screenshot from 2026-10-08 13-52-23.png"/>
          <p:cNvPicPr preferRelativeResize="0"/>
          <p:nvPr/>
        </p:nvPicPr>
        <p:blipFill>
          <a:blip r:embed="rId9">
            <a:alphaModFix/>
          </a:blip>
          <a:stretch>
            <a:fillRect/>
          </a:stretch>
        </p:blipFill>
        <p:spPr>
          <a:xfrm>
            <a:off x="5095501" y="3907220"/>
            <a:ext cx="1642438" cy="601350"/>
          </a:xfrm>
          <a:prstGeom prst="rect">
            <a:avLst/>
          </a:prstGeom>
          <a:noFill/>
          <a:ln>
            <a:noFill/>
          </a:ln>
        </p:spPr>
      </p:pic>
      <p:sp>
        <p:nvSpPr>
          <p:cNvPr id="763" name="Google Shape;763;h11a342068904e6d2_0_629"/>
          <p:cNvSpPr txBox="1"/>
          <p:nvPr/>
        </p:nvSpPr>
        <p:spPr>
          <a:xfrm>
            <a:off x="5840088" y="1021220"/>
            <a:ext cx="2172900" cy="4899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rgbClr val="062C75"/>
              </a:buClr>
              <a:buSzPts val="1600"/>
              <a:buFont typeface="Helvetica Neue Light"/>
              <a:buChar char="+"/>
            </a:pPr>
            <a:r>
              <a:rPr b="1" lang="en-US" sz="1600">
                <a:solidFill>
                  <a:srgbClr val="062C75"/>
                </a:solidFill>
                <a:latin typeface="Helvetica Neue"/>
                <a:ea typeface="Helvetica Neue"/>
                <a:cs typeface="Helvetica Neue"/>
                <a:sym typeface="Helvetica Neue"/>
              </a:rPr>
              <a:t>ARBOGEN </a:t>
            </a:r>
            <a:r>
              <a:rPr lang="en-US" sz="1600">
                <a:solidFill>
                  <a:srgbClr val="062C75"/>
                </a:solidFill>
                <a:latin typeface="Helvetica Neue Light"/>
                <a:ea typeface="Helvetica Neue Light"/>
                <a:cs typeface="Helvetica Neue Light"/>
                <a:sym typeface="Helvetica Neue Light"/>
              </a:rPr>
              <a:t>Collaborators</a:t>
            </a:r>
            <a:endParaRPr sz="1600">
              <a:solidFill>
                <a:srgbClr val="062C75"/>
              </a:solidFill>
              <a:latin typeface="Helvetica Neue Light"/>
              <a:ea typeface="Helvetica Neue Light"/>
              <a:cs typeface="Helvetica Neue Light"/>
              <a:sym typeface="Helvetica Neue Light"/>
            </a:endParaRPr>
          </a:p>
        </p:txBody>
      </p:sp>
      <p:grpSp>
        <p:nvGrpSpPr>
          <p:cNvPr id="764" name="Google Shape;764;h11a342068904e6d2_0_629"/>
          <p:cNvGrpSpPr/>
          <p:nvPr/>
        </p:nvGrpSpPr>
        <p:grpSpPr>
          <a:xfrm>
            <a:off x="7149426" y="3640378"/>
            <a:ext cx="874075" cy="950443"/>
            <a:chOff x="7355063" y="3715778"/>
            <a:chExt cx="874075" cy="950443"/>
          </a:xfrm>
        </p:grpSpPr>
        <p:pic>
          <p:nvPicPr>
            <p:cNvPr id="765" name="Google Shape;765;h11a342068904e6d2_0_629"/>
            <p:cNvPicPr preferRelativeResize="0"/>
            <p:nvPr/>
          </p:nvPicPr>
          <p:blipFill rotWithShape="1">
            <a:blip r:embed="rId10">
              <a:alphaModFix/>
            </a:blip>
            <a:srcRect b="57460" l="11588" r="72292" t="20521"/>
            <a:stretch/>
          </p:blipFill>
          <p:spPr>
            <a:xfrm>
              <a:off x="7355063" y="4064875"/>
              <a:ext cx="628900" cy="601346"/>
            </a:xfrm>
            <a:prstGeom prst="rect">
              <a:avLst/>
            </a:prstGeom>
            <a:noFill/>
            <a:ln>
              <a:noFill/>
            </a:ln>
          </p:spPr>
        </p:pic>
        <p:pic>
          <p:nvPicPr>
            <p:cNvPr id="766" name="Google Shape;766;h11a342068904e6d2_0_629"/>
            <p:cNvPicPr preferRelativeResize="0"/>
            <p:nvPr/>
          </p:nvPicPr>
          <p:blipFill rotWithShape="1">
            <a:blip r:embed="rId11">
              <a:alphaModFix/>
            </a:blip>
            <a:srcRect b="24432" l="0" r="0" t="21300"/>
            <a:stretch/>
          </p:blipFill>
          <p:spPr>
            <a:xfrm rot="7177166">
              <a:off x="7704995" y="3874375"/>
              <a:ext cx="533211" cy="289356"/>
            </a:xfrm>
            <a:prstGeom prst="rect">
              <a:avLst/>
            </a:prstGeom>
            <a:noFill/>
            <a:ln>
              <a:noFill/>
            </a:ln>
          </p:spPr>
        </p:pic>
      </p:grpSp>
      <p:sp>
        <p:nvSpPr>
          <p:cNvPr id="767" name="Google Shape;767;h11a342068904e6d2_0_629"/>
          <p:cNvSpPr txBox="1"/>
          <p:nvPr/>
        </p:nvSpPr>
        <p:spPr>
          <a:xfrm>
            <a:off x="4832472" y="4456040"/>
            <a:ext cx="2138700" cy="21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200">
                <a:solidFill>
                  <a:schemeClr val="dk2"/>
                </a:solidFill>
                <a:latin typeface="Helvetica Neue Light"/>
                <a:ea typeface="Helvetica Neue Light"/>
                <a:cs typeface="Helvetica Neue Light"/>
                <a:sym typeface="Helvetica Neue Light"/>
              </a:rPr>
              <a:t>Infectious Subgenomic Amplicons</a:t>
            </a:r>
            <a:endParaRPr sz="1200">
              <a:solidFill>
                <a:schemeClr val="dk2"/>
              </a:solidFill>
              <a:latin typeface="Helvetica Neue Light"/>
              <a:ea typeface="Helvetica Neue Light"/>
              <a:cs typeface="Helvetica Neue Light"/>
              <a:sym typeface="Helvetica Neue Light"/>
            </a:endParaRPr>
          </a:p>
        </p:txBody>
      </p:sp>
      <p:sp>
        <p:nvSpPr>
          <p:cNvPr id="768" name="Google Shape;768;h11a342068904e6d2_0_629"/>
          <p:cNvSpPr txBox="1"/>
          <p:nvPr/>
        </p:nvSpPr>
        <p:spPr>
          <a:xfrm>
            <a:off x="6877866" y="4456650"/>
            <a:ext cx="1416300" cy="21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200">
                <a:solidFill>
                  <a:schemeClr val="dk2"/>
                </a:solidFill>
                <a:latin typeface="Helvetica Neue Light"/>
                <a:ea typeface="Helvetica Neue Light"/>
                <a:cs typeface="Helvetica Neue Light"/>
                <a:sym typeface="Helvetica Neue Light"/>
              </a:rPr>
              <a:t>Anti-IFN treated mice</a:t>
            </a:r>
            <a:endParaRPr sz="1200">
              <a:solidFill>
                <a:schemeClr val="dk2"/>
              </a:solidFill>
              <a:latin typeface="Helvetica Neue Light"/>
              <a:ea typeface="Helvetica Neue Light"/>
              <a:cs typeface="Helvetica Neue Light"/>
              <a:sym typeface="Helvetica Neue Light"/>
            </a:endParaRPr>
          </a:p>
        </p:txBody>
      </p:sp>
      <p:pic>
        <p:nvPicPr>
          <p:cNvPr id="769" name="Google Shape;769;h11a342068904e6d2_0_629" title="Screenshot from 2025-03-28 16-09-22.png"/>
          <p:cNvPicPr preferRelativeResize="0"/>
          <p:nvPr/>
        </p:nvPicPr>
        <p:blipFill rotWithShape="1">
          <a:blip r:embed="rId8">
            <a:alphaModFix/>
          </a:blip>
          <a:srcRect b="0" l="42768" r="33149" t="0"/>
          <a:stretch/>
        </p:blipFill>
        <p:spPr>
          <a:xfrm>
            <a:off x="8563732" y="4018668"/>
            <a:ext cx="275800" cy="489900"/>
          </a:xfrm>
          <a:prstGeom prst="rect">
            <a:avLst/>
          </a:prstGeom>
          <a:noFill/>
          <a:ln>
            <a:noFill/>
          </a:ln>
        </p:spPr>
      </p:pic>
      <p:cxnSp>
        <p:nvCxnSpPr>
          <p:cNvPr id="770" name="Google Shape;770;h11a342068904e6d2_0_629"/>
          <p:cNvCxnSpPr>
            <a:stCxn id="762" idx="3"/>
            <a:endCxn id="766" idx="2"/>
          </p:cNvCxnSpPr>
          <p:nvPr/>
        </p:nvCxnSpPr>
        <p:spPr>
          <a:xfrm flipH="1" rot="10800000">
            <a:off x="6737939" y="3872195"/>
            <a:ext cx="902400" cy="335700"/>
          </a:xfrm>
          <a:prstGeom prst="curvedConnector3">
            <a:avLst>
              <a:gd fmla="val 42691" name="adj1"/>
            </a:avLst>
          </a:prstGeom>
          <a:noFill/>
          <a:ln cap="flat" cmpd="sng" w="9525">
            <a:solidFill>
              <a:schemeClr val="dk2"/>
            </a:solidFill>
            <a:prstDash val="solid"/>
            <a:round/>
            <a:headEnd len="med" w="med" type="none"/>
            <a:tailEnd len="med" w="med" type="stealth"/>
          </a:ln>
        </p:spPr>
      </p:cxnSp>
      <p:cxnSp>
        <p:nvCxnSpPr>
          <p:cNvPr id="771" name="Google Shape;771;h11a342068904e6d2_0_629"/>
          <p:cNvCxnSpPr>
            <a:endCxn id="769" idx="0"/>
          </p:cNvCxnSpPr>
          <p:nvPr/>
        </p:nvCxnSpPr>
        <p:spPr>
          <a:xfrm flipH="1" rot="10800000">
            <a:off x="7786932" y="4018668"/>
            <a:ext cx="914700" cy="301500"/>
          </a:xfrm>
          <a:prstGeom prst="curvedConnector4">
            <a:avLst>
              <a:gd fmla="val 42462" name="adj1"/>
              <a:gd fmla="val 178980" name="adj2"/>
            </a:avLst>
          </a:prstGeom>
          <a:noFill/>
          <a:ln cap="flat" cmpd="sng" w="9525">
            <a:solidFill>
              <a:schemeClr val="dk2"/>
            </a:solidFill>
            <a:prstDash val="solid"/>
            <a:round/>
            <a:headEnd len="med" w="med" type="none"/>
            <a:tailEnd len="med" w="med" type="stealth"/>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h11a342068904e6d2_0_662"/>
          <p:cNvSpPr/>
          <p:nvPr/>
        </p:nvSpPr>
        <p:spPr>
          <a:xfrm>
            <a:off x="0" y="0"/>
            <a:ext cx="9144000" cy="629400"/>
          </a:xfrm>
          <a:prstGeom prst="rect">
            <a:avLst/>
          </a:prstGeom>
          <a:solidFill>
            <a:srgbClr val="1C4587"/>
          </a:solidFill>
          <a:ln cap="flat" cmpd="sng" w="952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7" name="Google Shape;777;h11a342068904e6d2_0_662"/>
          <p:cNvSpPr txBox="1"/>
          <p:nvPr/>
        </p:nvSpPr>
        <p:spPr>
          <a:xfrm>
            <a:off x="219075" y="63350"/>
            <a:ext cx="8763000" cy="48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chemeClr val="lt1"/>
                </a:solidFill>
                <a:latin typeface="Helvetica Neue"/>
                <a:ea typeface="Helvetica Neue"/>
                <a:cs typeface="Helvetica Neue"/>
                <a:sym typeface="Helvetica Neue"/>
              </a:rPr>
              <a:t>Aim 3</a:t>
            </a:r>
            <a:endParaRPr b="1" sz="2200">
              <a:solidFill>
                <a:schemeClr val="lt1"/>
              </a:solidFill>
              <a:latin typeface="Helvetica Neue"/>
              <a:ea typeface="Helvetica Neue"/>
              <a:cs typeface="Helvetica Neue"/>
              <a:sym typeface="Helvetica Neue"/>
            </a:endParaRPr>
          </a:p>
        </p:txBody>
      </p:sp>
      <p:sp>
        <p:nvSpPr>
          <p:cNvPr id="778" name="Google Shape;778;h11a342068904e6d2_0_6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779" name="Google Shape;779;h11a342068904e6d2_0_662" title="Figure1.png"/>
          <p:cNvPicPr preferRelativeResize="0"/>
          <p:nvPr/>
        </p:nvPicPr>
        <p:blipFill rotWithShape="1">
          <a:blip r:embed="rId3">
            <a:alphaModFix/>
          </a:blip>
          <a:srcRect b="61323" l="48117" r="22161" t="0"/>
          <a:stretch/>
        </p:blipFill>
        <p:spPr>
          <a:xfrm>
            <a:off x="6036525" y="864482"/>
            <a:ext cx="2329723" cy="1674250"/>
          </a:xfrm>
          <a:prstGeom prst="rect">
            <a:avLst/>
          </a:prstGeom>
          <a:noFill/>
          <a:ln>
            <a:noFill/>
          </a:ln>
        </p:spPr>
      </p:pic>
      <p:sp>
        <p:nvSpPr>
          <p:cNvPr id="780" name="Google Shape;780;h11a342068904e6d2_0_662"/>
          <p:cNvSpPr/>
          <p:nvPr/>
        </p:nvSpPr>
        <p:spPr>
          <a:xfrm>
            <a:off x="6085450" y="1135539"/>
            <a:ext cx="2280900" cy="7371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300">
                <a:latin typeface="Helvetica Neue"/>
                <a:ea typeface="Helvetica Neue"/>
                <a:cs typeface="Helvetica Neue"/>
                <a:sym typeface="Helvetica Neue"/>
              </a:rPr>
              <a:t>Matched strain / sera panel</a:t>
            </a:r>
            <a:endParaRPr sz="1300">
              <a:latin typeface="Helvetica Neue"/>
              <a:ea typeface="Helvetica Neue"/>
              <a:cs typeface="Helvetica Neue"/>
              <a:sym typeface="Helvetica Neue"/>
            </a:endParaRPr>
          </a:p>
        </p:txBody>
      </p:sp>
      <p:pic>
        <p:nvPicPr>
          <p:cNvPr id="781" name="Google Shape;781;h11a342068904e6d2_0_662" title="Screenshot from 2025-03-28 16-09-22.png"/>
          <p:cNvPicPr preferRelativeResize="0"/>
          <p:nvPr/>
        </p:nvPicPr>
        <p:blipFill>
          <a:blip r:embed="rId4">
            <a:alphaModFix/>
          </a:blip>
          <a:stretch>
            <a:fillRect/>
          </a:stretch>
        </p:blipFill>
        <p:spPr>
          <a:xfrm>
            <a:off x="6734200" y="1626557"/>
            <a:ext cx="920099" cy="393600"/>
          </a:xfrm>
          <a:prstGeom prst="rect">
            <a:avLst/>
          </a:prstGeom>
          <a:noFill/>
          <a:ln>
            <a:noFill/>
          </a:ln>
        </p:spPr>
      </p:pic>
      <p:pic>
        <p:nvPicPr>
          <p:cNvPr id="782" name="Google Shape;782;h11a342068904e6d2_0_662" title="Screenshot from 2025-03-28 16-11-01.png"/>
          <p:cNvPicPr preferRelativeResize="0"/>
          <p:nvPr/>
        </p:nvPicPr>
        <p:blipFill>
          <a:blip r:embed="rId5">
            <a:alphaModFix/>
          </a:blip>
          <a:stretch>
            <a:fillRect/>
          </a:stretch>
        </p:blipFill>
        <p:spPr>
          <a:xfrm rot="-4140660">
            <a:off x="7062498" y="2699692"/>
            <a:ext cx="329630" cy="343712"/>
          </a:xfrm>
          <a:prstGeom prst="rect">
            <a:avLst/>
          </a:prstGeom>
          <a:noFill/>
          <a:ln>
            <a:noFill/>
          </a:ln>
        </p:spPr>
      </p:pic>
      <p:pic>
        <p:nvPicPr>
          <p:cNvPr id="783" name="Google Shape;783;h11a342068904e6d2_0_662" title="Screenshot from 2025-03-19 15-21-42.png"/>
          <p:cNvPicPr preferRelativeResize="0"/>
          <p:nvPr/>
        </p:nvPicPr>
        <p:blipFill>
          <a:blip r:embed="rId6">
            <a:alphaModFix/>
          </a:blip>
          <a:stretch>
            <a:fillRect/>
          </a:stretch>
        </p:blipFill>
        <p:spPr>
          <a:xfrm>
            <a:off x="7333825" y="2462532"/>
            <a:ext cx="634450" cy="551400"/>
          </a:xfrm>
          <a:prstGeom prst="rect">
            <a:avLst/>
          </a:prstGeom>
          <a:noFill/>
          <a:ln>
            <a:noFill/>
          </a:ln>
        </p:spPr>
      </p:pic>
      <p:pic>
        <p:nvPicPr>
          <p:cNvPr id="784" name="Google Shape;784;h11a342068904e6d2_0_662" title="dengue generalitiesv2.png"/>
          <p:cNvPicPr preferRelativeResize="0"/>
          <p:nvPr/>
        </p:nvPicPr>
        <p:blipFill rotWithShape="1">
          <a:blip r:embed="rId7">
            <a:alphaModFix/>
          </a:blip>
          <a:srcRect b="20955" l="9139" r="85672" t="71209"/>
          <a:stretch/>
        </p:blipFill>
        <p:spPr>
          <a:xfrm>
            <a:off x="6763900" y="2538732"/>
            <a:ext cx="292649" cy="310349"/>
          </a:xfrm>
          <a:prstGeom prst="rect">
            <a:avLst/>
          </a:prstGeom>
          <a:noFill/>
          <a:ln>
            <a:noFill/>
          </a:ln>
        </p:spPr>
      </p:pic>
      <p:sp>
        <p:nvSpPr>
          <p:cNvPr id="785" name="Google Shape;785;h11a342068904e6d2_0_662"/>
          <p:cNvSpPr txBox="1"/>
          <p:nvPr/>
        </p:nvSpPr>
        <p:spPr>
          <a:xfrm>
            <a:off x="6179900" y="3048632"/>
            <a:ext cx="2329800" cy="48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300">
                <a:latin typeface="Helvetica Neue"/>
                <a:ea typeface="Helvetica Neue"/>
                <a:cs typeface="Helvetica Neue"/>
                <a:sym typeface="Helvetica Neue"/>
              </a:rPr>
              <a:t>Assessment of neutralisation efficiency</a:t>
            </a:r>
            <a:endParaRPr sz="1300">
              <a:latin typeface="Helvetica Neue"/>
              <a:ea typeface="Helvetica Neue"/>
              <a:cs typeface="Helvetica Neue"/>
              <a:sym typeface="Helvetica Neue"/>
            </a:endParaRPr>
          </a:p>
        </p:txBody>
      </p:sp>
      <p:pic>
        <p:nvPicPr>
          <p:cNvPr id="786" name="Google Shape;786;h11a342068904e6d2_0_662" title="Screenshot from 2025-03-19 12-28-08.png"/>
          <p:cNvPicPr preferRelativeResize="0"/>
          <p:nvPr/>
        </p:nvPicPr>
        <p:blipFill rotWithShape="1">
          <a:blip r:embed="rId8">
            <a:alphaModFix/>
          </a:blip>
          <a:srcRect b="19319" l="35939" r="35865" t="19582"/>
          <a:stretch/>
        </p:blipFill>
        <p:spPr>
          <a:xfrm>
            <a:off x="4476848" y="2254107"/>
            <a:ext cx="1145001" cy="1083125"/>
          </a:xfrm>
          <a:prstGeom prst="rect">
            <a:avLst/>
          </a:prstGeom>
          <a:noFill/>
          <a:ln>
            <a:noFill/>
          </a:ln>
        </p:spPr>
      </p:pic>
      <p:sp>
        <p:nvSpPr>
          <p:cNvPr id="787" name="Google Shape;787;h11a342068904e6d2_0_662"/>
          <p:cNvSpPr txBox="1"/>
          <p:nvPr/>
        </p:nvSpPr>
        <p:spPr>
          <a:xfrm>
            <a:off x="4328713" y="3287557"/>
            <a:ext cx="1468800" cy="24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300">
                <a:solidFill>
                  <a:schemeClr val="dk1"/>
                </a:solidFill>
                <a:latin typeface="Helvetica Neue"/>
                <a:ea typeface="Helvetica Neue"/>
                <a:cs typeface="Helvetica Neue"/>
                <a:sym typeface="Helvetica Neue"/>
              </a:rPr>
              <a:t>Antigenic distances</a:t>
            </a:r>
            <a:endParaRPr sz="1300">
              <a:solidFill>
                <a:schemeClr val="dk1"/>
              </a:solidFill>
              <a:latin typeface="Helvetica Neue"/>
              <a:ea typeface="Helvetica Neue"/>
              <a:cs typeface="Helvetica Neue"/>
              <a:sym typeface="Helvetica Neue"/>
            </a:endParaRPr>
          </a:p>
        </p:txBody>
      </p:sp>
      <p:cxnSp>
        <p:nvCxnSpPr>
          <p:cNvPr id="788" name="Google Shape;788;h11a342068904e6d2_0_662"/>
          <p:cNvCxnSpPr/>
          <p:nvPr/>
        </p:nvCxnSpPr>
        <p:spPr>
          <a:xfrm flipH="1">
            <a:off x="5773625" y="2926657"/>
            <a:ext cx="698100" cy="6900"/>
          </a:xfrm>
          <a:prstGeom prst="straightConnector1">
            <a:avLst/>
          </a:prstGeom>
          <a:noFill/>
          <a:ln cap="flat" cmpd="sng" w="9525">
            <a:solidFill>
              <a:srgbClr val="000000"/>
            </a:solidFill>
            <a:prstDash val="solid"/>
            <a:round/>
            <a:headEnd len="med" w="med" type="none"/>
            <a:tailEnd len="med" w="med" type="stealth"/>
          </a:ln>
        </p:spPr>
      </p:cxnSp>
      <p:cxnSp>
        <p:nvCxnSpPr>
          <p:cNvPr id="789" name="Google Shape;789;h11a342068904e6d2_0_662"/>
          <p:cNvCxnSpPr>
            <a:stCxn id="790" idx="2"/>
            <a:endCxn id="791" idx="3"/>
          </p:cNvCxnSpPr>
          <p:nvPr/>
        </p:nvCxnSpPr>
        <p:spPr>
          <a:xfrm rot="10800000">
            <a:off x="3799200" y="2269932"/>
            <a:ext cx="772800" cy="351000"/>
          </a:xfrm>
          <a:prstGeom prst="curvedConnector3">
            <a:avLst>
              <a:gd fmla="val 49993" name="adj1"/>
            </a:avLst>
          </a:prstGeom>
          <a:noFill/>
          <a:ln cap="flat" cmpd="sng" w="9525">
            <a:solidFill>
              <a:srgbClr val="FF0000"/>
            </a:solidFill>
            <a:prstDash val="solid"/>
            <a:round/>
            <a:headEnd len="med" w="med" type="none"/>
            <a:tailEnd len="med" w="med" type="stealth"/>
          </a:ln>
        </p:spPr>
      </p:cxnSp>
      <p:sp>
        <p:nvSpPr>
          <p:cNvPr id="790" name="Google Shape;790;h11a342068904e6d2_0_662"/>
          <p:cNvSpPr/>
          <p:nvPr/>
        </p:nvSpPr>
        <p:spPr>
          <a:xfrm>
            <a:off x="4572000" y="2498232"/>
            <a:ext cx="246300" cy="2454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792" name="Google Shape;792;h11a342068904e6d2_0_662"/>
          <p:cNvCxnSpPr/>
          <p:nvPr/>
        </p:nvCxnSpPr>
        <p:spPr>
          <a:xfrm flipH="1">
            <a:off x="1887425" y="2527381"/>
            <a:ext cx="698100" cy="6900"/>
          </a:xfrm>
          <a:prstGeom prst="straightConnector1">
            <a:avLst/>
          </a:prstGeom>
          <a:noFill/>
          <a:ln cap="flat" cmpd="sng" w="9525">
            <a:solidFill>
              <a:srgbClr val="000000"/>
            </a:solidFill>
            <a:prstDash val="solid"/>
            <a:round/>
            <a:headEnd len="med" w="med" type="none"/>
            <a:tailEnd len="med" w="med" type="stealth"/>
          </a:ln>
        </p:spPr>
      </p:cxnSp>
      <p:sp>
        <p:nvSpPr>
          <p:cNvPr id="793" name="Google Shape;793;h11a342068904e6d2_0_662"/>
          <p:cNvSpPr txBox="1"/>
          <p:nvPr/>
        </p:nvSpPr>
        <p:spPr>
          <a:xfrm>
            <a:off x="502575" y="2056890"/>
            <a:ext cx="1335900" cy="1010700"/>
          </a:xfrm>
          <a:prstGeom prst="rect">
            <a:avLst/>
          </a:prstGeom>
          <a:noFill/>
          <a:ln cap="flat" cmpd="sng" w="9525">
            <a:solidFill>
              <a:srgbClr val="073763"/>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US" sz="1300">
                <a:solidFill>
                  <a:schemeClr val="dk1"/>
                </a:solidFill>
                <a:latin typeface="Helvetica Neue"/>
                <a:ea typeface="Helvetica Neue"/>
                <a:cs typeface="Helvetica Neue"/>
                <a:sym typeface="Helvetica Neue"/>
              </a:rPr>
              <a:t>Confirmation</a:t>
            </a:r>
            <a:endParaRPr b="1" sz="1300">
              <a:solidFill>
                <a:schemeClr val="dk1"/>
              </a:solidFill>
              <a:latin typeface="Helvetica Neue"/>
              <a:ea typeface="Helvetica Neue"/>
              <a:cs typeface="Helvetica Neue"/>
              <a:sym typeface="Helvetica Neue"/>
            </a:endParaRPr>
          </a:p>
          <a:p>
            <a:pPr indent="0" lvl="0" marL="0" rtl="0" algn="ctr">
              <a:spcBef>
                <a:spcPts val="600"/>
              </a:spcBef>
              <a:spcAft>
                <a:spcPts val="600"/>
              </a:spcAft>
              <a:buNone/>
            </a:pPr>
            <a:r>
              <a:t/>
            </a:r>
            <a:endParaRPr sz="1300">
              <a:solidFill>
                <a:schemeClr val="dk1"/>
              </a:solidFill>
              <a:latin typeface="Helvetica Neue"/>
              <a:ea typeface="Helvetica Neue"/>
              <a:cs typeface="Helvetica Neue"/>
              <a:sym typeface="Helvetica Neue"/>
            </a:endParaRPr>
          </a:p>
        </p:txBody>
      </p:sp>
      <p:sp>
        <p:nvSpPr>
          <p:cNvPr id="794" name="Google Shape;794;h11a342068904e6d2_0_662"/>
          <p:cNvSpPr txBox="1"/>
          <p:nvPr/>
        </p:nvSpPr>
        <p:spPr>
          <a:xfrm>
            <a:off x="325275" y="1015067"/>
            <a:ext cx="5269800" cy="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0"/>
              </a:spcBef>
              <a:spcAft>
                <a:spcPts val="0"/>
              </a:spcAft>
              <a:buNone/>
            </a:pPr>
            <a:r>
              <a:rPr lang="en-US" u="sng">
                <a:latin typeface="Helvetica Neue Light"/>
                <a:ea typeface="Helvetica Neue Light"/>
                <a:cs typeface="Helvetica Neue Light"/>
                <a:sym typeface="Helvetica Neue Light"/>
              </a:rPr>
              <a:t>Antigenic mapping</a:t>
            </a:r>
            <a:r>
              <a:rPr lang="en-US">
                <a:latin typeface="Helvetica Neue Light"/>
                <a:ea typeface="Helvetica Neue Light"/>
                <a:cs typeface="Helvetica Neue Light"/>
                <a:sym typeface="Helvetica Neue Light"/>
              </a:rPr>
              <a:t> of DENV2 and </a:t>
            </a:r>
            <a:r>
              <a:rPr lang="en-US" u="sng">
                <a:latin typeface="Helvetica Neue Light"/>
                <a:ea typeface="Helvetica Neue Light"/>
                <a:cs typeface="Helvetica Neue Light"/>
                <a:sym typeface="Helvetica Neue Light"/>
              </a:rPr>
              <a:t>experimental validation</a:t>
            </a:r>
            <a:r>
              <a:rPr lang="en-US">
                <a:latin typeface="Helvetica Neue Light"/>
                <a:ea typeface="Helvetica Neue Light"/>
                <a:cs typeface="Helvetica Neue Light"/>
                <a:sym typeface="Helvetica Neue Light"/>
              </a:rPr>
              <a:t> of mutations potentially involved in </a:t>
            </a:r>
            <a:r>
              <a:rPr lang="en-US" u="sng">
                <a:latin typeface="Helvetica Neue Light"/>
                <a:ea typeface="Helvetica Neue Light"/>
                <a:cs typeface="Helvetica Neue Light"/>
                <a:sym typeface="Helvetica Neue Light"/>
              </a:rPr>
              <a:t>intraserotype antigenic divergence</a:t>
            </a:r>
            <a:endParaRPr u="sng">
              <a:latin typeface="Helvetica Neue Light"/>
              <a:ea typeface="Helvetica Neue Light"/>
              <a:cs typeface="Helvetica Neue Light"/>
              <a:sym typeface="Helvetica Neue Light"/>
            </a:endParaRPr>
          </a:p>
        </p:txBody>
      </p:sp>
      <p:grpSp>
        <p:nvGrpSpPr>
          <p:cNvPr id="795" name="Google Shape;795;h11a342068904e6d2_0_662"/>
          <p:cNvGrpSpPr/>
          <p:nvPr/>
        </p:nvGrpSpPr>
        <p:grpSpPr>
          <a:xfrm>
            <a:off x="2713025" y="1920277"/>
            <a:ext cx="1101900" cy="1363200"/>
            <a:chOff x="2713025" y="2247480"/>
            <a:chExt cx="1101900" cy="1363200"/>
          </a:xfrm>
        </p:grpSpPr>
        <p:sp>
          <p:nvSpPr>
            <p:cNvPr id="796" name="Google Shape;796;h11a342068904e6d2_0_662"/>
            <p:cNvSpPr txBox="1"/>
            <p:nvPr/>
          </p:nvSpPr>
          <p:spPr>
            <a:xfrm>
              <a:off x="2713025" y="2247480"/>
              <a:ext cx="1101900" cy="13632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US" sz="1300">
                  <a:solidFill>
                    <a:schemeClr val="dk1"/>
                  </a:solidFill>
                  <a:latin typeface="Helvetica Neue"/>
                  <a:ea typeface="Helvetica Neue"/>
                  <a:cs typeface="Helvetica Neue"/>
                  <a:sym typeface="Helvetica Neue"/>
                </a:rPr>
                <a:t>Variants &amp; mutations involved</a:t>
              </a:r>
              <a:endParaRPr sz="1300">
                <a:solidFill>
                  <a:schemeClr val="dk1"/>
                </a:solidFill>
                <a:latin typeface="Helvetica Neue"/>
                <a:ea typeface="Helvetica Neue"/>
                <a:cs typeface="Helvetica Neue"/>
                <a:sym typeface="Helvetica Neue"/>
              </a:endParaRPr>
            </a:p>
          </p:txBody>
        </p:sp>
        <p:pic>
          <p:nvPicPr>
            <p:cNvPr id="797" name="Google Shape;797;h11a342068904e6d2_0_662" title="Screenshot from 2026-10-07 16-32-56.png"/>
            <p:cNvPicPr preferRelativeResize="0"/>
            <p:nvPr/>
          </p:nvPicPr>
          <p:blipFill rotWithShape="1">
            <a:blip r:embed="rId9">
              <a:alphaModFix/>
            </a:blip>
            <a:srcRect b="41943" l="0" r="0" t="33449"/>
            <a:stretch/>
          </p:blipFill>
          <p:spPr>
            <a:xfrm>
              <a:off x="2738438" y="2953170"/>
              <a:ext cx="1051075" cy="583500"/>
            </a:xfrm>
            <a:prstGeom prst="rect">
              <a:avLst/>
            </a:prstGeom>
            <a:noFill/>
            <a:ln>
              <a:noFill/>
            </a:ln>
          </p:spPr>
        </p:pic>
        <p:pic>
          <p:nvPicPr>
            <p:cNvPr id="791" name="Google Shape;791;h11a342068904e6d2_0_662" title="Screenshot from 2026-10-07 16-32-56.png"/>
            <p:cNvPicPr preferRelativeResize="0"/>
            <p:nvPr/>
          </p:nvPicPr>
          <p:blipFill rotWithShape="1">
            <a:blip r:embed="rId9">
              <a:alphaModFix/>
            </a:blip>
            <a:srcRect b="73458" l="0" r="0" t="0"/>
            <a:stretch/>
          </p:blipFill>
          <p:spPr>
            <a:xfrm>
              <a:off x="2748230" y="2282572"/>
              <a:ext cx="1051075" cy="629400"/>
            </a:xfrm>
            <a:prstGeom prst="rect">
              <a:avLst/>
            </a:prstGeom>
            <a:noFill/>
            <a:ln>
              <a:noFill/>
            </a:ln>
          </p:spPr>
        </p:pic>
        <p:sp>
          <p:nvSpPr>
            <p:cNvPr id="798" name="Google Shape;798;h11a342068904e6d2_0_662"/>
            <p:cNvSpPr/>
            <p:nvPr/>
          </p:nvSpPr>
          <p:spPr>
            <a:xfrm>
              <a:off x="2756297" y="2399244"/>
              <a:ext cx="226500" cy="190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799" name="Google Shape;799;h11a342068904e6d2_0_662" title="Screenshot from 2026-10-07 16-32-56.png"/>
          <p:cNvPicPr preferRelativeResize="0"/>
          <p:nvPr/>
        </p:nvPicPr>
        <p:blipFill rotWithShape="1">
          <a:blip r:embed="rId9">
            <a:alphaModFix/>
          </a:blip>
          <a:srcRect b="0" l="0" r="0" t="65292"/>
          <a:stretch/>
        </p:blipFill>
        <p:spPr>
          <a:xfrm>
            <a:off x="588447" y="2130215"/>
            <a:ext cx="1145000" cy="896571"/>
          </a:xfrm>
          <a:prstGeom prst="rect">
            <a:avLst/>
          </a:prstGeom>
          <a:noFill/>
          <a:ln>
            <a:noFill/>
          </a:ln>
        </p:spPr>
      </p:pic>
      <p:pic>
        <p:nvPicPr>
          <p:cNvPr id="800" name="Google Shape;800;h11a342068904e6d2_0_662"/>
          <p:cNvPicPr preferRelativeResize="0"/>
          <p:nvPr/>
        </p:nvPicPr>
        <p:blipFill>
          <a:blip r:embed="rId10">
            <a:alphaModFix/>
          </a:blip>
          <a:stretch>
            <a:fillRect/>
          </a:stretch>
        </p:blipFill>
        <p:spPr>
          <a:xfrm>
            <a:off x="7718782" y="9738"/>
            <a:ext cx="634450" cy="597128"/>
          </a:xfrm>
          <a:prstGeom prst="rect">
            <a:avLst/>
          </a:prstGeom>
          <a:noFill/>
          <a:ln>
            <a:noFill/>
          </a:ln>
        </p:spPr>
      </p:pic>
      <p:pic>
        <p:nvPicPr>
          <p:cNvPr id="801" name="Google Shape;801;h11a342068904e6d2_0_662"/>
          <p:cNvPicPr preferRelativeResize="0"/>
          <p:nvPr/>
        </p:nvPicPr>
        <p:blipFill rotWithShape="1">
          <a:blip r:embed="rId11">
            <a:alphaModFix/>
          </a:blip>
          <a:srcRect b="31994" l="65827" r="15155" t="34849"/>
          <a:stretch/>
        </p:blipFill>
        <p:spPr>
          <a:xfrm>
            <a:off x="8446999" y="39100"/>
            <a:ext cx="548699" cy="551203"/>
          </a:xfrm>
          <a:prstGeom prst="rect">
            <a:avLst/>
          </a:prstGeom>
          <a:noFill/>
          <a:ln>
            <a:noFill/>
          </a:ln>
        </p:spPr>
      </p:pic>
      <p:pic>
        <p:nvPicPr>
          <p:cNvPr id="802" name="Google Shape;802;h11a342068904e6d2_0_662"/>
          <p:cNvPicPr preferRelativeResize="0"/>
          <p:nvPr/>
        </p:nvPicPr>
        <p:blipFill rotWithShape="1">
          <a:blip r:embed="rId12">
            <a:alphaModFix/>
          </a:blip>
          <a:srcRect b="0" l="13614" r="0" t="0"/>
          <a:stretch/>
        </p:blipFill>
        <p:spPr>
          <a:xfrm>
            <a:off x="7059437" y="19800"/>
            <a:ext cx="548700" cy="635176"/>
          </a:xfrm>
          <a:prstGeom prst="rect">
            <a:avLst/>
          </a:prstGeom>
          <a:noFill/>
          <a:ln>
            <a:noFill/>
          </a:ln>
        </p:spPr>
      </p:pic>
      <p:sp>
        <p:nvSpPr>
          <p:cNvPr id="803" name="Google Shape;803;h11a342068904e6d2_0_662"/>
          <p:cNvSpPr txBox="1"/>
          <p:nvPr/>
        </p:nvSpPr>
        <p:spPr>
          <a:xfrm>
            <a:off x="6908542" y="590309"/>
            <a:ext cx="850500" cy="27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600">
                <a:solidFill>
                  <a:schemeClr val="dk1"/>
                </a:solidFill>
              </a:rPr>
              <a:t>Dr. Nazli Ayhan</a:t>
            </a:r>
            <a:endParaRPr b="1" sz="600">
              <a:solidFill>
                <a:schemeClr val="dk1"/>
              </a:solidFill>
            </a:endParaRPr>
          </a:p>
          <a:p>
            <a:pPr indent="0" lvl="0" marL="0" rtl="0" algn="ctr">
              <a:spcBef>
                <a:spcPts val="0"/>
              </a:spcBef>
              <a:spcAft>
                <a:spcPts val="0"/>
              </a:spcAft>
              <a:buNone/>
            </a:pPr>
            <a:r>
              <a:rPr b="1" lang="en-US" sz="600">
                <a:solidFill>
                  <a:schemeClr val="dk1"/>
                </a:solidFill>
              </a:rPr>
              <a:t>UVE- Marseille</a:t>
            </a:r>
            <a:endParaRPr b="1" sz="600">
              <a:solidFill>
                <a:schemeClr val="dk1"/>
              </a:solidFill>
            </a:endParaRPr>
          </a:p>
        </p:txBody>
      </p:sp>
      <p:sp>
        <p:nvSpPr>
          <p:cNvPr id="804" name="Google Shape;804;h11a342068904e6d2_0_662"/>
          <p:cNvSpPr txBox="1"/>
          <p:nvPr/>
        </p:nvSpPr>
        <p:spPr>
          <a:xfrm>
            <a:off x="7591542" y="583529"/>
            <a:ext cx="850500" cy="27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600">
                <a:solidFill>
                  <a:schemeClr val="dk1"/>
                </a:solidFill>
              </a:rPr>
              <a:t>Dr. Stéphane Priet</a:t>
            </a:r>
            <a:endParaRPr b="1" sz="600">
              <a:solidFill>
                <a:schemeClr val="dk1"/>
              </a:solidFill>
            </a:endParaRPr>
          </a:p>
          <a:p>
            <a:pPr indent="0" lvl="0" marL="0" rtl="0" algn="ctr">
              <a:spcBef>
                <a:spcPts val="0"/>
              </a:spcBef>
              <a:spcAft>
                <a:spcPts val="0"/>
              </a:spcAft>
              <a:buNone/>
            </a:pPr>
            <a:r>
              <a:rPr b="1" lang="en-US" sz="600">
                <a:solidFill>
                  <a:schemeClr val="dk1"/>
                </a:solidFill>
              </a:rPr>
              <a:t>UVE- Marseille</a:t>
            </a:r>
            <a:endParaRPr b="1" sz="600">
              <a:solidFill>
                <a:schemeClr val="dk1"/>
              </a:solidFill>
            </a:endParaRPr>
          </a:p>
        </p:txBody>
      </p:sp>
      <p:sp>
        <p:nvSpPr>
          <p:cNvPr id="805" name="Google Shape;805;h11a342068904e6d2_0_662"/>
          <p:cNvSpPr txBox="1"/>
          <p:nvPr/>
        </p:nvSpPr>
        <p:spPr>
          <a:xfrm>
            <a:off x="8249163" y="585600"/>
            <a:ext cx="920100" cy="27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600">
                <a:solidFill>
                  <a:schemeClr val="dk1"/>
                </a:solidFill>
              </a:rPr>
              <a:t>Karine Barthélémy</a:t>
            </a:r>
            <a:endParaRPr b="1" sz="600">
              <a:solidFill>
                <a:schemeClr val="dk1"/>
              </a:solidFill>
            </a:endParaRPr>
          </a:p>
          <a:p>
            <a:pPr indent="0" lvl="0" marL="0" rtl="0" algn="ctr">
              <a:spcBef>
                <a:spcPts val="0"/>
              </a:spcBef>
              <a:spcAft>
                <a:spcPts val="0"/>
              </a:spcAft>
              <a:buNone/>
            </a:pPr>
            <a:r>
              <a:rPr b="1" lang="en-US" sz="600">
                <a:solidFill>
                  <a:schemeClr val="dk1"/>
                </a:solidFill>
              </a:rPr>
              <a:t>UVE- Marseille</a:t>
            </a:r>
            <a:endParaRPr b="1" sz="600">
              <a:solidFill>
                <a:schemeClr val="dk1"/>
              </a:solidFill>
            </a:endParaRPr>
          </a:p>
        </p:txBody>
      </p:sp>
      <p:pic>
        <p:nvPicPr>
          <p:cNvPr id="806" name="Google Shape;806;h11a342068904e6d2_0_662" title="Screenshot from 2026-10-08 14-15-06.png"/>
          <p:cNvPicPr preferRelativeResize="0"/>
          <p:nvPr/>
        </p:nvPicPr>
        <p:blipFill>
          <a:blip r:embed="rId13">
            <a:alphaModFix/>
          </a:blip>
          <a:stretch>
            <a:fillRect/>
          </a:stretch>
        </p:blipFill>
        <p:spPr>
          <a:xfrm>
            <a:off x="2458671" y="3411874"/>
            <a:ext cx="1610599" cy="1010700"/>
          </a:xfrm>
          <a:prstGeom prst="rect">
            <a:avLst/>
          </a:prstGeom>
          <a:noFill/>
          <a:ln>
            <a:noFill/>
          </a:ln>
        </p:spPr>
      </p:pic>
      <p:sp>
        <p:nvSpPr>
          <p:cNvPr id="807" name="Google Shape;807;h11a342068904e6d2_0_662"/>
          <p:cNvSpPr txBox="1"/>
          <p:nvPr/>
        </p:nvSpPr>
        <p:spPr>
          <a:xfrm>
            <a:off x="2136506" y="4439652"/>
            <a:ext cx="22413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800">
                <a:latin typeface="Helvetica Neue Light"/>
                <a:ea typeface="Helvetica Neue Light"/>
                <a:cs typeface="Helvetica Neue Light"/>
                <a:sym typeface="Helvetica Neue Light"/>
              </a:rPr>
              <a:t>Distribution and effect size of antigenic mutations. Bell SM, et al. 2019. Elife.</a:t>
            </a:r>
            <a:endParaRPr sz="800">
              <a:latin typeface="Helvetica Neue Light"/>
              <a:ea typeface="Helvetica Neue Light"/>
              <a:cs typeface="Helvetica Neue Light"/>
              <a:sym typeface="Helvetica Neue Light"/>
            </a:endParaRPr>
          </a:p>
        </p:txBody>
      </p:sp>
      <p:pic>
        <p:nvPicPr>
          <p:cNvPr id="808" name="Google Shape;808;h11a342068904e6d2_0_662"/>
          <p:cNvPicPr preferRelativeResize="0"/>
          <p:nvPr/>
        </p:nvPicPr>
        <p:blipFill rotWithShape="1">
          <a:blip r:embed="rId14">
            <a:alphaModFix/>
          </a:blip>
          <a:srcRect b="0" l="14681" r="22418" t="0"/>
          <a:stretch/>
        </p:blipFill>
        <p:spPr>
          <a:xfrm>
            <a:off x="6425248" y="32245"/>
            <a:ext cx="507177" cy="597125"/>
          </a:xfrm>
          <a:prstGeom prst="rect">
            <a:avLst/>
          </a:prstGeom>
          <a:noFill/>
          <a:ln>
            <a:noFill/>
          </a:ln>
        </p:spPr>
      </p:pic>
      <p:sp>
        <p:nvSpPr>
          <p:cNvPr id="809" name="Google Shape;809;h11a342068904e6d2_0_662"/>
          <p:cNvSpPr txBox="1"/>
          <p:nvPr/>
        </p:nvSpPr>
        <p:spPr>
          <a:xfrm>
            <a:off x="6265043" y="592373"/>
            <a:ext cx="850500" cy="27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600">
                <a:solidFill>
                  <a:schemeClr val="dk1"/>
                </a:solidFill>
              </a:rPr>
              <a:t>Pr. Félix Rey</a:t>
            </a:r>
            <a:endParaRPr b="1" sz="600">
              <a:solidFill>
                <a:schemeClr val="dk1"/>
              </a:solidFill>
            </a:endParaRPr>
          </a:p>
          <a:p>
            <a:pPr indent="0" lvl="0" marL="0" rtl="0" algn="ctr">
              <a:spcBef>
                <a:spcPts val="0"/>
              </a:spcBef>
              <a:spcAft>
                <a:spcPts val="0"/>
              </a:spcAft>
              <a:buNone/>
            </a:pPr>
            <a:r>
              <a:rPr b="1" lang="en-US" sz="600">
                <a:solidFill>
                  <a:schemeClr val="dk1"/>
                </a:solidFill>
              </a:rPr>
              <a:t>IP - Paris</a:t>
            </a:r>
            <a:endParaRPr b="1" sz="600">
              <a:solidFill>
                <a:schemeClr val="dk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2D9A"/>
        </a:solidFill>
      </p:bgPr>
    </p:bg>
    <p:spTree>
      <p:nvGrpSpPr>
        <p:cNvPr id="813" name="Shape 813"/>
        <p:cNvGrpSpPr/>
        <p:nvPr/>
      </p:nvGrpSpPr>
      <p:grpSpPr>
        <a:xfrm>
          <a:off x="0" y="0"/>
          <a:ext cx="0" cy="0"/>
          <a:chOff x="0" y="0"/>
          <a:chExt cx="0" cy="0"/>
        </a:xfrm>
      </p:grpSpPr>
      <p:sp>
        <p:nvSpPr>
          <p:cNvPr id="814" name="Google Shape;814;h11a342068904e6d2_0_1007"/>
          <p:cNvSpPr txBox="1"/>
          <p:nvPr>
            <p:ph idx="1" type="subTitle"/>
          </p:nvPr>
        </p:nvSpPr>
        <p:spPr>
          <a:xfrm>
            <a:off x="514692" y="1169802"/>
            <a:ext cx="8520600" cy="2553300"/>
          </a:xfrm>
          <a:prstGeom prst="rect">
            <a:avLst/>
          </a:prstGeom>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en-US" sz="3200">
                <a:solidFill>
                  <a:srgbClr val="FF9900"/>
                </a:solidFill>
                <a:latin typeface="Helvetica Neue Light"/>
                <a:ea typeface="Helvetica Neue Light"/>
                <a:cs typeface="Helvetica Neue Light"/>
                <a:sym typeface="Helvetica Neue Light"/>
              </a:rPr>
              <a:t>And everything  !</a:t>
            </a:r>
            <a:endParaRPr sz="3200">
              <a:solidFill>
                <a:srgbClr val="FF9900"/>
              </a:solidFill>
              <a:latin typeface="Helvetica Neue Light"/>
              <a:ea typeface="Helvetica Neue Light"/>
              <a:cs typeface="Helvetica Neue Light"/>
              <a:sym typeface="Helvetica Neue Light"/>
            </a:endParaRPr>
          </a:p>
          <a:p>
            <a:pPr indent="0" lvl="0" marL="0" rtl="0" algn="ctr">
              <a:lnSpc>
                <a:spcPct val="150000"/>
              </a:lnSpc>
              <a:spcBef>
                <a:spcPts val="0"/>
              </a:spcBef>
              <a:spcAft>
                <a:spcPts val="0"/>
              </a:spcAft>
              <a:buNone/>
            </a:pPr>
            <a:r>
              <a:t/>
            </a:r>
            <a:endParaRPr sz="3200">
              <a:solidFill>
                <a:srgbClr val="FF9900"/>
              </a:solidFill>
              <a:latin typeface="Helvetica Neue Light"/>
              <a:ea typeface="Helvetica Neue Light"/>
              <a:cs typeface="Helvetica Neue Light"/>
              <a:sym typeface="Helvetica Neue Light"/>
            </a:endParaRPr>
          </a:p>
        </p:txBody>
      </p:sp>
      <p:cxnSp>
        <p:nvCxnSpPr>
          <p:cNvPr id="815" name="Google Shape;815;h11a342068904e6d2_0_1007"/>
          <p:cNvCxnSpPr>
            <a:stCxn id="814" idx="0"/>
            <a:endCxn id="814" idx="2"/>
          </p:cNvCxnSpPr>
          <p:nvPr/>
        </p:nvCxnSpPr>
        <p:spPr>
          <a:xfrm flipH="1" rot="-5400000">
            <a:off x="3498642" y="2446152"/>
            <a:ext cx="2553300" cy="600"/>
          </a:xfrm>
          <a:prstGeom prst="curvedConnector5">
            <a:avLst>
              <a:gd fmla="val -9326" name="adj1"/>
              <a:gd fmla="val -749737500" name="adj2"/>
              <a:gd fmla="val 109326" name="adj3"/>
            </a:avLst>
          </a:prstGeom>
          <a:noFill/>
          <a:ln cap="flat" cmpd="sng" w="28575">
            <a:solidFill>
              <a:srgbClr val="FF9900"/>
            </a:solidFill>
            <a:prstDash val="dot"/>
            <a:round/>
            <a:headEnd len="med" w="med" type="stealth"/>
            <a:tailEnd len="med" w="med" type="none"/>
          </a:ln>
        </p:spPr>
      </p:cxnSp>
      <p:pic>
        <p:nvPicPr>
          <p:cNvPr id="816" name="Google Shape;816;h11a342068904e6d2_0_1007"/>
          <p:cNvPicPr preferRelativeResize="0"/>
          <p:nvPr/>
        </p:nvPicPr>
        <p:blipFill rotWithShape="1">
          <a:blip r:embed="rId3">
            <a:alphaModFix/>
          </a:blip>
          <a:srcRect b="5003" l="0" r="0" t="27752"/>
          <a:stretch/>
        </p:blipFill>
        <p:spPr>
          <a:xfrm>
            <a:off x="3864667" y="2130126"/>
            <a:ext cx="1678600" cy="1693125"/>
          </a:xfrm>
          <a:prstGeom prst="rect">
            <a:avLst/>
          </a:prstGeom>
          <a:noFill/>
          <a:ln>
            <a:noFill/>
          </a:ln>
        </p:spPr>
      </p:pic>
      <p:pic>
        <p:nvPicPr>
          <p:cNvPr id="817" name="Google Shape;817;h11a342068904e6d2_0_1007"/>
          <p:cNvPicPr preferRelativeResize="0"/>
          <p:nvPr/>
        </p:nvPicPr>
        <p:blipFill rotWithShape="1">
          <a:blip r:embed="rId3">
            <a:alphaModFix/>
          </a:blip>
          <a:srcRect b="42953" l="52781" r="0" t="27752"/>
          <a:stretch/>
        </p:blipFill>
        <p:spPr>
          <a:xfrm>
            <a:off x="3958335" y="1962409"/>
            <a:ext cx="722375" cy="672251"/>
          </a:xfrm>
          <a:prstGeom prst="rect">
            <a:avLst/>
          </a:prstGeom>
          <a:noFill/>
          <a:ln>
            <a:noFill/>
          </a:ln>
        </p:spPr>
      </p:pic>
      <p:sp>
        <p:nvSpPr>
          <p:cNvPr id="818" name="Google Shape;818;h11a342068904e6d2_0_1007"/>
          <p:cNvSpPr txBox="1"/>
          <p:nvPr/>
        </p:nvSpPr>
        <p:spPr>
          <a:xfrm>
            <a:off x="6480125" y="2255025"/>
            <a:ext cx="1928400" cy="16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6700">
                <a:solidFill>
                  <a:srgbClr val="F7F6F5"/>
                </a:solidFill>
              </a:rPr>
              <a:t>42 ?</a:t>
            </a:r>
            <a:endParaRPr sz="6700">
              <a:solidFill>
                <a:srgbClr val="F7F6F5"/>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pic>
        <p:nvPicPr>
          <p:cNvPr id="823" name="Google Shape;823;g3d5b1289de4_0_890"/>
          <p:cNvPicPr preferRelativeResize="0"/>
          <p:nvPr/>
        </p:nvPicPr>
        <p:blipFill rotWithShape="1">
          <a:blip r:embed="rId3">
            <a:alphaModFix/>
          </a:blip>
          <a:srcRect b="0" l="0" r="0" t="-9158"/>
          <a:stretch/>
        </p:blipFill>
        <p:spPr>
          <a:xfrm>
            <a:off x="1628638" y="2197351"/>
            <a:ext cx="1748850" cy="885494"/>
          </a:xfrm>
          <a:prstGeom prst="rect">
            <a:avLst/>
          </a:prstGeom>
          <a:noFill/>
          <a:ln>
            <a:noFill/>
          </a:ln>
        </p:spPr>
      </p:pic>
      <p:sp>
        <p:nvSpPr>
          <p:cNvPr id="824" name="Google Shape;824;g3d5b1289de4_0_890"/>
          <p:cNvSpPr txBox="1"/>
          <p:nvPr>
            <p:ph type="title"/>
          </p:nvPr>
        </p:nvSpPr>
        <p:spPr>
          <a:xfrm>
            <a:off x="2116436" y="-27447"/>
            <a:ext cx="4395300" cy="7962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3111"/>
              <a:buNone/>
            </a:pPr>
            <a:r>
              <a:rPr lang="en-US">
                <a:latin typeface="Helvetica Neue Light"/>
                <a:ea typeface="Helvetica Neue Light"/>
                <a:cs typeface="Helvetica Neue Light"/>
                <a:sym typeface="Helvetica Neue Light"/>
              </a:rPr>
              <a:t>A huge team work</a:t>
            </a:r>
            <a:r>
              <a:rPr lang="en-US">
                <a:latin typeface="Helvetica Neue Light"/>
                <a:ea typeface="Helvetica Neue Light"/>
                <a:cs typeface="Helvetica Neue Light"/>
                <a:sym typeface="Helvetica Neue Light"/>
              </a:rPr>
              <a:t> !</a:t>
            </a:r>
            <a:endParaRPr>
              <a:latin typeface="Helvetica Neue Light"/>
              <a:ea typeface="Helvetica Neue Light"/>
              <a:cs typeface="Helvetica Neue Light"/>
              <a:sym typeface="Helvetica Neue Light"/>
            </a:endParaRPr>
          </a:p>
        </p:txBody>
      </p:sp>
      <p:pic>
        <p:nvPicPr>
          <p:cNvPr id="825" name="Google Shape;825;g3d5b1289de4_0_890"/>
          <p:cNvPicPr preferRelativeResize="0"/>
          <p:nvPr/>
        </p:nvPicPr>
        <p:blipFill rotWithShape="1">
          <a:blip r:embed="rId4">
            <a:alphaModFix/>
          </a:blip>
          <a:srcRect b="0" l="0" r="0" t="74291"/>
          <a:stretch/>
        </p:blipFill>
        <p:spPr>
          <a:xfrm>
            <a:off x="112279" y="3136422"/>
            <a:ext cx="9472374" cy="1407951"/>
          </a:xfrm>
          <a:prstGeom prst="rect">
            <a:avLst/>
          </a:prstGeom>
          <a:noFill/>
          <a:ln>
            <a:noFill/>
          </a:ln>
        </p:spPr>
      </p:pic>
      <p:sp>
        <p:nvSpPr>
          <p:cNvPr id="826" name="Google Shape;826;g3d5b1289de4_0_890"/>
          <p:cNvSpPr/>
          <p:nvPr/>
        </p:nvSpPr>
        <p:spPr>
          <a:xfrm>
            <a:off x="5917242" y="2939797"/>
            <a:ext cx="3183900" cy="482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27" name="Google Shape;827;g3d5b1289de4_0_890"/>
          <p:cNvPicPr preferRelativeResize="0"/>
          <p:nvPr/>
        </p:nvPicPr>
        <p:blipFill rotWithShape="1">
          <a:blip r:embed="rId5">
            <a:alphaModFix/>
          </a:blip>
          <a:srcRect b="14537" l="0" r="0" t="0"/>
          <a:stretch/>
        </p:blipFill>
        <p:spPr>
          <a:xfrm>
            <a:off x="4758327" y="2282246"/>
            <a:ext cx="997175" cy="852249"/>
          </a:xfrm>
          <a:prstGeom prst="rect">
            <a:avLst/>
          </a:prstGeom>
          <a:noFill/>
          <a:ln>
            <a:noFill/>
          </a:ln>
        </p:spPr>
      </p:pic>
      <p:pic>
        <p:nvPicPr>
          <p:cNvPr id="828" name="Google Shape;828;g3d5b1289de4_0_890"/>
          <p:cNvPicPr preferRelativeResize="0"/>
          <p:nvPr/>
        </p:nvPicPr>
        <p:blipFill rotWithShape="1">
          <a:blip r:embed="rId6">
            <a:alphaModFix/>
          </a:blip>
          <a:srcRect b="0" l="0" r="0" t="0"/>
          <a:stretch/>
        </p:blipFill>
        <p:spPr>
          <a:xfrm>
            <a:off x="7465680" y="2735272"/>
            <a:ext cx="1391979" cy="572700"/>
          </a:xfrm>
          <a:prstGeom prst="rect">
            <a:avLst/>
          </a:prstGeom>
          <a:noFill/>
          <a:ln>
            <a:noFill/>
          </a:ln>
        </p:spPr>
      </p:pic>
      <p:pic>
        <p:nvPicPr>
          <p:cNvPr id="829" name="Google Shape;829;g3d5b1289de4_0_890"/>
          <p:cNvPicPr preferRelativeResize="0"/>
          <p:nvPr/>
        </p:nvPicPr>
        <p:blipFill rotWithShape="1">
          <a:blip r:embed="rId7">
            <a:alphaModFix/>
          </a:blip>
          <a:srcRect b="0" l="0" r="0" t="0"/>
          <a:stretch/>
        </p:blipFill>
        <p:spPr>
          <a:xfrm>
            <a:off x="521617" y="2410072"/>
            <a:ext cx="880000" cy="880000"/>
          </a:xfrm>
          <a:prstGeom prst="rect">
            <a:avLst/>
          </a:prstGeom>
          <a:noFill/>
          <a:ln>
            <a:noFill/>
          </a:ln>
        </p:spPr>
      </p:pic>
      <p:pic>
        <p:nvPicPr>
          <p:cNvPr id="830" name="Google Shape;830;g3d5b1289de4_0_890"/>
          <p:cNvPicPr preferRelativeResize="0"/>
          <p:nvPr/>
        </p:nvPicPr>
        <p:blipFill rotWithShape="1">
          <a:blip r:embed="rId8">
            <a:alphaModFix/>
          </a:blip>
          <a:srcRect b="0" l="0" r="0" t="0"/>
          <a:stretch/>
        </p:blipFill>
        <p:spPr>
          <a:xfrm>
            <a:off x="2582600" y="3290065"/>
            <a:ext cx="997182" cy="572700"/>
          </a:xfrm>
          <a:prstGeom prst="rect">
            <a:avLst/>
          </a:prstGeom>
          <a:noFill/>
          <a:ln>
            <a:noFill/>
          </a:ln>
        </p:spPr>
      </p:pic>
      <p:pic>
        <p:nvPicPr>
          <p:cNvPr id="831" name="Google Shape;831;g3d5b1289de4_0_890"/>
          <p:cNvPicPr preferRelativeResize="0"/>
          <p:nvPr/>
        </p:nvPicPr>
        <p:blipFill rotWithShape="1">
          <a:blip r:embed="rId9">
            <a:alphaModFix/>
          </a:blip>
          <a:srcRect b="0" l="0" r="0" t="0"/>
          <a:stretch/>
        </p:blipFill>
        <p:spPr>
          <a:xfrm>
            <a:off x="3527825" y="2410065"/>
            <a:ext cx="1162933" cy="852250"/>
          </a:xfrm>
          <a:prstGeom prst="rect">
            <a:avLst/>
          </a:prstGeom>
          <a:noFill/>
          <a:ln>
            <a:noFill/>
          </a:ln>
        </p:spPr>
      </p:pic>
      <p:pic>
        <p:nvPicPr>
          <p:cNvPr id="832" name="Google Shape;832;g3d5b1289de4_0_890"/>
          <p:cNvPicPr preferRelativeResize="0"/>
          <p:nvPr/>
        </p:nvPicPr>
        <p:blipFill rotWithShape="1">
          <a:blip r:embed="rId10">
            <a:alphaModFix/>
          </a:blip>
          <a:srcRect b="0" l="0" r="0" t="0"/>
          <a:stretch/>
        </p:blipFill>
        <p:spPr>
          <a:xfrm>
            <a:off x="5751700" y="2238730"/>
            <a:ext cx="1082175" cy="759144"/>
          </a:xfrm>
          <a:prstGeom prst="rect">
            <a:avLst/>
          </a:prstGeom>
          <a:noFill/>
          <a:ln>
            <a:noFill/>
          </a:ln>
        </p:spPr>
      </p:pic>
      <p:pic>
        <p:nvPicPr>
          <p:cNvPr id="833" name="Google Shape;833;g3d5b1289de4_0_890"/>
          <p:cNvPicPr preferRelativeResize="0"/>
          <p:nvPr/>
        </p:nvPicPr>
        <p:blipFill rotWithShape="1">
          <a:blip r:embed="rId11">
            <a:alphaModFix/>
          </a:blip>
          <a:srcRect b="28110" l="0" r="0" t="30576"/>
          <a:stretch/>
        </p:blipFill>
        <p:spPr>
          <a:xfrm>
            <a:off x="6042300" y="2979990"/>
            <a:ext cx="1340200" cy="310075"/>
          </a:xfrm>
          <a:prstGeom prst="rect">
            <a:avLst/>
          </a:prstGeom>
          <a:noFill/>
          <a:ln>
            <a:noFill/>
          </a:ln>
        </p:spPr>
      </p:pic>
      <p:pic>
        <p:nvPicPr>
          <p:cNvPr id="834" name="Google Shape;834;g3d5b1289de4_0_890"/>
          <p:cNvPicPr preferRelativeResize="0"/>
          <p:nvPr/>
        </p:nvPicPr>
        <p:blipFill rotWithShape="1">
          <a:blip r:embed="rId12">
            <a:alphaModFix/>
          </a:blip>
          <a:srcRect b="0" l="0" r="0" t="0"/>
          <a:stretch/>
        </p:blipFill>
        <p:spPr>
          <a:xfrm>
            <a:off x="7401949" y="2073186"/>
            <a:ext cx="1631966" cy="572700"/>
          </a:xfrm>
          <a:prstGeom prst="rect">
            <a:avLst/>
          </a:prstGeom>
          <a:noFill/>
          <a:ln>
            <a:noFill/>
          </a:ln>
        </p:spPr>
      </p:pic>
      <p:sp>
        <p:nvSpPr>
          <p:cNvPr id="835" name="Google Shape;835;g3d5b1289de4_0_89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836" name="Google Shape;836;g3d5b1289de4_0_890" title="SAGIR.png"/>
          <p:cNvPicPr preferRelativeResize="0"/>
          <p:nvPr/>
        </p:nvPicPr>
        <p:blipFill rotWithShape="1">
          <a:blip r:embed="rId13">
            <a:alphaModFix/>
          </a:blip>
          <a:srcRect b="0" l="0" r="0" t="0"/>
          <a:stretch/>
        </p:blipFill>
        <p:spPr>
          <a:xfrm>
            <a:off x="8101700" y="1363000"/>
            <a:ext cx="819150" cy="752475"/>
          </a:xfrm>
          <a:prstGeom prst="rect">
            <a:avLst/>
          </a:prstGeom>
          <a:noFill/>
          <a:ln>
            <a:noFill/>
          </a:ln>
        </p:spPr>
      </p:pic>
      <p:pic>
        <p:nvPicPr>
          <p:cNvPr id="837" name="Google Shape;837;g3d5b1289de4_0_890" title="OFB.png"/>
          <p:cNvPicPr preferRelativeResize="0"/>
          <p:nvPr/>
        </p:nvPicPr>
        <p:blipFill rotWithShape="1">
          <a:blip r:embed="rId14">
            <a:alphaModFix/>
          </a:blip>
          <a:srcRect b="0" l="0" r="0" t="0"/>
          <a:stretch/>
        </p:blipFill>
        <p:spPr>
          <a:xfrm>
            <a:off x="5076587" y="1638375"/>
            <a:ext cx="641384" cy="796200"/>
          </a:xfrm>
          <a:prstGeom prst="rect">
            <a:avLst/>
          </a:prstGeom>
          <a:noFill/>
          <a:ln>
            <a:noFill/>
          </a:ln>
        </p:spPr>
      </p:pic>
      <p:pic>
        <p:nvPicPr>
          <p:cNvPr id="838" name="Google Shape;838;g3d5b1289de4_0_890" title="FDC17.jpg"/>
          <p:cNvPicPr preferRelativeResize="0"/>
          <p:nvPr/>
        </p:nvPicPr>
        <p:blipFill rotWithShape="1">
          <a:blip r:embed="rId15">
            <a:alphaModFix/>
          </a:blip>
          <a:srcRect b="0" l="0" r="0" t="0"/>
          <a:stretch/>
        </p:blipFill>
        <p:spPr>
          <a:xfrm>
            <a:off x="5362598" y="4430606"/>
            <a:ext cx="747850" cy="604292"/>
          </a:xfrm>
          <a:prstGeom prst="rect">
            <a:avLst/>
          </a:prstGeom>
          <a:noFill/>
          <a:ln>
            <a:noFill/>
          </a:ln>
        </p:spPr>
      </p:pic>
      <p:pic>
        <p:nvPicPr>
          <p:cNvPr id="839" name="Google Shape;839;g3d5b1289de4_0_890" title="fdc 33.png"/>
          <p:cNvPicPr preferRelativeResize="0"/>
          <p:nvPr/>
        </p:nvPicPr>
        <p:blipFill rotWithShape="1">
          <a:blip r:embed="rId16">
            <a:alphaModFix/>
          </a:blip>
          <a:srcRect b="0" l="0" r="0" t="0"/>
          <a:stretch/>
        </p:blipFill>
        <p:spPr>
          <a:xfrm>
            <a:off x="186725" y="4469778"/>
            <a:ext cx="926675" cy="599795"/>
          </a:xfrm>
          <a:prstGeom prst="rect">
            <a:avLst/>
          </a:prstGeom>
          <a:noFill/>
          <a:ln>
            <a:noFill/>
          </a:ln>
        </p:spPr>
      </p:pic>
      <p:pic>
        <p:nvPicPr>
          <p:cNvPr id="840" name="Google Shape;840;g3d5b1289de4_0_890" title="Capture d’écran 2024-06-19 193228.png"/>
          <p:cNvPicPr preferRelativeResize="0"/>
          <p:nvPr/>
        </p:nvPicPr>
        <p:blipFill rotWithShape="1">
          <a:blip r:embed="rId17">
            <a:alphaModFix/>
          </a:blip>
          <a:srcRect b="0" l="0" r="0" t="0"/>
          <a:stretch/>
        </p:blipFill>
        <p:spPr>
          <a:xfrm>
            <a:off x="86331" y="1854460"/>
            <a:ext cx="1391975" cy="536454"/>
          </a:xfrm>
          <a:prstGeom prst="rect">
            <a:avLst/>
          </a:prstGeom>
          <a:noFill/>
          <a:ln>
            <a:noFill/>
          </a:ln>
        </p:spPr>
      </p:pic>
      <p:pic>
        <p:nvPicPr>
          <p:cNvPr id="841" name="Google Shape;841;g3d5b1289de4_0_890" title="ADPAGlogo2018_MelB-grand.png"/>
          <p:cNvPicPr preferRelativeResize="0"/>
          <p:nvPr/>
        </p:nvPicPr>
        <p:blipFill rotWithShape="1">
          <a:blip r:embed="rId18">
            <a:alphaModFix/>
          </a:blip>
          <a:srcRect b="0" l="0" r="0" t="0"/>
          <a:stretch/>
        </p:blipFill>
        <p:spPr>
          <a:xfrm>
            <a:off x="8101700" y="70350"/>
            <a:ext cx="926671" cy="1134377"/>
          </a:xfrm>
          <a:prstGeom prst="rect">
            <a:avLst/>
          </a:prstGeom>
          <a:noFill/>
          <a:ln>
            <a:noFill/>
          </a:ln>
        </p:spPr>
      </p:pic>
      <p:pic>
        <p:nvPicPr>
          <p:cNvPr id="842" name="Google Shape;842;g3d5b1289de4_0_890" title="Zoo Palmyre.png"/>
          <p:cNvPicPr preferRelativeResize="0"/>
          <p:nvPr/>
        </p:nvPicPr>
        <p:blipFill rotWithShape="1">
          <a:blip r:embed="rId19">
            <a:alphaModFix/>
          </a:blip>
          <a:srcRect b="0" l="0" r="0" t="0"/>
          <a:stretch/>
        </p:blipFill>
        <p:spPr>
          <a:xfrm>
            <a:off x="1211122" y="1399407"/>
            <a:ext cx="674875" cy="674875"/>
          </a:xfrm>
          <a:prstGeom prst="rect">
            <a:avLst/>
          </a:prstGeom>
          <a:noFill/>
          <a:ln>
            <a:noFill/>
          </a:ln>
        </p:spPr>
      </p:pic>
      <p:pic>
        <p:nvPicPr>
          <p:cNvPr id="843" name="Google Shape;843;g3d5b1289de4_0_890"/>
          <p:cNvPicPr preferRelativeResize="0"/>
          <p:nvPr/>
        </p:nvPicPr>
        <p:blipFill rotWithShape="1">
          <a:blip r:embed="rId20">
            <a:alphaModFix/>
          </a:blip>
          <a:srcRect b="0" l="0" r="0" t="0"/>
          <a:stretch/>
        </p:blipFill>
        <p:spPr>
          <a:xfrm>
            <a:off x="1947705" y="1607497"/>
            <a:ext cx="1391974" cy="536266"/>
          </a:xfrm>
          <a:prstGeom prst="rect">
            <a:avLst/>
          </a:prstGeom>
          <a:noFill/>
          <a:ln>
            <a:noFill/>
          </a:ln>
        </p:spPr>
      </p:pic>
      <p:pic>
        <p:nvPicPr>
          <p:cNvPr id="844" name="Google Shape;844;g3d5b1289de4_0_890"/>
          <p:cNvPicPr preferRelativeResize="0"/>
          <p:nvPr/>
        </p:nvPicPr>
        <p:blipFill rotWithShape="1">
          <a:blip r:embed="rId21">
            <a:alphaModFix/>
          </a:blip>
          <a:srcRect b="0" l="0" r="0" t="0"/>
          <a:stretch/>
        </p:blipFill>
        <p:spPr>
          <a:xfrm>
            <a:off x="1866600" y="4535876"/>
            <a:ext cx="1391975" cy="467587"/>
          </a:xfrm>
          <a:prstGeom prst="rect">
            <a:avLst/>
          </a:prstGeom>
          <a:noFill/>
          <a:ln>
            <a:noFill/>
          </a:ln>
        </p:spPr>
      </p:pic>
      <p:pic>
        <p:nvPicPr>
          <p:cNvPr id="845" name="Google Shape;845;g3d5b1289de4_0_890"/>
          <p:cNvPicPr preferRelativeResize="0"/>
          <p:nvPr/>
        </p:nvPicPr>
        <p:blipFill rotWithShape="1">
          <a:blip r:embed="rId22">
            <a:alphaModFix/>
          </a:blip>
          <a:srcRect b="0" l="0" r="0" t="0"/>
          <a:stretch/>
        </p:blipFill>
        <p:spPr>
          <a:xfrm>
            <a:off x="4011775" y="4504474"/>
            <a:ext cx="926675" cy="530414"/>
          </a:xfrm>
          <a:prstGeom prst="rect">
            <a:avLst/>
          </a:prstGeom>
          <a:noFill/>
          <a:ln>
            <a:noFill/>
          </a:ln>
        </p:spPr>
      </p:pic>
      <p:pic>
        <p:nvPicPr>
          <p:cNvPr id="846" name="Google Shape;846;g3d5b1289de4_0_890"/>
          <p:cNvPicPr preferRelativeResize="0"/>
          <p:nvPr/>
        </p:nvPicPr>
        <p:blipFill rotWithShape="1">
          <a:blip r:embed="rId23">
            <a:alphaModFix/>
          </a:blip>
          <a:srcRect b="17909" l="4950" r="6177" t="10138"/>
          <a:stretch/>
        </p:blipFill>
        <p:spPr>
          <a:xfrm>
            <a:off x="280092" y="70343"/>
            <a:ext cx="1214899" cy="634582"/>
          </a:xfrm>
          <a:prstGeom prst="rect">
            <a:avLst/>
          </a:prstGeom>
          <a:noFill/>
          <a:ln>
            <a:noFill/>
          </a:ln>
        </p:spPr>
      </p:pic>
      <p:pic>
        <p:nvPicPr>
          <p:cNvPr id="847" name="Google Shape;847;g3d5b1289de4_0_890"/>
          <p:cNvPicPr preferRelativeResize="0"/>
          <p:nvPr/>
        </p:nvPicPr>
        <p:blipFill rotWithShape="1">
          <a:blip r:embed="rId24">
            <a:alphaModFix/>
          </a:blip>
          <a:srcRect b="0" l="0" r="0" t="0"/>
          <a:stretch/>
        </p:blipFill>
        <p:spPr>
          <a:xfrm>
            <a:off x="4190612" y="1299375"/>
            <a:ext cx="747850" cy="747850"/>
          </a:xfrm>
          <a:prstGeom prst="rect">
            <a:avLst/>
          </a:prstGeom>
          <a:noFill/>
          <a:ln>
            <a:noFill/>
          </a:ln>
        </p:spPr>
      </p:pic>
      <p:pic>
        <p:nvPicPr>
          <p:cNvPr id="848" name="Google Shape;848;g3d5b1289de4_0_890"/>
          <p:cNvPicPr preferRelativeResize="0"/>
          <p:nvPr/>
        </p:nvPicPr>
        <p:blipFill rotWithShape="1">
          <a:blip r:embed="rId25">
            <a:alphaModFix/>
          </a:blip>
          <a:srcRect b="0" l="0" r="0" t="0"/>
          <a:stretch/>
        </p:blipFill>
        <p:spPr>
          <a:xfrm>
            <a:off x="6446500" y="1690051"/>
            <a:ext cx="926675" cy="546603"/>
          </a:xfrm>
          <a:prstGeom prst="rect">
            <a:avLst/>
          </a:prstGeom>
          <a:noFill/>
          <a:ln>
            <a:noFill/>
          </a:ln>
        </p:spPr>
      </p:pic>
      <p:pic>
        <p:nvPicPr>
          <p:cNvPr id="849" name="Google Shape;849;g3d5b1289de4_0_890"/>
          <p:cNvPicPr preferRelativeResize="0"/>
          <p:nvPr/>
        </p:nvPicPr>
        <p:blipFill rotWithShape="1">
          <a:blip r:embed="rId26">
            <a:alphaModFix/>
          </a:blip>
          <a:srcRect b="0" l="0" r="0" t="0"/>
          <a:stretch/>
        </p:blipFill>
        <p:spPr>
          <a:xfrm>
            <a:off x="3328851" y="1285324"/>
            <a:ext cx="673919" cy="1180599"/>
          </a:xfrm>
          <a:prstGeom prst="rect">
            <a:avLst/>
          </a:prstGeom>
          <a:noFill/>
          <a:ln>
            <a:noFill/>
          </a:ln>
        </p:spPr>
      </p:pic>
      <p:pic>
        <p:nvPicPr>
          <p:cNvPr id="850" name="Google Shape;850;g3d5b1289de4_0_890"/>
          <p:cNvPicPr preferRelativeResize="0"/>
          <p:nvPr/>
        </p:nvPicPr>
        <p:blipFill rotWithShape="1">
          <a:blip r:embed="rId27">
            <a:alphaModFix/>
          </a:blip>
          <a:srcRect b="0" l="0" r="0" t="0"/>
          <a:stretch/>
        </p:blipFill>
        <p:spPr>
          <a:xfrm>
            <a:off x="5987900" y="667637"/>
            <a:ext cx="1730904" cy="430800"/>
          </a:xfrm>
          <a:prstGeom prst="rect">
            <a:avLst/>
          </a:prstGeom>
          <a:noFill/>
          <a:ln>
            <a:noFill/>
          </a:ln>
        </p:spPr>
      </p:pic>
      <p:pic>
        <p:nvPicPr>
          <p:cNvPr id="851" name="Google Shape;851;g3d5b1289de4_0_890"/>
          <p:cNvPicPr preferRelativeResize="0"/>
          <p:nvPr/>
        </p:nvPicPr>
        <p:blipFill rotWithShape="1">
          <a:blip r:embed="rId28">
            <a:alphaModFix/>
          </a:blip>
          <a:srcRect b="0" l="0" r="0" t="0"/>
          <a:stretch/>
        </p:blipFill>
        <p:spPr>
          <a:xfrm>
            <a:off x="4803312" y="667624"/>
            <a:ext cx="910193" cy="503325"/>
          </a:xfrm>
          <a:prstGeom prst="rect">
            <a:avLst/>
          </a:prstGeom>
          <a:noFill/>
          <a:ln>
            <a:noFill/>
          </a:ln>
        </p:spPr>
      </p:pic>
      <p:pic>
        <p:nvPicPr>
          <p:cNvPr id="852" name="Google Shape;852;g3d5b1289de4_0_890"/>
          <p:cNvPicPr preferRelativeResize="0"/>
          <p:nvPr/>
        </p:nvPicPr>
        <p:blipFill rotWithShape="1">
          <a:blip r:embed="rId29">
            <a:alphaModFix/>
          </a:blip>
          <a:srcRect b="0" l="0" r="0" t="0"/>
          <a:stretch/>
        </p:blipFill>
        <p:spPr>
          <a:xfrm>
            <a:off x="6957712" y="1170952"/>
            <a:ext cx="997175" cy="366515"/>
          </a:xfrm>
          <a:prstGeom prst="rect">
            <a:avLst/>
          </a:prstGeom>
          <a:noFill/>
          <a:ln>
            <a:noFill/>
          </a:ln>
        </p:spPr>
      </p:pic>
      <p:pic>
        <p:nvPicPr>
          <p:cNvPr id="853" name="Google Shape;853;g3d5b1289de4_0_890"/>
          <p:cNvPicPr preferRelativeResize="0"/>
          <p:nvPr/>
        </p:nvPicPr>
        <p:blipFill rotWithShape="1">
          <a:blip r:embed="rId30">
            <a:alphaModFix/>
          </a:blip>
          <a:srcRect b="0" l="40331" r="0" t="0"/>
          <a:stretch/>
        </p:blipFill>
        <p:spPr>
          <a:xfrm>
            <a:off x="232822" y="727050"/>
            <a:ext cx="4296100" cy="503325"/>
          </a:xfrm>
          <a:prstGeom prst="rect">
            <a:avLst/>
          </a:prstGeom>
          <a:noFill/>
          <a:ln>
            <a:noFill/>
          </a:ln>
        </p:spPr>
      </p:pic>
      <p:pic>
        <p:nvPicPr>
          <p:cNvPr id="854" name="Google Shape;854;g3d5b1289de4_0_890"/>
          <p:cNvPicPr preferRelativeResize="0"/>
          <p:nvPr/>
        </p:nvPicPr>
        <p:blipFill rotWithShape="1">
          <a:blip r:embed="rId31">
            <a:alphaModFix/>
          </a:blip>
          <a:srcRect b="0" l="0" r="0" t="0"/>
          <a:stretch/>
        </p:blipFill>
        <p:spPr>
          <a:xfrm>
            <a:off x="5627373" y="1346441"/>
            <a:ext cx="641400" cy="64427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